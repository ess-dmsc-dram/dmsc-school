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62" r:id="rId2"/>
    <p:sldId id="267" r:id="rId3"/>
    <p:sldId id="4482" r:id="rId4"/>
    <p:sldId id="4483" r:id="rId5"/>
    <p:sldId id="4390" r:id="rId6"/>
    <p:sldId id="4452" r:id="rId7"/>
    <p:sldId id="4451" r:id="rId8"/>
    <p:sldId id="4468" r:id="rId9"/>
    <p:sldId id="4453" r:id="rId10"/>
    <p:sldId id="4454" r:id="rId11"/>
    <p:sldId id="4469" r:id="rId12"/>
    <p:sldId id="4470" r:id="rId13"/>
    <p:sldId id="4471" r:id="rId14"/>
    <p:sldId id="4472" r:id="rId15"/>
    <p:sldId id="4473" r:id="rId16"/>
    <p:sldId id="4474" r:id="rId17"/>
    <p:sldId id="4475" r:id="rId18"/>
    <p:sldId id="4476" r:id="rId19"/>
    <p:sldId id="4460" r:id="rId20"/>
    <p:sldId id="4461" r:id="rId21"/>
    <p:sldId id="4462" r:id="rId22"/>
    <p:sldId id="4463" r:id="rId23"/>
    <p:sldId id="4442" r:id="rId24"/>
    <p:sldId id="4480" r:id="rId25"/>
    <p:sldId id="4478" r:id="rId26"/>
    <p:sldId id="4484" r:id="rId27"/>
    <p:sldId id="4485" r:id="rId28"/>
    <p:sldId id="4466" r:id="rId29"/>
    <p:sldId id="4465" r:id="rId30"/>
    <p:sldId id="4467" r:id="rId31"/>
    <p:sldId id="4486" r:id="rId32"/>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DC"/>
    <a:srgbClr val="88AA67"/>
    <a:srgbClr val="666666"/>
    <a:srgbClr val="DFEDF9"/>
    <a:srgbClr val="BBDAF3"/>
    <a:srgbClr val="71B2E7"/>
    <a:srgbClr val="00A3E4"/>
    <a:srgbClr val="01A3E4"/>
    <a:srgbClr val="006A9A"/>
    <a:srgbClr val="007C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10F526-E6C3-459D-A09F-CF16D57E9562}" v="538" dt="2025-08-28T11:27:16.384"/>
  </p1510:revLst>
</p1510:revInfo>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5008" autoAdjust="0"/>
  </p:normalViewPr>
  <p:slideViewPr>
    <p:cSldViewPr snapToGrid="0" snapToObjects="1">
      <p:cViewPr varScale="1">
        <p:scale>
          <a:sx n="132" d="100"/>
          <a:sy n="132" d="100"/>
        </p:scale>
        <p:origin x="1266" y="13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88519245331284"/>
          <c:y val="4.6767008329332192E-2"/>
          <c:w val="0.8400572493923707"/>
          <c:h val="0.77409201928897986"/>
        </c:manualLayout>
      </c:layout>
      <c:scatterChart>
        <c:scatterStyle val="smoothMarker"/>
        <c:varyColors val="0"/>
        <c:ser>
          <c:idx val="0"/>
          <c:order val="0"/>
          <c:tx>
            <c:strRef>
              <c:f>Sheet1!$B$1</c:f>
              <c:strCache>
                <c:ptCount val="1"/>
                <c:pt idx="0">
                  <c:v>Y-Values</c:v>
                </c:pt>
              </c:strCache>
            </c:strRef>
          </c:tx>
          <c:spPr>
            <a:ln w="19050" cap="rnd">
              <a:solidFill>
                <a:schemeClr val="accent1"/>
              </a:solidFill>
              <a:round/>
            </a:ln>
            <a:effectLst>
              <a:outerShdw blurRad="57150" dist="19050" dir="5400000" algn="ctr" rotWithShape="0">
                <a:srgbClr val="000000">
                  <a:alpha val="63000"/>
                </a:srgbClr>
              </a:outerShdw>
            </a:effectLst>
          </c:spPr>
          <c:marker>
            <c:symbol val="none"/>
          </c:marker>
          <c:xVal>
            <c:numRef>
              <c:f>Sheet1!$A$2:$A$4</c:f>
              <c:numCache>
                <c:formatCode>General</c:formatCode>
                <c:ptCount val="3"/>
                <c:pt idx="0">
                  <c:v>0</c:v>
                </c:pt>
                <c:pt idx="1">
                  <c:v>10</c:v>
                </c:pt>
              </c:numCache>
            </c:numRef>
          </c:xVal>
          <c:yVal>
            <c:numRef>
              <c:f>Sheet1!$B$2:$B$4</c:f>
              <c:numCache>
                <c:formatCode>General</c:formatCode>
                <c:ptCount val="3"/>
                <c:pt idx="0">
                  <c:v>1</c:v>
                </c:pt>
                <c:pt idx="1">
                  <c:v>26</c:v>
                </c:pt>
                <c:pt idx="2">
                  <c:v>0</c:v>
                </c:pt>
              </c:numCache>
            </c:numRef>
          </c:yVal>
          <c:smooth val="1"/>
          <c:extLst>
            <c:ext xmlns:c16="http://schemas.microsoft.com/office/drawing/2014/chart" uri="{C3380CC4-5D6E-409C-BE32-E72D297353CC}">
              <c16:uniqueId val="{00000000-6772-49E4-855E-2937DD73E477}"/>
            </c:ext>
          </c:extLst>
        </c:ser>
        <c:dLbls>
          <c:showLegendKey val="0"/>
          <c:showVal val="0"/>
          <c:showCatName val="0"/>
          <c:showSerName val="0"/>
          <c:showPercent val="0"/>
          <c:showBubbleSize val="0"/>
        </c:dLbls>
        <c:axId val="163402783"/>
        <c:axId val="163406143"/>
      </c:scatterChart>
      <c:valAx>
        <c:axId val="163402783"/>
        <c:scaling>
          <c:orientation val="minMax"/>
          <c:max val="10.5"/>
          <c:min val="0"/>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da-DK"/>
                  <a:t>x</a:t>
                </a:r>
                <a:endParaRPr lang="en-GB"/>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63406143"/>
        <c:crosses val="autoZero"/>
        <c:crossBetween val="midCat"/>
        <c:majorUnit val="1"/>
      </c:valAx>
      <c:valAx>
        <c:axId val="163406143"/>
        <c:scaling>
          <c:orientation val="minMax"/>
          <c:max val="27"/>
          <c:min val="0"/>
        </c:scaling>
        <c:delete val="0"/>
        <c:axPos val="l"/>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da-DK"/>
                  <a:t>y</a:t>
                </a:r>
                <a:endParaRPr lang="en-GB"/>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out"/>
        <c:minorTickMark val="none"/>
        <c:tickLblPos val="nextTo"/>
        <c:spPr>
          <a:noFill/>
          <a:ln>
            <a:solidFill>
              <a:schemeClr val="accent1">
                <a:shade val="15000"/>
              </a:schemeClr>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63402783"/>
        <c:crossesAt val="-1"/>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427766-4710-4787-AE88-D6F714D94E55}" type="doc">
      <dgm:prSet loTypeId="urn:microsoft.com/office/officeart/2005/8/layout/hProcess9" loCatId="process" qsTypeId="urn:microsoft.com/office/officeart/2005/8/quickstyle/simple1#1" qsCatId="simple" csTypeId="urn:microsoft.com/office/officeart/2005/8/colors/accent1_2#1" csCatId="accent1" phldr="1"/>
      <dgm:spPr/>
      <dgm:t>
        <a:bodyPr/>
        <a:lstStyle/>
        <a:p>
          <a:endParaRPr lang="en-GB"/>
        </a:p>
      </dgm:t>
    </dgm:pt>
    <dgm:pt modelId="{9C394F65-96A4-4EEA-A3B8-71A7EDEF6E01}">
      <dgm:prSet phldrT="[Text]" phldr="0"/>
      <dgm:spPr/>
      <dgm:t>
        <a:bodyPr/>
        <a:lstStyle/>
        <a:p>
          <a:r>
            <a:rPr lang="en-GB" b="1" u="sng" noProof="0" dirty="0"/>
            <a:t>Technique-independent</a:t>
          </a:r>
          <a:endParaRPr lang="da-DK" b="1" u="sng" dirty="0"/>
        </a:p>
        <a:p>
          <a:endParaRPr lang="en-GB" b="0" dirty="0"/>
        </a:p>
        <a:p>
          <a:r>
            <a:rPr lang="en-GB" b="0" dirty="0"/>
            <a:t>Presentation on model-based data analysis</a:t>
          </a:r>
        </a:p>
        <a:p>
          <a:endParaRPr lang="en-GB" b="0" dirty="0"/>
        </a:p>
        <a:p>
          <a:r>
            <a:rPr lang="en-GB" b="0" dirty="0"/>
            <a:t>Learning </a:t>
          </a:r>
          <a:r>
            <a:rPr lang="en-GB" b="0" dirty="0" err="1"/>
            <a:t>EasyScience</a:t>
          </a:r>
          <a:r>
            <a:rPr lang="en-GB" b="0" dirty="0"/>
            <a:t> through exercises</a:t>
          </a:r>
        </a:p>
      </dgm:t>
    </dgm:pt>
    <dgm:pt modelId="{D5E4FD52-01DD-4D50-A0F4-52EDA71A2B06}" type="parTrans" cxnId="{53FCBA00-A521-4FC8-8A5B-CDCF0C7A978F}">
      <dgm:prSet/>
      <dgm:spPr/>
      <dgm:t>
        <a:bodyPr/>
        <a:lstStyle/>
        <a:p>
          <a:endParaRPr lang="en-GB"/>
        </a:p>
      </dgm:t>
    </dgm:pt>
    <dgm:pt modelId="{200060E8-A805-40F4-91DE-F25126927A38}" type="sibTrans" cxnId="{53FCBA00-A521-4FC8-8A5B-CDCF0C7A978F}">
      <dgm:prSet/>
      <dgm:spPr/>
      <dgm:t>
        <a:bodyPr/>
        <a:lstStyle/>
        <a:p>
          <a:endParaRPr lang="en-GB"/>
        </a:p>
      </dgm:t>
    </dgm:pt>
    <dgm:pt modelId="{7E5D0A7E-9451-4258-9CEE-934AF8A12473}">
      <dgm:prSet phldrT="[Text]"/>
      <dgm:spPr/>
      <dgm:t>
        <a:bodyPr/>
        <a:lstStyle/>
        <a:p>
          <a:r>
            <a:rPr lang="en-GB" b="1" u="sng" noProof="0" dirty="0"/>
            <a:t>Technique-dependent</a:t>
          </a:r>
          <a:endParaRPr lang="da-DK" b="1" u="sng" dirty="0"/>
        </a:p>
        <a:p>
          <a:endParaRPr lang="en-GB" b="0" dirty="0"/>
        </a:p>
        <a:p>
          <a:r>
            <a:rPr lang="en-GB" b="0" dirty="0"/>
            <a:t>Learning technique-specific analysis tool</a:t>
          </a:r>
        </a:p>
        <a:p>
          <a:endParaRPr lang="en-GB" b="0" dirty="0"/>
        </a:p>
        <a:p>
          <a:r>
            <a:rPr lang="en-GB" b="0" dirty="0"/>
            <a:t>Analysing your reduced dataset with said tool</a:t>
          </a:r>
        </a:p>
      </dgm:t>
    </dgm:pt>
    <dgm:pt modelId="{249B6EAC-131D-47F5-A1DF-8F80496246CB}" type="parTrans" cxnId="{9B832755-3EF3-4616-BD6B-70D27A7CA36F}">
      <dgm:prSet/>
      <dgm:spPr/>
      <dgm:t>
        <a:bodyPr/>
        <a:lstStyle/>
        <a:p>
          <a:endParaRPr lang="en-GB"/>
        </a:p>
      </dgm:t>
    </dgm:pt>
    <dgm:pt modelId="{B5F4C3FD-8A6F-4761-B12E-A0DA29C91AF0}" type="sibTrans" cxnId="{9B832755-3EF3-4616-BD6B-70D27A7CA36F}">
      <dgm:prSet/>
      <dgm:spPr/>
      <dgm:t>
        <a:bodyPr/>
        <a:lstStyle/>
        <a:p>
          <a:endParaRPr lang="en-GB"/>
        </a:p>
      </dgm:t>
    </dgm:pt>
    <dgm:pt modelId="{AC320E31-A074-4B06-B3A6-2C243EAD790A}">
      <dgm:prSet phldrT="[Text]"/>
      <dgm:spPr/>
      <dgm:t>
        <a:bodyPr/>
        <a:lstStyle/>
        <a:p>
          <a:r>
            <a:rPr lang="en-GB" b="1" u="sng" noProof="0" dirty="0"/>
            <a:t>Technique-independent</a:t>
          </a:r>
          <a:endParaRPr lang="da-DK" b="1" u="sng" dirty="0"/>
        </a:p>
        <a:p>
          <a:endParaRPr lang="en-GB" b="0" dirty="0"/>
        </a:p>
        <a:p>
          <a:r>
            <a:rPr lang="en-GB" b="0" dirty="0"/>
            <a:t>Presentation on Bayesian analysis and advantages</a:t>
          </a:r>
        </a:p>
        <a:p>
          <a:endParaRPr lang="en-GB" b="0" dirty="0"/>
        </a:p>
        <a:p>
          <a:r>
            <a:rPr lang="en-GB" dirty="0"/>
            <a:t>Learning to do Bayesian analysis in </a:t>
          </a:r>
          <a:r>
            <a:rPr lang="en-GB" dirty="0" err="1"/>
            <a:t>EasyScience</a:t>
          </a:r>
          <a:endParaRPr lang="en-GB" dirty="0"/>
        </a:p>
      </dgm:t>
    </dgm:pt>
    <dgm:pt modelId="{F4115FE8-64ED-42A7-8FE1-F8816149B37D}" type="parTrans" cxnId="{052E8A4F-5A6D-4E74-9674-E716C5076D17}">
      <dgm:prSet/>
      <dgm:spPr/>
      <dgm:t>
        <a:bodyPr/>
        <a:lstStyle/>
        <a:p>
          <a:endParaRPr lang="en-GB"/>
        </a:p>
      </dgm:t>
    </dgm:pt>
    <dgm:pt modelId="{02489EF4-209B-4180-8264-E1CDA0803D6B}" type="sibTrans" cxnId="{052E8A4F-5A6D-4E74-9674-E716C5076D17}">
      <dgm:prSet/>
      <dgm:spPr/>
      <dgm:t>
        <a:bodyPr/>
        <a:lstStyle/>
        <a:p>
          <a:endParaRPr lang="en-GB"/>
        </a:p>
      </dgm:t>
    </dgm:pt>
    <dgm:pt modelId="{373C2C44-EBD0-4E62-B76C-F820556A582B}">
      <dgm:prSet phldrT="[Text]"/>
      <dgm:spPr/>
      <dgm:t>
        <a:bodyPr/>
        <a:lstStyle/>
        <a:p>
          <a:r>
            <a:rPr lang="en-GB" b="1" u="sng" noProof="0" dirty="0"/>
            <a:t>Technique-dependent</a:t>
          </a:r>
          <a:endParaRPr lang="da-DK" b="1" u="sng" dirty="0"/>
        </a:p>
        <a:p>
          <a:endParaRPr lang="en-GB" b="0" dirty="0"/>
        </a:p>
        <a:p>
          <a:r>
            <a:rPr lang="en-GB" b="0" dirty="0"/>
            <a:t>Continue with technique-specific analysis, now with Bayesian methods</a:t>
          </a:r>
        </a:p>
        <a:p>
          <a:endParaRPr lang="en-GB" b="0" dirty="0"/>
        </a:p>
        <a:p>
          <a:endParaRPr lang="en-GB" b="0" dirty="0"/>
        </a:p>
      </dgm:t>
    </dgm:pt>
    <dgm:pt modelId="{5639BB96-6772-4209-A983-0E070A0BC27B}" type="parTrans" cxnId="{4207BBD0-90EB-47E7-B88C-D4CEB7F40D2A}">
      <dgm:prSet/>
      <dgm:spPr/>
      <dgm:t>
        <a:bodyPr/>
        <a:lstStyle/>
        <a:p>
          <a:endParaRPr lang="en-GB"/>
        </a:p>
      </dgm:t>
    </dgm:pt>
    <dgm:pt modelId="{EB47E09E-136F-4463-92D9-939820EF2426}" type="sibTrans" cxnId="{4207BBD0-90EB-47E7-B88C-D4CEB7F40D2A}">
      <dgm:prSet/>
      <dgm:spPr/>
      <dgm:t>
        <a:bodyPr/>
        <a:lstStyle/>
        <a:p>
          <a:endParaRPr lang="en-GB"/>
        </a:p>
      </dgm:t>
    </dgm:pt>
    <dgm:pt modelId="{AF57E5D5-49D1-40D3-A9B9-0019143ECC26}" type="pres">
      <dgm:prSet presAssocID="{55427766-4710-4787-AE88-D6F714D94E55}" presName="CompostProcess" presStyleCnt="0">
        <dgm:presLayoutVars>
          <dgm:dir/>
          <dgm:resizeHandles val="exact"/>
        </dgm:presLayoutVars>
      </dgm:prSet>
      <dgm:spPr/>
    </dgm:pt>
    <dgm:pt modelId="{1F410C5C-4257-448E-8BC7-971ADA860990}" type="pres">
      <dgm:prSet presAssocID="{55427766-4710-4787-AE88-D6F714D94E55}" presName="arrow" presStyleLbl="bgShp" presStyleIdx="0" presStyleCnt="1"/>
      <dgm:spPr/>
    </dgm:pt>
    <dgm:pt modelId="{64C399F7-7EB8-461C-B80F-DF1ABE53D05A}" type="pres">
      <dgm:prSet presAssocID="{55427766-4710-4787-AE88-D6F714D94E55}" presName="linearProcess" presStyleCnt="0"/>
      <dgm:spPr/>
    </dgm:pt>
    <dgm:pt modelId="{4E1803EF-DF2A-4F13-9943-42EEE8471E20}" type="pres">
      <dgm:prSet presAssocID="{9C394F65-96A4-4EEA-A3B8-71A7EDEF6E01}" presName="textNode" presStyleLbl="node1" presStyleIdx="0" presStyleCnt="4">
        <dgm:presLayoutVars>
          <dgm:bulletEnabled val="1"/>
        </dgm:presLayoutVars>
      </dgm:prSet>
      <dgm:spPr/>
    </dgm:pt>
    <dgm:pt modelId="{CD7A6BAF-41EA-4730-B5EF-218EF1B1A0FD}" type="pres">
      <dgm:prSet presAssocID="{200060E8-A805-40F4-91DE-F25126927A38}" presName="sibTrans" presStyleCnt="0"/>
      <dgm:spPr/>
    </dgm:pt>
    <dgm:pt modelId="{A2D015F6-6ECC-4886-B009-24BB4B1AB8AC}" type="pres">
      <dgm:prSet presAssocID="{7E5D0A7E-9451-4258-9CEE-934AF8A12473}" presName="textNode" presStyleLbl="node1" presStyleIdx="1" presStyleCnt="4">
        <dgm:presLayoutVars>
          <dgm:bulletEnabled val="1"/>
        </dgm:presLayoutVars>
      </dgm:prSet>
      <dgm:spPr/>
    </dgm:pt>
    <dgm:pt modelId="{8095ED38-0E79-4B70-9D7B-5861F7FC2045}" type="pres">
      <dgm:prSet presAssocID="{B5F4C3FD-8A6F-4761-B12E-A0DA29C91AF0}" presName="sibTrans" presStyleCnt="0"/>
      <dgm:spPr/>
    </dgm:pt>
    <dgm:pt modelId="{71ABB20B-F16A-4806-A5C6-DB7679AD6028}" type="pres">
      <dgm:prSet presAssocID="{AC320E31-A074-4B06-B3A6-2C243EAD790A}" presName="textNode" presStyleLbl="node1" presStyleIdx="2" presStyleCnt="4">
        <dgm:presLayoutVars>
          <dgm:bulletEnabled val="1"/>
        </dgm:presLayoutVars>
      </dgm:prSet>
      <dgm:spPr/>
    </dgm:pt>
    <dgm:pt modelId="{2E22CB9A-BB8C-4B5E-B907-FF1353C25597}" type="pres">
      <dgm:prSet presAssocID="{02489EF4-209B-4180-8264-E1CDA0803D6B}" presName="sibTrans" presStyleCnt="0"/>
      <dgm:spPr/>
    </dgm:pt>
    <dgm:pt modelId="{7929E6FF-2EC3-445C-9CE8-4DEB083500A3}" type="pres">
      <dgm:prSet presAssocID="{373C2C44-EBD0-4E62-B76C-F820556A582B}" presName="textNode" presStyleLbl="node1" presStyleIdx="3" presStyleCnt="4">
        <dgm:presLayoutVars>
          <dgm:bulletEnabled val="1"/>
        </dgm:presLayoutVars>
      </dgm:prSet>
      <dgm:spPr/>
    </dgm:pt>
  </dgm:ptLst>
  <dgm:cxnLst>
    <dgm:cxn modelId="{53FCBA00-A521-4FC8-8A5B-CDCF0C7A978F}" srcId="{55427766-4710-4787-AE88-D6F714D94E55}" destId="{9C394F65-96A4-4EEA-A3B8-71A7EDEF6E01}" srcOrd="0" destOrd="0" parTransId="{D5E4FD52-01DD-4D50-A0F4-52EDA71A2B06}" sibTransId="{200060E8-A805-40F4-91DE-F25126927A38}"/>
    <dgm:cxn modelId="{5A357E5C-C18C-49D2-9502-AD613943672C}" type="presOf" srcId="{55427766-4710-4787-AE88-D6F714D94E55}" destId="{AF57E5D5-49D1-40D3-A9B9-0019143ECC26}" srcOrd="0" destOrd="0" presId="urn:microsoft.com/office/officeart/2005/8/layout/hProcess9"/>
    <dgm:cxn modelId="{052E8A4F-5A6D-4E74-9674-E716C5076D17}" srcId="{55427766-4710-4787-AE88-D6F714D94E55}" destId="{AC320E31-A074-4B06-B3A6-2C243EAD790A}" srcOrd="2" destOrd="0" parTransId="{F4115FE8-64ED-42A7-8FE1-F8816149B37D}" sibTransId="{02489EF4-209B-4180-8264-E1CDA0803D6B}"/>
    <dgm:cxn modelId="{9B832755-3EF3-4616-BD6B-70D27A7CA36F}" srcId="{55427766-4710-4787-AE88-D6F714D94E55}" destId="{7E5D0A7E-9451-4258-9CEE-934AF8A12473}" srcOrd="1" destOrd="0" parTransId="{249B6EAC-131D-47F5-A1DF-8F80496246CB}" sibTransId="{B5F4C3FD-8A6F-4761-B12E-A0DA29C91AF0}"/>
    <dgm:cxn modelId="{D3E734AA-05BC-44C9-B071-31F8D1A8D668}" type="presOf" srcId="{373C2C44-EBD0-4E62-B76C-F820556A582B}" destId="{7929E6FF-2EC3-445C-9CE8-4DEB083500A3}" srcOrd="0" destOrd="0" presId="urn:microsoft.com/office/officeart/2005/8/layout/hProcess9"/>
    <dgm:cxn modelId="{4207BBD0-90EB-47E7-B88C-D4CEB7F40D2A}" srcId="{55427766-4710-4787-AE88-D6F714D94E55}" destId="{373C2C44-EBD0-4E62-B76C-F820556A582B}" srcOrd="3" destOrd="0" parTransId="{5639BB96-6772-4209-A983-0E070A0BC27B}" sibTransId="{EB47E09E-136F-4463-92D9-939820EF2426}"/>
    <dgm:cxn modelId="{46CBC2D7-3757-44D9-8C51-C5DB01B470C0}" type="presOf" srcId="{9C394F65-96A4-4EEA-A3B8-71A7EDEF6E01}" destId="{4E1803EF-DF2A-4F13-9943-42EEE8471E20}" srcOrd="0" destOrd="0" presId="urn:microsoft.com/office/officeart/2005/8/layout/hProcess9"/>
    <dgm:cxn modelId="{4B82ACE4-412C-4972-BC39-08EFFF986724}" type="presOf" srcId="{AC320E31-A074-4B06-B3A6-2C243EAD790A}" destId="{71ABB20B-F16A-4806-A5C6-DB7679AD6028}" srcOrd="0" destOrd="0" presId="urn:microsoft.com/office/officeart/2005/8/layout/hProcess9"/>
    <dgm:cxn modelId="{DCA6D5F5-90DA-4DD3-819D-054076247065}" type="presOf" srcId="{7E5D0A7E-9451-4258-9CEE-934AF8A12473}" destId="{A2D015F6-6ECC-4886-B009-24BB4B1AB8AC}" srcOrd="0" destOrd="0" presId="urn:microsoft.com/office/officeart/2005/8/layout/hProcess9"/>
    <dgm:cxn modelId="{552646F5-B634-48BB-B112-D254A3C429E2}" type="presParOf" srcId="{AF57E5D5-49D1-40D3-A9B9-0019143ECC26}" destId="{1F410C5C-4257-448E-8BC7-971ADA860990}" srcOrd="0" destOrd="0" presId="urn:microsoft.com/office/officeart/2005/8/layout/hProcess9"/>
    <dgm:cxn modelId="{4EC6C91E-2AC8-4662-9B42-1136546DDBDA}" type="presParOf" srcId="{AF57E5D5-49D1-40D3-A9B9-0019143ECC26}" destId="{64C399F7-7EB8-461C-B80F-DF1ABE53D05A}" srcOrd="1" destOrd="0" presId="urn:microsoft.com/office/officeart/2005/8/layout/hProcess9"/>
    <dgm:cxn modelId="{30F00A7B-B690-4213-8D98-E650A3724F85}" type="presParOf" srcId="{64C399F7-7EB8-461C-B80F-DF1ABE53D05A}" destId="{4E1803EF-DF2A-4F13-9943-42EEE8471E20}" srcOrd="0" destOrd="0" presId="urn:microsoft.com/office/officeart/2005/8/layout/hProcess9"/>
    <dgm:cxn modelId="{899C6F01-9DD7-4ED7-AE71-1122DDADD518}" type="presParOf" srcId="{64C399F7-7EB8-461C-B80F-DF1ABE53D05A}" destId="{CD7A6BAF-41EA-4730-B5EF-218EF1B1A0FD}" srcOrd="1" destOrd="0" presId="urn:microsoft.com/office/officeart/2005/8/layout/hProcess9"/>
    <dgm:cxn modelId="{984FC85C-D9E8-4DC3-8B3F-2AF51BAF14CF}" type="presParOf" srcId="{64C399F7-7EB8-461C-B80F-DF1ABE53D05A}" destId="{A2D015F6-6ECC-4886-B009-24BB4B1AB8AC}" srcOrd="2" destOrd="0" presId="urn:microsoft.com/office/officeart/2005/8/layout/hProcess9"/>
    <dgm:cxn modelId="{D964AFFC-F761-44C6-97C3-22CAA95A39A2}" type="presParOf" srcId="{64C399F7-7EB8-461C-B80F-DF1ABE53D05A}" destId="{8095ED38-0E79-4B70-9D7B-5861F7FC2045}" srcOrd="3" destOrd="0" presId="urn:microsoft.com/office/officeart/2005/8/layout/hProcess9"/>
    <dgm:cxn modelId="{DE6FF4DD-C222-489C-B165-90571031BE40}" type="presParOf" srcId="{64C399F7-7EB8-461C-B80F-DF1ABE53D05A}" destId="{71ABB20B-F16A-4806-A5C6-DB7679AD6028}" srcOrd="4" destOrd="0" presId="urn:microsoft.com/office/officeart/2005/8/layout/hProcess9"/>
    <dgm:cxn modelId="{2368A478-D56F-4431-80B7-A4BED8CAE340}" type="presParOf" srcId="{64C399F7-7EB8-461C-B80F-DF1ABE53D05A}" destId="{2E22CB9A-BB8C-4B5E-B907-FF1353C25597}" srcOrd="5" destOrd="0" presId="urn:microsoft.com/office/officeart/2005/8/layout/hProcess9"/>
    <dgm:cxn modelId="{4EFBA03A-E912-451A-951D-A118CD379BA4}" type="presParOf" srcId="{64C399F7-7EB8-461C-B80F-DF1ABE53D05A}" destId="{7929E6FF-2EC3-445C-9CE8-4DEB083500A3}"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4D2CE5-67A5-44B1-9135-49EAC2AC70C3}" type="doc">
      <dgm:prSet loTypeId="urn:microsoft.com/office/officeart/2005/8/layout/process1" loCatId="process" qsTypeId="urn:microsoft.com/office/officeart/2005/8/quickstyle/simple5#1" qsCatId="simple" csTypeId="urn:microsoft.com/office/officeart/2005/8/colors/accent1_2#2" csCatId="accent1" phldr="1"/>
      <dgm:spPr/>
      <dgm:t>
        <a:bodyPr/>
        <a:lstStyle/>
        <a:p>
          <a:endParaRPr lang="en-GB"/>
        </a:p>
      </dgm:t>
    </dgm:pt>
    <dgm:pt modelId="{A15EA3D5-AEC1-4EFF-BA66-A124E73E58A2}">
      <dgm:prSet phldrT="[Text]"/>
      <dgm:spPr/>
      <dgm:t>
        <a:bodyPr/>
        <a:lstStyle/>
        <a:p>
          <a:r>
            <a:rPr lang="da-DK" dirty="0"/>
            <a:t>Propose model</a:t>
          </a:r>
          <a:endParaRPr lang="en-GB" dirty="0"/>
        </a:p>
      </dgm:t>
    </dgm:pt>
    <dgm:pt modelId="{7ED55D60-43A2-48D3-8DBB-BB35238F8D21}" type="parTrans" cxnId="{E5C81411-A693-4896-9869-902F0AF55959}">
      <dgm:prSet/>
      <dgm:spPr/>
      <dgm:t>
        <a:bodyPr/>
        <a:lstStyle/>
        <a:p>
          <a:endParaRPr lang="en-GB"/>
        </a:p>
      </dgm:t>
    </dgm:pt>
    <dgm:pt modelId="{D50D9D7D-8793-4BA3-96BA-9B6C2B099C33}" type="sibTrans" cxnId="{E5C81411-A693-4896-9869-902F0AF55959}">
      <dgm:prSet/>
      <dgm:spPr>
        <a:noFill/>
      </dgm:spPr>
      <dgm:t>
        <a:bodyPr/>
        <a:lstStyle/>
        <a:p>
          <a:endParaRPr lang="en-GB"/>
        </a:p>
      </dgm:t>
    </dgm:pt>
    <dgm:pt modelId="{D21D5256-2ED9-4B5F-A5A9-E4B4445BED0C}">
      <dgm:prSet phldrT="[Text]"/>
      <dgm:spPr/>
      <dgm:t>
        <a:bodyPr/>
        <a:lstStyle/>
        <a:p>
          <a:r>
            <a:rPr lang="da-DK" dirty="0"/>
            <a:t>Set/</a:t>
          </a:r>
          <a:r>
            <a:rPr lang="da-DK" dirty="0" err="1"/>
            <a:t>change</a:t>
          </a:r>
          <a:r>
            <a:rPr lang="da-DK" dirty="0"/>
            <a:t> model parameter </a:t>
          </a:r>
          <a:r>
            <a:rPr lang="da-DK" dirty="0" err="1"/>
            <a:t>values</a:t>
          </a:r>
          <a:endParaRPr lang="en-GB" dirty="0"/>
        </a:p>
      </dgm:t>
    </dgm:pt>
    <dgm:pt modelId="{1AD3C4FF-3567-4BFE-ACB2-5B099C43060B}" type="parTrans" cxnId="{32F5B06D-B4F3-4DD3-91C9-06FD72F8AFD0}">
      <dgm:prSet/>
      <dgm:spPr/>
      <dgm:t>
        <a:bodyPr/>
        <a:lstStyle/>
        <a:p>
          <a:endParaRPr lang="en-GB"/>
        </a:p>
      </dgm:t>
    </dgm:pt>
    <dgm:pt modelId="{4C1FFAEC-B3B7-4D62-AA36-4742F7325A8C}" type="sibTrans" cxnId="{32F5B06D-B4F3-4DD3-91C9-06FD72F8AFD0}">
      <dgm:prSet/>
      <dgm:spPr>
        <a:noFill/>
      </dgm:spPr>
      <dgm:t>
        <a:bodyPr/>
        <a:lstStyle/>
        <a:p>
          <a:endParaRPr lang="en-GB"/>
        </a:p>
      </dgm:t>
    </dgm:pt>
    <dgm:pt modelId="{5702F87E-20B0-4FCC-8FAC-F8A11FE37A7F}">
      <dgm:prSet phldrT="[Text]"/>
      <dgm:spPr/>
      <dgm:t>
        <a:bodyPr/>
        <a:lstStyle/>
        <a:p>
          <a:r>
            <a:rPr lang="da-DK" dirty="0" err="1"/>
            <a:t>Calculate</a:t>
          </a:r>
          <a:r>
            <a:rPr lang="da-DK" dirty="0"/>
            <a:t> model data</a:t>
          </a:r>
          <a:endParaRPr lang="en-GB" dirty="0"/>
        </a:p>
      </dgm:t>
    </dgm:pt>
    <dgm:pt modelId="{5F10E135-7BCF-483F-80F8-8DAE610F0ED2}" type="parTrans" cxnId="{190D84D8-4778-4F7D-B54B-23255DCBB419}">
      <dgm:prSet/>
      <dgm:spPr/>
      <dgm:t>
        <a:bodyPr/>
        <a:lstStyle/>
        <a:p>
          <a:endParaRPr lang="en-GB"/>
        </a:p>
      </dgm:t>
    </dgm:pt>
    <dgm:pt modelId="{9D3135F4-D12B-4E11-974E-806008271B37}" type="sibTrans" cxnId="{190D84D8-4778-4F7D-B54B-23255DCBB419}">
      <dgm:prSet/>
      <dgm:spPr>
        <a:noFill/>
      </dgm:spPr>
      <dgm:t>
        <a:bodyPr/>
        <a:lstStyle/>
        <a:p>
          <a:endParaRPr lang="en-GB"/>
        </a:p>
      </dgm:t>
    </dgm:pt>
    <dgm:pt modelId="{9B468385-6581-464F-AEEB-61E884F91846}">
      <dgm:prSet phldrT="[Text]"/>
      <dgm:spPr/>
      <dgm:t>
        <a:bodyPr/>
        <a:lstStyle/>
        <a:p>
          <a:r>
            <a:rPr lang="da-DK" dirty="0" err="1"/>
            <a:t>Compare</a:t>
          </a:r>
          <a:r>
            <a:rPr lang="da-DK" dirty="0"/>
            <a:t> model data to </a:t>
          </a:r>
          <a:r>
            <a:rPr lang="da-DK" dirty="0" err="1"/>
            <a:t>experimental</a:t>
          </a:r>
          <a:r>
            <a:rPr lang="da-DK" dirty="0"/>
            <a:t> data</a:t>
          </a:r>
          <a:endParaRPr lang="en-GB" dirty="0"/>
        </a:p>
      </dgm:t>
    </dgm:pt>
    <dgm:pt modelId="{06226C1E-5E1F-4438-9BA0-3E0862D2C296}" type="parTrans" cxnId="{67572B26-1042-4EDF-A523-0E36C140A215}">
      <dgm:prSet/>
      <dgm:spPr/>
      <dgm:t>
        <a:bodyPr/>
        <a:lstStyle/>
        <a:p>
          <a:endParaRPr lang="en-GB"/>
        </a:p>
      </dgm:t>
    </dgm:pt>
    <dgm:pt modelId="{0A81AE81-F672-42DE-994F-8A47EB6F4AC4}" type="sibTrans" cxnId="{67572B26-1042-4EDF-A523-0E36C140A215}">
      <dgm:prSet/>
      <dgm:spPr>
        <a:noFill/>
      </dgm:spPr>
      <dgm:t>
        <a:bodyPr/>
        <a:lstStyle/>
        <a:p>
          <a:endParaRPr lang="en-GB"/>
        </a:p>
      </dgm:t>
    </dgm:pt>
    <dgm:pt modelId="{70C6D99A-08F6-4BFC-BF6E-5FBDCB585DEC}">
      <dgm:prSet phldrT="[Text]"/>
      <dgm:spPr/>
      <dgm:t>
        <a:bodyPr/>
        <a:lstStyle/>
        <a:p>
          <a:r>
            <a:rPr lang="da-DK" dirty="0"/>
            <a:t>Stop</a:t>
          </a:r>
          <a:endParaRPr lang="en-GB" dirty="0"/>
        </a:p>
      </dgm:t>
    </dgm:pt>
    <dgm:pt modelId="{7AA0D136-EE3C-4F2B-AF70-2863ED77BFA8}" type="parTrans" cxnId="{A68B6BB6-54B8-4BB5-9FFA-032E41EC5E2F}">
      <dgm:prSet/>
      <dgm:spPr/>
      <dgm:t>
        <a:bodyPr/>
        <a:lstStyle/>
        <a:p>
          <a:endParaRPr lang="en-GB"/>
        </a:p>
      </dgm:t>
    </dgm:pt>
    <dgm:pt modelId="{71EABFEA-D566-4C08-BDA3-112EC30B4806}" type="sibTrans" cxnId="{A68B6BB6-54B8-4BB5-9FFA-032E41EC5E2F}">
      <dgm:prSet/>
      <dgm:spPr/>
      <dgm:t>
        <a:bodyPr/>
        <a:lstStyle/>
        <a:p>
          <a:endParaRPr lang="en-GB"/>
        </a:p>
      </dgm:t>
    </dgm:pt>
    <dgm:pt modelId="{BD465C08-39B9-45C1-AC69-72EEAFC8765B}" type="pres">
      <dgm:prSet presAssocID="{064D2CE5-67A5-44B1-9135-49EAC2AC70C3}" presName="Name0" presStyleCnt="0">
        <dgm:presLayoutVars>
          <dgm:dir/>
          <dgm:resizeHandles val="exact"/>
        </dgm:presLayoutVars>
      </dgm:prSet>
      <dgm:spPr/>
    </dgm:pt>
    <dgm:pt modelId="{2F440857-9B28-41B3-8C6E-4892976D63CB}" type="pres">
      <dgm:prSet presAssocID="{A15EA3D5-AEC1-4EFF-BA66-A124E73E58A2}" presName="node" presStyleLbl="node1" presStyleIdx="0" presStyleCnt="5">
        <dgm:presLayoutVars>
          <dgm:bulletEnabled val="1"/>
        </dgm:presLayoutVars>
      </dgm:prSet>
      <dgm:spPr/>
    </dgm:pt>
    <dgm:pt modelId="{E9C20787-3CFD-40A1-BA60-6163550AFA15}" type="pres">
      <dgm:prSet presAssocID="{D50D9D7D-8793-4BA3-96BA-9B6C2B099C33}" presName="sibTrans" presStyleLbl="sibTrans2D1" presStyleIdx="0" presStyleCnt="4"/>
      <dgm:spPr/>
    </dgm:pt>
    <dgm:pt modelId="{0A45705C-A0E1-44D0-A37A-279E5755D07B}" type="pres">
      <dgm:prSet presAssocID="{D50D9D7D-8793-4BA3-96BA-9B6C2B099C33}" presName="connectorText" presStyleLbl="sibTrans2D1" presStyleIdx="0" presStyleCnt="4"/>
      <dgm:spPr/>
    </dgm:pt>
    <dgm:pt modelId="{52176CD2-20EC-44CD-ADCB-5D89D70C660C}" type="pres">
      <dgm:prSet presAssocID="{D21D5256-2ED9-4B5F-A5A9-E4B4445BED0C}" presName="node" presStyleLbl="node1" presStyleIdx="1" presStyleCnt="5">
        <dgm:presLayoutVars>
          <dgm:bulletEnabled val="1"/>
        </dgm:presLayoutVars>
      </dgm:prSet>
      <dgm:spPr/>
    </dgm:pt>
    <dgm:pt modelId="{712FE516-764D-4B16-ABF3-97F47C3893DF}" type="pres">
      <dgm:prSet presAssocID="{4C1FFAEC-B3B7-4D62-AA36-4742F7325A8C}" presName="sibTrans" presStyleLbl="sibTrans2D1" presStyleIdx="1" presStyleCnt="4"/>
      <dgm:spPr/>
    </dgm:pt>
    <dgm:pt modelId="{FAB86063-D690-4727-971F-E58D9F36889B}" type="pres">
      <dgm:prSet presAssocID="{4C1FFAEC-B3B7-4D62-AA36-4742F7325A8C}" presName="connectorText" presStyleLbl="sibTrans2D1" presStyleIdx="1" presStyleCnt="4"/>
      <dgm:spPr/>
    </dgm:pt>
    <dgm:pt modelId="{8933214C-8D37-4897-8CD7-9C63A8D4135F}" type="pres">
      <dgm:prSet presAssocID="{5702F87E-20B0-4FCC-8FAC-F8A11FE37A7F}" presName="node" presStyleLbl="node1" presStyleIdx="2" presStyleCnt="5">
        <dgm:presLayoutVars>
          <dgm:bulletEnabled val="1"/>
        </dgm:presLayoutVars>
      </dgm:prSet>
      <dgm:spPr/>
    </dgm:pt>
    <dgm:pt modelId="{1DA5D4F9-17BF-45AF-AD90-7C91520E2342}" type="pres">
      <dgm:prSet presAssocID="{9D3135F4-D12B-4E11-974E-806008271B37}" presName="sibTrans" presStyleLbl="sibTrans2D1" presStyleIdx="2" presStyleCnt="4"/>
      <dgm:spPr/>
    </dgm:pt>
    <dgm:pt modelId="{5905E098-45CB-44C1-A2F4-774BA2DACB12}" type="pres">
      <dgm:prSet presAssocID="{9D3135F4-D12B-4E11-974E-806008271B37}" presName="connectorText" presStyleLbl="sibTrans2D1" presStyleIdx="2" presStyleCnt="4"/>
      <dgm:spPr/>
    </dgm:pt>
    <dgm:pt modelId="{31E7CED7-F481-47CB-BDD1-F576CABAF4DF}" type="pres">
      <dgm:prSet presAssocID="{9B468385-6581-464F-AEEB-61E884F91846}" presName="node" presStyleLbl="node1" presStyleIdx="3" presStyleCnt="5" custScaleX="153492">
        <dgm:presLayoutVars>
          <dgm:bulletEnabled val="1"/>
        </dgm:presLayoutVars>
      </dgm:prSet>
      <dgm:spPr/>
    </dgm:pt>
    <dgm:pt modelId="{F3698F84-3EF1-42D3-965E-DA9774C2D541}" type="pres">
      <dgm:prSet presAssocID="{0A81AE81-F672-42DE-994F-8A47EB6F4AC4}" presName="sibTrans" presStyleLbl="sibTrans2D1" presStyleIdx="3" presStyleCnt="4"/>
      <dgm:spPr/>
    </dgm:pt>
    <dgm:pt modelId="{83D6078F-A5E4-465D-BA4B-D548E384043F}" type="pres">
      <dgm:prSet presAssocID="{0A81AE81-F672-42DE-994F-8A47EB6F4AC4}" presName="connectorText" presStyleLbl="sibTrans2D1" presStyleIdx="3" presStyleCnt="4"/>
      <dgm:spPr/>
    </dgm:pt>
    <dgm:pt modelId="{F46125DE-1B8A-4BA0-9B53-269554F9C6BB}" type="pres">
      <dgm:prSet presAssocID="{70C6D99A-08F6-4BFC-BF6E-5FBDCB585DEC}" presName="node" presStyleLbl="node1" presStyleIdx="4" presStyleCnt="5">
        <dgm:presLayoutVars>
          <dgm:bulletEnabled val="1"/>
        </dgm:presLayoutVars>
      </dgm:prSet>
      <dgm:spPr/>
    </dgm:pt>
  </dgm:ptLst>
  <dgm:cxnLst>
    <dgm:cxn modelId="{A09A610E-FCF3-4AD8-8F3A-BE269EAB975E}" type="presOf" srcId="{A15EA3D5-AEC1-4EFF-BA66-A124E73E58A2}" destId="{2F440857-9B28-41B3-8C6E-4892976D63CB}" srcOrd="0" destOrd="0" presId="urn:microsoft.com/office/officeart/2005/8/layout/process1"/>
    <dgm:cxn modelId="{7367AC0E-439A-4FA4-B035-3EB8F2EABF09}" type="presOf" srcId="{70C6D99A-08F6-4BFC-BF6E-5FBDCB585DEC}" destId="{F46125DE-1B8A-4BA0-9B53-269554F9C6BB}" srcOrd="0" destOrd="0" presId="urn:microsoft.com/office/officeart/2005/8/layout/process1"/>
    <dgm:cxn modelId="{E5C81411-A693-4896-9869-902F0AF55959}" srcId="{064D2CE5-67A5-44B1-9135-49EAC2AC70C3}" destId="{A15EA3D5-AEC1-4EFF-BA66-A124E73E58A2}" srcOrd="0" destOrd="0" parTransId="{7ED55D60-43A2-48D3-8DBB-BB35238F8D21}" sibTransId="{D50D9D7D-8793-4BA3-96BA-9B6C2B099C33}"/>
    <dgm:cxn modelId="{010A581F-DAC9-4C6F-A8FC-497CFA0123C2}" type="presOf" srcId="{4C1FFAEC-B3B7-4D62-AA36-4742F7325A8C}" destId="{712FE516-764D-4B16-ABF3-97F47C3893DF}" srcOrd="0" destOrd="0" presId="urn:microsoft.com/office/officeart/2005/8/layout/process1"/>
    <dgm:cxn modelId="{94E24E20-0C71-49C9-9337-35D4B3580F13}" type="presOf" srcId="{D21D5256-2ED9-4B5F-A5A9-E4B4445BED0C}" destId="{52176CD2-20EC-44CD-ADCB-5D89D70C660C}" srcOrd="0" destOrd="0" presId="urn:microsoft.com/office/officeart/2005/8/layout/process1"/>
    <dgm:cxn modelId="{67572B26-1042-4EDF-A523-0E36C140A215}" srcId="{064D2CE5-67A5-44B1-9135-49EAC2AC70C3}" destId="{9B468385-6581-464F-AEEB-61E884F91846}" srcOrd="3" destOrd="0" parTransId="{06226C1E-5E1F-4438-9BA0-3E0862D2C296}" sibTransId="{0A81AE81-F672-42DE-994F-8A47EB6F4AC4}"/>
    <dgm:cxn modelId="{3F067435-971F-4BA2-8F66-BC94C9F573BF}" type="presOf" srcId="{D50D9D7D-8793-4BA3-96BA-9B6C2B099C33}" destId="{0A45705C-A0E1-44D0-A37A-279E5755D07B}" srcOrd="1" destOrd="0" presId="urn:microsoft.com/office/officeart/2005/8/layout/process1"/>
    <dgm:cxn modelId="{99ABA538-01EF-432D-BA2C-CD7F0FD06890}" type="presOf" srcId="{0A81AE81-F672-42DE-994F-8A47EB6F4AC4}" destId="{F3698F84-3EF1-42D3-965E-DA9774C2D541}" srcOrd="0" destOrd="0" presId="urn:microsoft.com/office/officeart/2005/8/layout/process1"/>
    <dgm:cxn modelId="{32F5B06D-B4F3-4DD3-91C9-06FD72F8AFD0}" srcId="{064D2CE5-67A5-44B1-9135-49EAC2AC70C3}" destId="{D21D5256-2ED9-4B5F-A5A9-E4B4445BED0C}" srcOrd="1" destOrd="0" parTransId="{1AD3C4FF-3567-4BFE-ACB2-5B099C43060B}" sibTransId="{4C1FFAEC-B3B7-4D62-AA36-4742F7325A8C}"/>
    <dgm:cxn modelId="{50EAD152-848F-41C8-A1B1-97EB91FCAD58}" type="presOf" srcId="{064D2CE5-67A5-44B1-9135-49EAC2AC70C3}" destId="{BD465C08-39B9-45C1-AC69-72EEAFC8765B}" srcOrd="0" destOrd="0" presId="urn:microsoft.com/office/officeart/2005/8/layout/process1"/>
    <dgm:cxn modelId="{61F0F27B-01CA-4B83-840A-FD04444057E4}" type="presOf" srcId="{0A81AE81-F672-42DE-994F-8A47EB6F4AC4}" destId="{83D6078F-A5E4-465D-BA4B-D548E384043F}" srcOrd="1" destOrd="0" presId="urn:microsoft.com/office/officeart/2005/8/layout/process1"/>
    <dgm:cxn modelId="{463B0A9F-FC65-4899-812F-3A6631FD7D51}" type="presOf" srcId="{9D3135F4-D12B-4E11-974E-806008271B37}" destId="{1DA5D4F9-17BF-45AF-AD90-7C91520E2342}" srcOrd="0" destOrd="0" presId="urn:microsoft.com/office/officeart/2005/8/layout/process1"/>
    <dgm:cxn modelId="{C34A99AA-E549-429B-99C7-0CC2D49D0D3B}" type="presOf" srcId="{D50D9D7D-8793-4BA3-96BA-9B6C2B099C33}" destId="{E9C20787-3CFD-40A1-BA60-6163550AFA15}" srcOrd="0" destOrd="0" presId="urn:microsoft.com/office/officeart/2005/8/layout/process1"/>
    <dgm:cxn modelId="{65945FB2-0D84-4C28-9222-1835DA276F60}" type="presOf" srcId="{9D3135F4-D12B-4E11-974E-806008271B37}" destId="{5905E098-45CB-44C1-A2F4-774BA2DACB12}" srcOrd="1" destOrd="0" presId="urn:microsoft.com/office/officeart/2005/8/layout/process1"/>
    <dgm:cxn modelId="{A68B6BB6-54B8-4BB5-9FFA-032E41EC5E2F}" srcId="{064D2CE5-67A5-44B1-9135-49EAC2AC70C3}" destId="{70C6D99A-08F6-4BFC-BF6E-5FBDCB585DEC}" srcOrd="4" destOrd="0" parTransId="{7AA0D136-EE3C-4F2B-AF70-2863ED77BFA8}" sibTransId="{71EABFEA-D566-4C08-BDA3-112EC30B4806}"/>
    <dgm:cxn modelId="{FA9031C1-256D-41CD-A010-54FDC762A2D4}" type="presOf" srcId="{4C1FFAEC-B3B7-4D62-AA36-4742F7325A8C}" destId="{FAB86063-D690-4727-971F-E58D9F36889B}" srcOrd="1" destOrd="0" presId="urn:microsoft.com/office/officeart/2005/8/layout/process1"/>
    <dgm:cxn modelId="{7E9660C9-5DF4-4F70-BEA9-614C89D7A164}" type="presOf" srcId="{5702F87E-20B0-4FCC-8FAC-F8A11FE37A7F}" destId="{8933214C-8D37-4897-8CD7-9C63A8D4135F}" srcOrd="0" destOrd="0" presId="urn:microsoft.com/office/officeart/2005/8/layout/process1"/>
    <dgm:cxn modelId="{190D84D8-4778-4F7D-B54B-23255DCBB419}" srcId="{064D2CE5-67A5-44B1-9135-49EAC2AC70C3}" destId="{5702F87E-20B0-4FCC-8FAC-F8A11FE37A7F}" srcOrd="2" destOrd="0" parTransId="{5F10E135-7BCF-483F-80F8-8DAE610F0ED2}" sibTransId="{9D3135F4-D12B-4E11-974E-806008271B37}"/>
    <dgm:cxn modelId="{3B3E1EF4-8E1A-4397-83B2-7CA40462CD5B}" type="presOf" srcId="{9B468385-6581-464F-AEEB-61E884F91846}" destId="{31E7CED7-F481-47CB-BDD1-F576CABAF4DF}" srcOrd="0" destOrd="0" presId="urn:microsoft.com/office/officeart/2005/8/layout/process1"/>
    <dgm:cxn modelId="{26E93EB0-45DF-488E-8908-4DA70CF10F11}" type="presParOf" srcId="{BD465C08-39B9-45C1-AC69-72EEAFC8765B}" destId="{2F440857-9B28-41B3-8C6E-4892976D63CB}" srcOrd="0" destOrd="0" presId="urn:microsoft.com/office/officeart/2005/8/layout/process1"/>
    <dgm:cxn modelId="{1E7FB5DE-81B1-48F5-85D3-9E15F982E212}" type="presParOf" srcId="{BD465C08-39B9-45C1-AC69-72EEAFC8765B}" destId="{E9C20787-3CFD-40A1-BA60-6163550AFA15}" srcOrd="1" destOrd="0" presId="urn:microsoft.com/office/officeart/2005/8/layout/process1"/>
    <dgm:cxn modelId="{135D879E-8AB6-486C-9851-C960CB9FB4DE}" type="presParOf" srcId="{E9C20787-3CFD-40A1-BA60-6163550AFA15}" destId="{0A45705C-A0E1-44D0-A37A-279E5755D07B}" srcOrd="0" destOrd="0" presId="urn:microsoft.com/office/officeart/2005/8/layout/process1"/>
    <dgm:cxn modelId="{544DA72B-B37C-4362-B6A1-6E1687F034E6}" type="presParOf" srcId="{BD465C08-39B9-45C1-AC69-72EEAFC8765B}" destId="{52176CD2-20EC-44CD-ADCB-5D89D70C660C}" srcOrd="2" destOrd="0" presId="urn:microsoft.com/office/officeart/2005/8/layout/process1"/>
    <dgm:cxn modelId="{BA0F691A-A231-4FC1-9108-66340D3EC356}" type="presParOf" srcId="{BD465C08-39B9-45C1-AC69-72EEAFC8765B}" destId="{712FE516-764D-4B16-ABF3-97F47C3893DF}" srcOrd="3" destOrd="0" presId="urn:microsoft.com/office/officeart/2005/8/layout/process1"/>
    <dgm:cxn modelId="{08ADC4A7-13C0-43CD-B091-CD0BFE6AE080}" type="presParOf" srcId="{712FE516-764D-4B16-ABF3-97F47C3893DF}" destId="{FAB86063-D690-4727-971F-E58D9F36889B}" srcOrd="0" destOrd="0" presId="urn:microsoft.com/office/officeart/2005/8/layout/process1"/>
    <dgm:cxn modelId="{9C83E5B7-9093-40C5-99E6-4ABAF987532C}" type="presParOf" srcId="{BD465C08-39B9-45C1-AC69-72EEAFC8765B}" destId="{8933214C-8D37-4897-8CD7-9C63A8D4135F}" srcOrd="4" destOrd="0" presId="urn:microsoft.com/office/officeart/2005/8/layout/process1"/>
    <dgm:cxn modelId="{4EECEB7A-11A6-404B-91A4-8BC421D7B7A5}" type="presParOf" srcId="{BD465C08-39B9-45C1-AC69-72EEAFC8765B}" destId="{1DA5D4F9-17BF-45AF-AD90-7C91520E2342}" srcOrd="5" destOrd="0" presId="urn:microsoft.com/office/officeart/2005/8/layout/process1"/>
    <dgm:cxn modelId="{7B1F8848-5AEC-46AE-A392-7635973C04EB}" type="presParOf" srcId="{1DA5D4F9-17BF-45AF-AD90-7C91520E2342}" destId="{5905E098-45CB-44C1-A2F4-774BA2DACB12}" srcOrd="0" destOrd="0" presId="urn:microsoft.com/office/officeart/2005/8/layout/process1"/>
    <dgm:cxn modelId="{DE7B8236-06A0-4EC3-AE10-B6B32E99F1D0}" type="presParOf" srcId="{BD465C08-39B9-45C1-AC69-72EEAFC8765B}" destId="{31E7CED7-F481-47CB-BDD1-F576CABAF4DF}" srcOrd="6" destOrd="0" presId="urn:microsoft.com/office/officeart/2005/8/layout/process1"/>
    <dgm:cxn modelId="{D6CC93B1-3363-4368-8966-9D5764B511E3}" type="presParOf" srcId="{BD465C08-39B9-45C1-AC69-72EEAFC8765B}" destId="{F3698F84-3EF1-42D3-965E-DA9774C2D541}" srcOrd="7" destOrd="0" presId="urn:microsoft.com/office/officeart/2005/8/layout/process1"/>
    <dgm:cxn modelId="{E1593BD3-CE8F-4B73-A80D-ABE407061993}" type="presParOf" srcId="{F3698F84-3EF1-42D3-965E-DA9774C2D541}" destId="{83D6078F-A5E4-465D-BA4B-D548E384043F}" srcOrd="0" destOrd="0" presId="urn:microsoft.com/office/officeart/2005/8/layout/process1"/>
    <dgm:cxn modelId="{E47685DA-9D46-4D6B-9B01-15C1BCC1D7E7}" type="presParOf" srcId="{BD465C08-39B9-45C1-AC69-72EEAFC8765B}" destId="{F46125DE-1B8A-4BA0-9B53-269554F9C6BB}"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410C5C-4257-448E-8BC7-971ADA860990}">
      <dsp:nvSpPr>
        <dsp:cNvPr id="0" name=""/>
        <dsp:cNvSpPr/>
      </dsp:nvSpPr>
      <dsp:spPr>
        <a:xfrm>
          <a:off x="695104" y="0"/>
          <a:ext cx="7877852" cy="522732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1803EF-DF2A-4F13-9943-42EEE8471E20}">
      <dsp:nvSpPr>
        <dsp:cNvPr id="0" name=""/>
        <dsp:cNvSpPr/>
      </dsp:nvSpPr>
      <dsp:spPr>
        <a:xfrm>
          <a:off x="4638" y="1568196"/>
          <a:ext cx="2231032" cy="20909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b="1" u="sng" kern="1200" noProof="0" dirty="0"/>
            <a:t>Technique-independent</a:t>
          </a:r>
          <a:endParaRPr lang="da-DK" sz="1300" b="1" u="sng" kern="1200" dirty="0"/>
        </a:p>
        <a:p>
          <a:pPr marL="0" lvl="0" indent="0" algn="ctr" defTabSz="577850">
            <a:lnSpc>
              <a:spcPct val="90000"/>
            </a:lnSpc>
            <a:spcBef>
              <a:spcPct val="0"/>
            </a:spcBef>
            <a:spcAft>
              <a:spcPct val="35000"/>
            </a:spcAft>
            <a:buNone/>
          </a:pPr>
          <a:endParaRPr lang="en-GB" sz="1300" b="0" kern="1200" dirty="0"/>
        </a:p>
        <a:p>
          <a:pPr marL="0" lvl="0" indent="0" algn="ctr" defTabSz="577850">
            <a:lnSpc>
              <a:spcPct val="90000"/>
            </a:lnSpc>
            <a:spcBef>
              <a:spcPct val="0"/>
            </a:spcBef>
            <a:spcAft>
              <a:spcPct val="35000"/>
            </a:spcAft>
            <a:buNone/>
          </a:pPr>
          <a:r>
            <a:rPr lang="en-GB" sz="1300" b="0" kern="1200" dirty="0"/>
            <a:t>Presentation on model-based data analysis</a:t>
          </a:r>
        </a:p>
        <a:p>
          <a:pPr marL="0" lvl="0" indent="0" algn="ctr" defTabSz="577850">
            <a:lnSpc>
              <a:spcPct val="90000"/>
            </a:lnSpc>
            <a:spcBef>
              <a:spcPct val="0"/>
            </a:spcBef>
            <a:spcAft>
              <a:spcPct val="35000"/>
            </a:spcAft>
            <a:buNone/>
          </a:pPr>
          <a:endParaRPr lang="en-GB" sz="1300" b="0" kern="1200" dirty="0"/>
        </a:p>
        <a:p>
          <a:pPr marL="0" lvl="0" indent="0" algn="ctr" defTabSz="577850">
            <a:lnSpc>
              <a:spcPct val="90000"/>
            </a:lnSpc>
            <a:spcBef>
              <a:spcPct val="0"/>
            </a:spcBef>
            <a:spcAft>
              <a:spcPct val="35000"/>
            </a:spcAft>
            <a:buNone/>
          </a:pPr>
          <a:r>
            <a:rPr lang="en-GB" sz="1300" b="0" kern="1200" dirty="0"/>
            <a:t>Learning </a:t>
          </a:r>
          <a:r>
            <a:rPr lang="en-GB" sz="1300" b="0" kern="1200" dirty="0" err="1"/>
            <a:t>EasyScience</a:t>
          </a:r>
          <a:r>
            <a:rPr lang="en-GB" sz="1300" b="0" kern="1200" dirty="0"/>
            <a:t> through exercises</a:t>
          </a:r>
        </a:p>
      </dsp:txBody>
      <dsp:txXfrm>
        <a:off x="106709" y="1670267"/>
        <a:ext cx="2026890" cy="1886786"/>
      </dsp:txXfrm>
    </dsp:sp>
    <dsp:sp modelId="{A2D015F6-6ECC-4886-B009-24BB4B1AB8AC}">
      <dsp:nvSpPr>
        <dsp:cNvPr id="0" name=""/>
        <dsp:cNvSpPr/>
      </dsp:nvSpPr>
      <dsp:spPr>
        <a:xfrm>
          <a:off x="2347222" y="1568196"/>
          <a:ext cx="2231032" cy="20909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b="1" u="sng" kern="1200" noProof="0" dirty="0"/>
            <a:t>Technique-dependent</a:t>
          </a:r>
          <a:endParaRPr lang="da-DK" sz="1300" b="1" u="sng" kern="1200" dirty="0"/>
        </a:p>
        <a:p>
          <a:pPr marL="0" lvl="0" indent="0" algn="ctr" defTabSz="577850">
            <a:lnSpc>
              <a:spcPct val="90000"/>
            </a:lnSpc>
            <a:spcBef>
              <a:spcPct val="0"/>
            </a:spcBef>
            <a:spcAft>
              <a:spcPct val="35000"/>
            </a:spcAft>
            <a:buNone/>
          </a:pPr>
          <a:endParaRPr lang="en-GB" sz="1300" b="0" kern="1200" dirty="0"/>
        </a:p>
        <a:p>
          <a:pPr marL="0" lvl="0" indent="0" algn="ctr" defTabSz="577850">
            <a:lnSpc>
              <a:spcPct val="90000"/>
            </a:lnSpc>
            <a:spcBef>
              <a:spcPct val="0"/>
            </a:spcBef>
            <a:spcAft>
              <a:spcPct val="35000"/>
            </a:spcAft>
            <a:buNone/>
          </a:pPr>
          <a:r>
            <a:rPr lang="en-GB" sz="1300" b="0" kern="1200" dirty="0"/>
            <a:t>Learning technique-specific analysis tool</a:t>
          </a:r>
        </a:p>
        <a:p>
          <a:pPr marL="0" lvl="0" indent="0" algn="ctr" defTabSz="577850">
            <a:lnSpc>
              <a:spcPct val="90000"/>
            </a:lnSpc>
            <a:spcBef>
              <a:spcPct val="0"/>
            </a:spcBef>
            <a:spcAft>
              <a:spcPct val="35000"/>
            </a:spcAft>
            <a:buNone/>
          </a:pPr>
          <a:endParaRPr lang="en-GB" sz="1300" b="0" kern="1200" dirty="0"/>
        </a:p>
        <a:p>
          <a:pPr marL="0" lvl="0" indent="0" algn="ctr" defTabSz="577850">
            <a:lnSpc>
              <a:spcPct val="90000"/>
            </a:lnSpc>
            <a:spcBef>
              <a:spcPct val="0"/>
            </a:spcBef>
            <a:spcAft>
              <a:spcPct val="35000"/>
            </a:spcAft>
            <a:buNone/>
          </a:pPr>
          <a:r>
            <a:rPr lang="en-GB" sz="1300" b="0" kern="1200" dirty="0"/>
            <a:t>Analysing your reduced dataset with said tool</a:t>
          </a:r>
        </a:p>
      </dsp:txBody>
      <dsp:txXfrm>
        <a:off x="2449293" y="1670267"/>
        <a:ext cx="2026890" cy="1886786"/>
      </dsp:txXfrm>
    </dsp:sp>
    <dsp:sp modelId="{71ABB20B-F16A-4806-A5C6-DB7679AD6028}">
      <dsp:nvSpPr>
        <dsp:cNvPr id="0" name=""/>
        <dsp:cNvSpPr/>
      </dsp:nvSpPr>
      <dsp:spPr>
        <a:xfrm>
          <a:off x="4689806" y="1568196"/>
          <a:ext cx="2231032" cy="20909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b="1" u="sng" kern="1200" noProof="0" dirty="0"/>
            <a:t>Technique-independent</a:t>
          </a:r>
          <a:endParaRPr lang="da-DK" sz="1300" b="1" u="sng" kern="1200" dirty="0"/>
        </a:p>
        <a:p>
          <a:pPr marL="0" lvl="0" indent="0" algn="ctr" defTabSz="577850">
            <a:lnSpc>
              <a:spcPct val="90000"/>
            </a:lnSpc>
            <a:spcBef>
              <a:spcPct val="0"/>
            </a:spcBef>
            <a:spcAft>
              <a:spcPct val="35000"/>
            </a:spcAft>
            <a:buNone/>
          </a:pPr>
          <a:endParaRPr lang="en-GB" sz="1300" b="0" kern="1200" dirty="0"/>
        </a:p>
        <a:p>
          <a:pPr marL="0" lvl="0" indent="0" algn="ctr" defTabSz="577850">
            <a:lnSpc>
              <a:spcPct val="90000"/>
            </a:lnSpc>
            <a:spcBef>
              <a:spcPct val="0"/>
            </a:spcBef>
            <a:spcAft>
              <a:spcPct val="35000"/>
            </a:spcAft>
            <a:buNone/>
          </a:pPr>
          <a:r>
            <a:rPr lang="en-GB" sz="1300" b="0" kern="1200" dirty="0"/>
            <a:t>Presentation on Bayesian analysis and advantages</a:t>
          </a:r>
        </a:p>
        <a:p>
          <a:pPr marL="0" lvl="0" indent="0" algn="ctr" defTabSz="577850">
            <a:lnSpc>
              <a:spcPct val="90000"/>
            </a:lnSpc>
            <a:spcBef>
              <a:spcPct val="0"/>
            </a:spcBef>
            <a:spcAft>
              <a:spcPct val="35000"/>
            </a:spcAft>
            <a:buNone/>
          </a:pPr>
          <a:endParaRPr lang="en-GB" sz="1300" b="0" kern="1200" dirty="0"/>
        </a:p>
        <a:p>
          <a:pPr marL="0" lvl="0" indent="0" algn="ctr" defTabSz="577850">
            <a:lnSpc>
              <a:spcPct val="90000"/>
            </a:lnSpc>
            <a:spcBef>
              <a:spcPct val="0"/>
            </a:spcBef>
            <a:spcAft>
              <a:spcPct val="35000"/>
            </a:spcAft>
            <a:buNone/>
          </a:pPr>
          <a:r>
            <a:rPr lang="en-GB" sz="1300" kern="1200" dirty="0"/>
            <a:t>Learning to do Bayesian analysis in </a:t>
          </a:r>
          <a:r>
            <a:rPr lang="en-GB" sz="1300" kern="1200" dirty="0" err="1"/>
            <a:t>EasyScience</a:t>
          </a:r>
          <a:endParaRPr lang="en-GB" sz="1300" kern="1200" dirty="0"/>
        </a:p>
      </dsp:txBody>
      <dsp:txXfrm>
        <a:off x="4791877" y="1670267"/>
        <a:ext cx="2026890" cy="1886786"/>
      </dsp:txXfrm>
    </dsp:sp>
    <dsp:sp modelId="{7929E6FF-2EC3-445C-9CE8-4DEB083500A3}">
      <dsp:nvSpPr>
        <dsp:cNvPr id="0" name=""/>
        <dsp:cNvSpPr/>
      </dsp:nvSpPr>
      <dsp:spPr>
        <a:xfrm>
          <a:off x="7032390" y="1568196"/>
          <a:ext cx="2231032" cy="20909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b="1" u="sng" kern="1200" noProof="0" dirty="0"/>
            <a:t>Technique-dependent</a:t>
          </a:r>
          <a:endParaRPr lang="da-DK" sz="1300" b="1" u="sng" kern="1200" dirty="0"/>
        </a:p>
        <a:p>
          <a:pPr marL="0" lvl="0" indent="0" algn="ctr" defTabSz="577850">
            <a:lnSpc>
              <a:spcPct val="90000"/>
            </a:lnSpc>
            <a:spcBef>
              <a:spcPct val="0"/>
            </a:spcBef>
            <a:spcAft>
              <a:spcPct val="35000"/>
            </a:spcAft>
            <a:buNone/>
          </a:pPr>
          <a:endParaRPr lang="en-GB" sz="1300" b="0" kern="1200" dirty="0"/>
        </a:p>
        <a:p>
          <a:pPr marL="0" lvl="0" indent="0" algn="ctr" defTabSz="577850">
            <a:lnSpc>
              <a:spcPct val="90000"/>
            </a:lnSpc>
            <a:spcBef>
              <a:spcPct val="0"/>
            </a:spcBef>
            <a:spcAft>
              <a:spcPct val="35000"/>
            </a:spcAft>
            <a:buNone/>
          </a:pPr>
          <a:r>
            <a:rPr lang="en-GB" sz="1300" b="0" kern="1200" dirty="0"/>
            <a:t>Continue with technique-specific analysis, now with Bayesian methods</a:t>
          </a:r>
        </a:p>
        <a:p>
          <a:pPr marL="0" lvl="0" indent="0" algn="ctr" defTabSz="577850">
            <a:lnSpc>
              <a:spcPct val="90000"/>
            </a:lnSpc>
            <a:spcBef>
              <a:spcPct val="0"/>
            </a:spcBef>
            <a:spcAft>
              <a:spcPct val="35000"/>
            </a:spcAft>
            <a:buNone/>
          </a:pPr>
          <a:endParaRPr lang="en-GB" sz="1300" b="0" kern="1200" dirty="0"/>
        </a:p>
        <a:p>
          <a:pPr marL="0" lvl="0" indent="0" algn="ctr" defTabSz="577850">
            <a:lnSpc>
              <a:spcPct val="90000"/>
            </a:lnSpc>
            <a:spcBef>
              <a:spcPct val="0"/>
            </a:spcBef>
            <a:spcAft>
              <a:spcPct val="35000"/>
            </a:spcAft>
            <a:buNone/>
          </a:pPr>
          <a:endParaRPr lang="en-GB" sz="1300" b="0" kern="1200" dirty="0"/>
        </a:p>
      </dsp:txBody>
      <dsp:txXfrm>
        <a:off x="7134461" y="1670267"/>
        <a:ext cx="2026890" cy="18867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440857-9B28-41B3-8C6E-4892976D63CB}">
      <dsp:nvSpPr>
        <dsp:cNvPr id="0" name=""/>
        <dsp:cNvSpPr/>
      </dsp:nvSpPr>
      <dsp:spPr>
        <a:xfrm>
          <a:off x="671" y="2039999"/>
          <a:ext cx="1386322" cy="133866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da-DK" sz="1700" kern="1200" dirty="0"/>
            <a:t>Propose model</a:t>
          </a:r>
          <a:endParaRPr lang="en-GB" sz="1700" kern="1200" dirty="0"/>
        </a:p>
      </dsp:txBody>
      <dsp:txXfrm>
        <a:off x="39879" y="2079207"/>
        <a:ext cx="1307906" cy="1260251"/>
      </dsp:txXfrm>
    </dsp:sp>
    <dsp:sp modelId="{E9C20787-3CFD-40A1-BA60-6163550AFA15}">
      <dsp:nvSpPr>
        <dsp:cNvPr id="0" name=""/>
        <dsp:cNvSpPr/>
      </dsp:nvSpPr>
      <dsp:spPr>
        <a:xfrm>
          <a:off x="1525626" y="2537429"/>
          <a:ext cx="293900" cy="343808"/>
        </a:xfrm>
        <a:prstGeom prst="rightArrow">
          <a:avLst>
            <a:gd name="adj1" fmla="val 60000"/>
            <a:gd name="adj2" fmla="val 50000"/>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1525626" y="2606191"/>
        <a:ext cx="205730" cy="206284"/>
      </dsp:txXfrm>
    </dsp:sp>
    <dsp:sp modelId="{52176CD2-20EC-44CD-ADCB-5D89D70C660C}">
      <dsp:nvSpPr>
        <dsp:cNvPr id="0" name=""/>
        <dsp:cNvSpPr/>
      </dsp:nvSpPr>
      <dsp:spPr>
        <a:xfrm>
          <a:off x="1941523" y="2039999"/>
          <a:ext cx="1386322" cy="133866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da-DK" sz="1700" kern="1200" dirty="0"/>
            <a:t>Set/</a:t>
          </a:r>
          <a:r>
            <a:rPr lang="da-DK" sz="1700" kern="1200" dirty="0" err="1"/>
            <a:t>change</a:t>
          </a:r>
          <a:r>
            <a:rPr lang="da-DK" sz="1700" kern="1200" dirty="0"/>
            <a:t> model parameter </a:t>
          </a:r>
          <a:r>
            <a:rPr lang="da-DK" sz="1700" kern="1200" dirty="0" err="1"/>
            <a:t>values</a:t>
          </a:r>
          <a:endParaRPr lang="en-GB" sz="1700" kern="1200" dirty="0"/>
        </a:p>
      </dsp:txBody>
      <dsp:txXfrm>
        <a:off x="1980731" y="2079207"/>
        <a:ext cx="1307906" cy="1260251"/>
      </dsp:txXfrm>
    </dsp:sp>
    <dsp:sp modelId="{712FE516-764D-4B16-ABF3-97F47C3893DF}">
      <dsp:nvSpPr>
        <dsp:cNvPr id="0" name=""/>
        <dsp:cNvSpPr/>
      </dsp:nvSpPr>
      <dsp:spPr>
        <a:xfrm>
          <a:off x="3466478" y="2537429"/>
          <a:ext cx="293900" cy="343808"/>
        </a:xfrm>
        <a:prstGeom prst="rightArrow">
          <a:avLst>
            <a:gd name="adj1" fmla="val 60000"/>
            <a:gd name="adj2" fmla="val 50000"/>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3466478" y="2606191"/>
        <a:ext cx="205730" cy="206284"/>
      </dsp:txXfrm>
    </dsp:sp>
    <dsp:sp modelId="{8933214C-8D37-4897-8CD7-9C63A8D4135F}">
      <dsp:nvSpPr>
        <dsp:cNvPr id="0" name=""/>
        <dsp:cNvSpPr/>
      </dsp:nvSpPr>
      <dsp:spPr>
        <a:xfrm>
          <a:off x="3882375" y="2039999"/>
          <a:ext cx="1386322" cy="133866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da-DK" sz="1700" kern="1200" dirty="0" err="1"/>
            <a:t>Calculate</a:t>
          </a:r>
          <a:r>
            <a:rPr lang="da-DK" sz="1700" kern="1200" dirty="0"/>
            <a:t> model data</a:t>
          </a:r>
          <a:endParaRPr lang="en-GB" sz="1700" kern="1200" dirty="0"/>
        </a:p>
      </dsp:txBody>
      <dsp:txXfrm>
        <a:off x="3921583" y="2079207"/>
        <a:ext cx="1307906" cy="1260251"/>
      </dsp:txXfrm>
    </dsp:sp>
    <dsp:sp modelId="{1DA5D4F9-17BF-45AF-AD90-7C91520E2342}">
      <dsp:nvSpPr>
        <dsp:cNvPr id="0" name=""/>
        <dsp:cNvSpPr/>
      </dsp:nvSpPr>
      <dsp:spPr>
        <a:xfrm>
          <a:off x="5407330" y="2537429"/>
          <a:ext cx="293900" cy="343808"/>
        </a:xfrm>
        <a:prstGeom prst="rightArrow">
          <a:avLst>
            <a:gd name="adj1" fmla="val 60000"/>
            <a:gd name="adj2" fmla="val 50000"/>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5407330" y="2606191"/>
        <a:ext cx="205730" cy="206284"/>
      </dsp:txXfrm>
    </dsp:sp>
    <dsp:sp modelId="{31E7CED7-F481-47CB-BDD1-F576CABAF4DF}">
      <dsp:nvSpPr>
        <dsp:cNvPr id="0" name=""/>
        <dsp:cNvSpPr/>
      </dsp:nvSpPr>
      <dsp:spPr>
        <a:xfrm>
          <a:off x="5823227" y="2039999"/>
          <a:ext cx="2127894" cy="133866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da-DK" sz="1700" kern="1200" dirty="0" err="1"/>
            <a:t>Compare</a:t>
          </a:r>
          <a:r>
            <a:rPr lang="da-DK" sz="1700" kern="1200" dirty="0"/>
            <a:t> model data to </a:t>
          </a:r>
          <a:r>
            <a:rPr lang="da-DK" sz="1700" kern="1200" dirty="0" err="1"/>
            <a:t>experimental</a:t>
          </a:r>
          <a:r>
            <a:rPr lang="da-DK" sz="1700" kern="1200" dirty="0"/>
            <a:t> data</a:t>
          </a:r>
          <a:endParaRPr lang="en-GB" sz="1700" kern="1200" dirty="0"/>
        </a:p>
      </dsp:txBody>
      <dsp:txXfrm>
        <a:off x="5862435" y="2079207"/>
        <a:ext cx="2049478" cy="1260251"/>
      </dsp:txXfrm>
    </dsp:sp>
    <dsp:sp modelId="{F3698F84-3EF1-42D3-965E-DA9774C2D541}">
      <dsp:nvSpPr>
        <dsp:cNvPr id="0" name=""/>
        <dsp:cNvSpPr/>
      </dsp:nvSpPr>
      <dsp:spPr>
        <a:xfrm>
          <a:off x="8089754" y="2537429"/>
          <a:ext cx="293900" cy="343808"/>
        </a:xfrm>
        <a:prstGeom prst="rightArrow">
          <a:avLst>
            <a:gd name="adj1" fmla="val 60000"/>
            <a:gd name="adj2" fmla="val 50000"/>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8089754" y="2606191"/>
        <a:ext cx="205730" cy="206284"/>
      </dsp:txXfrm>
    </dsp:sp>
    <dsp:sp modelId="{F46125DE-1B8A-4BA0-9B53-269554F9C6BB}">
      <dsp:nvSpPr>
        <dsp:cNvPr id="0" name=""/>
        <dsp:cNvSpPr/>
      </dsp:nvSpPr>
      <dsp:spPr>
        <a:xfrm>
          <a:off x="8505650" y="2039999"/>
          <a:ext cx="1386322" cy="133866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da-DK" sz="1700" kern="1200" dirty="0"/>
            <a:t>Stop</a:t>
          </a:r>
          <a:endParaRPr lang="en-GB" sz="1700" kern="1200" dirty="0"/>
        </a:p>
      </dsp:txBody>
      <dsp:txXfrm>
        <a:off x="8544858" y="2079207"/>
        <a:ext cx="1307906" cy="126025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216F17-FF12-814E-936A-620B3383A43B}" type="datetimeFigureOut">
              <a:rPr lang="sv-SE" smtClean="0"/>
              <a:t>2026-08-26</a:t>
            </a:fld>
            <a:endParaRPr/>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E5A434-646A-2746-9BDC-885B2382B33E}" type="slidenum">
              <a:rPr lang="sv-SE" smtClean="0"/>
              <a:t>‹#›</a:t>
            </a:fld>
            <a:endParaRPr/>
          </a:p>
        </p:txBody>
      </p:sp>
    </p:spTree>
    <p:extLst>
      <p:ext uri="{BB962C8B-B14F-4D97-AF65-F5344CB8AC3E}">
        <p14:creationId xmlns:p14="http://schemas.microsoft.com/office/powerpoint/2010/main" val="2231822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445E1-BA42-DC2B-EC9C-6E8CFD5F4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B9C57-275B-8B1B-064B-9F3B39018D9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269971-42C7-5EF1-E0D2-FEF53F021593}"/>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6949C41-A95D-B47B-BA30-442571115B2B}"/>
              </a:ext>
            </a:extLst>
          </p:cNvPr>
          <p:cNvSpPr>
            <a:spLocks noGrp="1"/>
          </p:cNvSpPr>
          <p:nvPr>
            <p:ph type="sldNum" sz="quarter" idx="5"/>
          </p:nvPr>
        </p:nvSpPr>
        <p:spPr/>
        <p:txBody>
          <a:bodyPr/>
          <a:lstStyle/>
          <a:p>
            <a:fld id="{3AE5A434-646A-2746-9BDC-885B2382B33E}" type="slidenum">
              <a:rPr lang="sv-SE" smtClean="0"/>
              <a:t>3</a:t>
            </a:fld>
            <a:endParaRPr lang="sv-SE"/>
          </a:p>
        </p:txBody>
      </p:sp>
    </p:spTree>
    <p:extLst>
      <p:ext uri="{BB962C8B-B14F-4D97-AF65-F5344CB8AC3E}">
        <p14:creationId xmlns:p14="http://schemas.microsoft.com/office/powerpoint/2010/main" val="2717725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0C089-1B63-BFDF-B7AA-C6AC396B4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8D534-2DD7-129D-8402-930C2DEDD7E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C849C44-67D3-8F40-B1EC-C0F75FC41F24}"/>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There are two general approaches to the analysis of data; model-dependent and model-independent.</a:t>
            </a:r>
          </a:p>
          <a:p>
            <a:r>
              <a:rPr lang="en-GB" sz="1200" b="0" i="0" kern="1200" dirty="0">
                <a:solidFill>
                  <a:schemeClr val="tx1"/>
                </a:solidFill>
                <a:effectLst/>
                <a:latin typeface="+mn-lt"/>
                <a:ea typeface="+mn-ea"/>
                <a:cs typeface="+mn-cs"/>
              </a:rPr>
              <a:t>A model-independent approach to analysis is where no assumptions are made about the system that is being studied and conclusions are drawn </a:t>
            </a:r>
            <a:r>
              <a:rPr lang="en-GB" sz="1200" b="1" i="0" kern="1200" dirty="0">
                <a:solidFill>
                  <a:schemeClr val="tx1"/>
                </a:solidFill>
                <a:effectLst/>
                <a:latin typeface="+mn-lt"/>
                <a:ea typeface="+mn-ea"/>
                <a:cs typeface="+mn-cs"/>
              </a:rPr>
              <a:t>only</a:t>
            </a:r>
            <a:r>
              <a:rPr lang="en-GB" sz="1200" b="0" i="0" kern="1200" dirty="0">
                <a:solidFill>
                  <a:schemeClr val="tx1"/>
                </a:solidFill>
                <a:effectLst/>
                <a:latin typeface="+mn-lt"/>
                <a:ea typeface="+mn-ea"/>
                <a:cs typeface="+mn-cs"/>
              </a:rPr>
              <a:t> from the data that has been observed. This approach can be completely free of scientific bias since no </a:t>
            </a:r>
            <a:r>
              <a:rPr lang="en-GB" sz="1200" b="0" i="1" kern="1200" dirty="0">
                <a:solidFill>
                  <a:schemeClr val="tx1"/>
                </a:solidFill>
                <a:effectLst/>
                <a:latin typeface="+mn-lt"/>
                <a:ea typeface="+mn-ea"/>
                <a:cs typeface="+mn-cs"/>
              </a:rPr>
              <a:t>a priori</a:t>
            </a:r>
            <a:r>
              <a:rPr lang="en-GB" sz="1200" b="0" i="0" kern="1200" dirty="0">
                <a:solidFill>
                  <a:schemeClr val="tx1"/>
                </a:solidFill>
                <a:effectLst/>
                <a:latin typeface="+mn-lt"/>
                <a:ea typeface="+mn-ea"/>
                <a:cs typeface="+mn-cs"/>
              </a:rPr>
              <a:t> knowledge is assumed. Examples of this approach includes statistical methods such as p-tests and ANOVA’s.</a:t>
            </a:r>
          </a:p>
          <a:p>
            <a:r>
              <a:rPr lang="en-GB" sz="1200" b="0" i="0" kern="1200" dirty="0">
                <a:solidFill>
                  <a:schemeClr val="tx1"/>
                </a:solidFill>
                <a:effectLst/>
                <a:latin typeface="+mn-lt"/>
                <a:ea typeface="+mn-ea"/>
                <a:cs typeface="+mn-cs"/>
              </a:rPr>
              <a:t>In contrast, a model-dependent approach to analysis includes </a:t>
            </a:r>
            <a:r>
              <a:rPr lang="en-GB" sz="1200" b="0" i="1" kern="1200" dirty="0">
                <a:solidFill>
                  <a:schemeClr val="tx1"/>
                </a:solidFill>
                <a:effectLst/>
                <a:latin typeface="+mn-lt"/>
                <a:ea typeface="+mn-ea"/>
                <a:cs typeface="+mn-cs"/>
              </a:rPr>
              <a:t>what we think we know</a:t>
            </a:r>
            <a:r>
              <a:rPr lang="en-GB" sz="1200" b="0" i="0" kern="1200" dirty="0">
                <a:solidFill>
                  <a:schemeClr val="tx1"/>
                </a:solidFill>
                <a:effectLst/>
                <a:latin typeface="+mn-lt"/>
                <a:ea typeface="+mn-ea"/>
                <a:cs typeface="+mn-cs"/>
              </a:rPr>
              <a:t> about the system in the form of a mathematical model. This model will either describe how we think our system behaves statistically, or how it is built physically, or both. The model could be the atomic structure of an atomic model, the lipid layers in a reflectometry model or the vibrational modes of a spectroscopy model. In either case it requires </a:t>
            </a:r>
            <a:r>
              <a:rPr lang="en-GB" sz="1200" b="1" i="0" kern="1200" dirty="0">
                <a:solidFill>
                  <a:schemeClr val="tx1"/>
                </a:solidFill>
                <a:effectLst/>
                <a:latin typeface="+mn-lt"/>
                <a:ea typeface="+mn-ea"/>
                <a:cs typeface="+mn-cs"/>
              </a:rPr>
              <a:t>guessing</a:t>
            </a:r>
            <a:r>
              <a:rPr lang="en-GB" sz="1200" b="0" i="0" kern="1200" dirty="0">
                <a:solidFill>
                  <a:schemeClr val="tx1"/>
                </a:solidFill>
                <a:effectLst/>
                <a:latin typeface="+mn-lt"/>
                <a:ea typeface="+mn-ea"/>
                <a:cs typeface="+mn-cs"/>
              </a:rPr>
              <a:t> what the structure of the system is and how that structure reproduces the experimentally observed results, as such this is a very biased analysis method.</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In neutron science, the model-dependent approach is most common and is therefore the one we will focus on in this summer school.</a:t>
            </a:r>
          </a:p>
        </p:txBody>
      </p:sp>
      <p:sp>
        <p:nvSpPr>
          <p:cNvPr id="4" name="Slide Number Placeholder 3">
            <a:extLst>
              <a:ext uri="{FF2B5EF4-FFF2-40B4-BE49-F238E27FC236}">
                <a16:creationId xmlns:a16="http://schemas.microsoft.com/office/drawing/2014/main" id="{87B02670-27FF-E8C6-041C-D5AEBD0ED4E2}"/>
              </a:ext>
            </a:extLst>
          </p:cNvPr>
          <p:cNvSpPr>
            <a:spLocks noGrp="1"/>
          </p:cNvSpPr>
          <p:nvPr>
            <p:ph type="sldNum" sz="quarter" idx="5"/>
          </p:nvPr>
        </p:nvSpPr>
        <p:spPr/>
        <p:txBody>
          <a:bodyPr/>
          <a:lstStyle/>
          <a:p>
            <a:fld id="{3AE5A434-646A-2746-9BDC-885B2382B33E}" type="slidenum">
              <a:rPr lang="sv-SE" smtClean="0"/>
              <a:t>4</a:t>
            </a:fld>
            <a:endParaRPr lang="sv-SE"/>
          </a:p>
        </p:txBody>
      </p:sp>
    </p:spTree>
    <p:extLst>
      <p:ext uri="{BB962C8B-B14F-4D97-AF65-F5344CB8AC3E}">
        <p14:creationId xmlns:p14="http://schemas.microsoft.com/office/powerpoint/2010/main" val="3049921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Model dependent analysis usually involves doing a </a:t>
            </a:r>
            <a:r>
              <a:rPr lang="en-GB" sz="1200" b="1" i="0" kern="1200" dirty="0">
                <a:solidFill>
                  <a:schemeClr val="tx1"/>
                </a:solidFill>
                <a:effectLst/>
                <a:latin typeface="+mn-lt"/>
                <a:ea typeface="+mn-ea"/>
                <a:cs typeface="+mn-cs"/>
              </a:rPr>
              <a:t>regression</a:t>
            </a:r>
            <a:r>
              <a:rPr lang="en-GB" sz="1200" b="0" i="0" kern="1200" dirty="0">
                <a:solidFill>
                  <a:schemeClr val="tx1"/>
                </a:solidFill>
                <a:effectLst/>
                <a:latin typeface="+mn-lt"/>
                <a:ea typeface="+mn-ea"/>
                <a:cs typeface="+mn-cs"/>
              </a:rPr>
              <a:t> or another optimisation algorithm on the mathematical model to replicate the experimentally observed dataset to the best of its ability. Here we see a generic regression loop for fitting a model to a dataset.</a:t>
            </a:r>
          </a:p>
          <a:p>
            <a:r>
              <a:rPr lang="en-GB" sz="1200" b="0" i="0" kern="1200" dirty="0">
                <a:solidFill>
                  <a:schemeClr val="tx1"/>
                </a:solidFill>
                <a:effectLst/>
                <a:latin typeface="+mn-lt"/>
                <a:ea typeface="+mn-ea"/>
                <a:cs typeface="+mn-cs"/>
              </a:rPr>
              <a:t>First the model is proposed, this model has parameters that reflect physical properties of the experimental system which are set to our best initial guesses at their values. </a:t>
            </a:r>
          </a:p>
          <a:p>
            <a:r>
              <a:rPr lang="en-GB" sz="1200" b="0" i="0" kern="1200" dirty="0">
                <a:solidFill>
                  <a:schemeClr val="tx1"/>
                </a:solidFill>
                <a:effectLst/>
                <a:latin typeface="+mn-lt"/>
                <a:ea typeface="+mn-ea"/>
                <a:cs typeface="+mn-cs"/>
              </a:rPr>
              <a:t>When doing the optimisation, these parameters are then continually changed to make the simulated dataset better replicate the experimental dataset. </a:t>
            </a:r>
          </a:p>
          <a:p>
            <a:r>
              <a:rPr lang="en-GB" sz="1200" b="0" i="0" kern="1200" dirty="0">
                <a:solidFill>
                  <a:schemeClr val="tx1"/>
                </a:solidFill>
                <a:effectLst/>
                <a:latin typeface="+mn-lt"/>
                <a:ea typeface="+mn-ea"/>
                <a:cs typeface="+mn-cs"/>
              </a:rPr>
              <a:t>After each change, the model is compared to the experimental dataset, and if they match closely enough, based on a chosen threshold, the optimization stops, otherwise it continues.</a:t>
            </a:r>
          </a:p>
        </p:txBody>
      </p:sp>
      <p:sp>
        <p:nvSpPr>
          <p:cNvPr id="4" name="Slide Number Placeholder 3"/>
          <p:cNvSpPr>
            <a:spLocks noGrp="1"/>
          </p:cNvSpPr>
          <p:nvPr>
            <p:ph type="sldNum" sz="quarter" idx="5"/>
          </p:nvPr>
        </p:nvSpPr>
        <p:spPr/>
        <p:txBody>
          <a:bodyPr/>
          <a:lstStyle/>
          <a:p>
            <a:fld id="{3AE5A434-646A-2746-9BDC-885B2382B33E}" type="slidenum">
              <a:rPr lang="sv-SE" smtClean="0"/>
              <a:t>5</a:t>
            </a:fld>
            <a:endParaRPr lang="sv-SE"/>
          </a:p>
        </p:txBody>
      </p:sp>
    </p:spTree>
    <p:extLst>
      <p:ext uri="{BB962C8B-B14F-4D97-AF65-F5344CB8AC3E}">
        <p14:creationId xmlns:p14="http://schemas.microsoft.com/office/powerpoint/2010/main" val="1582087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CB2A7-92EE-A588-C246-78CDA3CA8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9E86C-CC17-2C76-7C58-0C0762F1545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3904B81-7856-81E9-1AA1-5EE6FF87EFE5}"/>
              </a:ext>
            </a:extLst>
          </p:cNvPr>
          <p:cNvSpPr>
            <a:spLocks noGrp="1"/>
          </p:cNvSpPr>
          <p:nvPr>
            <p:ph type="body" idx="1"/>
          </p:nvPr>
        </p:nvSpPr>
        <p:spPr/>
        <p:txBody>
          <a:bodyPr/>
          <a:lstStyle/>
          <a:p>
            <a:r>
              <a:rPr lang="sv-SE" dirty="0" err="1"/>
              <a:t>Let’s</a:t>
            </a:r>
            <a:r>
              <a:rPr lang="sv-SE" dirty="0"/>
              <a:t> start by </a:t>
            </a:r>
            <a:r>
              <a:rPr lang="sv-SE" dirty="0" err="1"/>
              <a:t>looking</a:t>
            </a:r>
            <a:r>
              <a:rPr lang="sv-SE" dirty="0"/>
              <a:t> at an </a:t>
            </a:r>
            <a:r>
              <a:rPr lang="sv-SE" dirty="0" err="1"/>
              <a:t>example</a:t>
            </a:r>
            <a:r>
              <a:rPr lang="sv-SE" dirty="0"/>
              <a:t> </a:t>
            </a:r>
            <a:r>
              <a:rPr lang="sv-SE" dirty="0" err="1"/>
              <a:t>of</a:t>
            </a:r>
            <a:r>
              <a:rPr lang="sv-SE" dirty="0"/>
              <a:t> a </a:t>
            </a:r>
            <a:r>
              <a:rPr lang="sv-SE" dirty="0" err="1"/>
              <a:t>very</a:t>
            </a:r>
            <a:r>
              <a:rPr lang="sv-SE" dirty="0"/>
              <a:t> simple </a:t>
            </a:r>
            <a:r>
              <a:rPr lang="sv-SE" dirty="0" err="1"/>
              <a:t>model</a:t>
            </a:r>
            <a:r>
              <a:rPr lang="sv-SE" dirty="0"/>
              <a:t>. A straight </a:t>
            </a:r>
            <a:r>
              <a:rPr lang="sv-SE" dirty="0" err="1"/>
              <a:t>line</a:t>
            </a:r>
            <a:r>
              <a:rPr lang="sv-SE" dirty="0"/>
              <a:t> is </a:t>
            </a:r>
            <a:r>
              <a:rPr lang="sv-SE" dirty="0" err="1"/>
              <a:t>possibly</a:t>
            </a:r>
            <a:r>
              <a:rPr lang="sv-SE" dirty="0"/>
              <a:t> the </a:t>
            </a:r>
            <a:r>
              <a:rPr lang="sv-SE" dirty="0" err="1"/>
              <a:t>simplest</a:t>
            </a:r>
            <a:r>
              <a:rPr lang="sv-SE" dirty="0"/>
              <a:t> </a:t>
            </a:r>
            <a:r>
              <a:rPr lang="sv-SE" dirty="0" err="1"/>
              <a:t>model</a:t>
            </a:r>
            <a:r>
              <a:rPr lang="sv-SE" dirty="0"/>
              <a:t> </a:t>
            </a:r>
            <a:r>
              <a:rPr lang="sv-SE" dirty="0" err="1"/>
              <a:t>we</a:t>
            </a:r>
            <a:r>
              <a:rPr lang="sv-SE" dirty="0"/>
              <a:t> </a:t>
            </a:r>
            <a:r>
              <a:rPr lang="sv-SE" dirty="0" err="1"/>
              <a:t>can</a:t>
            </a:r>
            <a:r>
              <a:rPr lang="sv-SE" dirty="0"/>
              <a:t> </a:t>
            </a:r>
            <a:r>
              <a:rPr lang="sv-SE" dirty="0" err="1"/>
              <a:t>imagine</a:t>
            </a:r>
            <a:r>
              <a:rPr lang="sv-SE" dirty="0"/>
              <a:t> </a:t>
            </a:r>
            <a:r>
              <a:rPr lang="sv-SE" dirty="0" err="1"/>
              <a:t>that</a:t>
            </a:r>
            <a:r>
              <a:rPr lang="sv-SE" dirty="0"/>
              <a:t> </a:t>
            </a:r>
            <a:r>
              <a:rPr lang="sv-SE" dirty="0" err="1"/>
              <a:t>can</a:t>
            </a:r>
            <a:r>
              <a:rPr lang="sv-SE" dirty="0"/>
              <a:t> </a:t>
            </a:r>
            <a:r>
              <a:rPr lang="sv-SE" dirty="0" err="1"/>
              <a:t>replicate</a:t>
            </a:r>
            <a:r>
              <a:rPr lang="sv-SE" dirty="0"/>
              <a:t> a 1-dimensional experimental </a:t>
            </a:r>
            <a:r>
              <a:rPr lang="sv-SE" dirty="0" err="1"/>
              <a:t>dataset</a:t>
            </a:r>
            <a:r>
              <a:rPr lang="sv-SE" dirty="0"/>
              <a:t>.</a:t>
            </a:r>
            <a:br>
              <a:rPr lang="sv-SE" dirty="0"/>
            </a:br>
            <a:r>
              <a:rPr lang="sv-SE" dirty="0" err="1"/>
              <a:t>We</a:t>
            </a:r>
            <a:r>
              <a:rPr lang="sv-SE" dirty="0"/>
              <a:t> </a:t>
            </a:r>
            <a:r>
              <a:rPr lang="sv-SE" dirty="0" err="1"/>
              <a:t>know</a:t>
            </a:r>
            <a:r>
              <a:rPr lang="sv-SE" dirty="0"/>
              <a:t> </a:t>
            </a:r>
            <a:r>
              <a:rPr lang="sv-SE" dirty="0" err="1"/>
              <a:t>its</a:t>
            </a:r>
            <a:r>
              <a:rPr lang="sv-SE" dirty="0"/>
              <a:t> </a:t>
            </a:r>
            <a:r>
              <a:rPr lang="sv-SE" dirty="0" err="1"/>
              <a:t>equation</a:t>
            </a:r>
            <a:r>
              <a:rPr lang="sv-SE" dirty="0"/>
              <a:t>, y=m x + c, </a:t>
            </a:r>
            <a:r>
              <a:rPr lang="sv-SE" dirty="0" err="1"/>
              <a:t>here</a:t>
            </a:r>
            <a:r>
              <a:rPr lang="sv-SE" dirty="0"/>
              <a:t> </a:t>
            </a:r>
            <a:r>
              <a:rPr lang="sv-SE" dirty="0" err="1"/>
              <a:t>we</a:t>
            </a:r>
            <a:r>
              <a:rPr lang="sv-SE" dirty="0"/>
              <a:t> </a:t>
            </a:r>
            <a:r>
              <a:rPr lang="sv-SE" dirty="0" err="1"/>
              <a:t>have</a:t>
            </a:r>
            <a:r>
              <a:rPr lang="sv-SE" dirty="0"/>
              <a:t> </a:t>
            </a:r>
            <a:r>
              <a:rPr lang="sv-SE" dirty="0" err="1"/>
              <a:t>two</a:t>
            </a:r>
            <a:r>
              <a:rPr lang="sv-SE" dirty="0"/>
              <a:t> </a:t>
            </a:r>
            <a:r>
              <a:rPr lang="sv-SE" dirty="0" err="1"/>
              <a:t>tuning</a:t>
            </a:r>
            <a:r>
              <a:rPr lang="sv-SE" dirty="0"/>
              <a:t> parameters, m and c, </a:t>
            </a:r>
            <a:r>
              <a:rPr lang="sv-SE" dirty="0" err="1"/>
              <a:t>which</a:t>
            </a:r>
            <a:r>
              <a:rPr lang="sv-SE" dirty="0"/>
              <a:t> </a:t>
            </a:r>
            <a:r>
              <a:rPr lang="sv-SE" dirty="0" err="1"/>
              <a:t>we</a:t>
            </a:r>
            <a:r>
              <a:rPr lang="sv-SE" dirty="0"/>
              <a:t> </a:t>
            </a:r>
            <a:r>
              <a:rPr lang="sv-SE" dirty="0" err="1"/>
              <a:t>can</a:t>
            </a:r>
            <a:r>
              <a:rPr lang="sv-SE" dirty="0"/>
              <a:t> </a:t>
            </a:r>
            <a:r>
              <a:rPr lang="sv-SE" dirty="0" err="1"/>
              <a:t>tune</a:t>
            </a:r>
            <a:r>
              <a:rPr lang="sv-SE" dirty="0"/>
              <a:t> to </a:t>
            </a:r>
            <a:r>
              <a:rPr lang="sv-SE" dirty="0" err="1"/>
              <a:t>improve</a:t>
            </a:r>
            <a:r>
              <a:rPr lang="sv-SE" dirty="0"/>
              <a:t> </a:t>
            </a:r>
            <a:r>
              <a:rPr lang="sv-SE" dirty="0" err="1"/>
              <a:t>our</a:t>
            </a:r>
            <a:r>
              <a:rPr lang="sv-SE" dirty="0"/>
              <a:t> </a:t>
            </a:r>
            <a:r>
              <a:rPr lang="sv-SE" dirty="0" err="1"/>
              <a:t>models</a:t>
            </a:r>
            <a:r>
              <a:rPr lang="sv-SE" dirty="0"/>
              <a:t> </a:t>
            </a:r>
            <a:r>
              <a:rPr lang="sv-SE" dirty="0" err="1"/>
              <a:t>ability</a:t>
            </a:r>
            <a:r>
              <a:rPr lang="sv-SE" dirty="0"/>
              <a:t> to </a:t>
            </a:r>
            <a:r>
              <a:rPr lang="sv-SE" dirty="0" err="1"/>
              <a:t>replicate</a:t>
            </a:r>
            <a:r>
              <a:rPr lang="sv-SE" dirty="0"/>
              <a:t> a given </a:t>
            </a:r>
            <a:r>
              <a:rPr lang="sv-SE" dirty="0" err="1"/>
              <a:t>dataset</a:t>
            </a:r>
            <a:r>
              <a:rPr lang="sv-SE" dirty="0"/>
              <a:t>. X is </a:t>
            </a:r>
            <a:r>
              <a:rPr lang="sv-SE" dirty="0" err="1"/>
              <a:t>called</a:t>
            </a:r>
            <a:r>
              <a:rPr lang="sv-SE" dirty="0"/>
              <a:t> the </a:t>
            </a:r>
            <a:r>
              <a:rPr lang="sv-SE" dirty="0" err="1"/>
              <a:t>dependent</a:t>
            </a:r>
            <a:r>
              <a:rPr lang="sv-SE" dirty="0"/>
              <a:t> </a:t>
            </a:r>
            <a:r>
              <a:rPr lang="sv-SE" dirty="0" err="1"/>
              <a:t>variable</a:t>
            </a:r>
            <a:r>
              <a:rPr lang="sv-SE" dirty="0"/>
              <a:t> and is given by </a:t>
            </a:r>
            <a:r>
              <a:rPr lang="sv-SE" dirty="0" err="1"/>
              <a:t>our</a:t>
            </a:r>
            <a:r>
              <a:rPr lang="sv-SE" dirty="0"/>
              <a:t> </a:t>
            </a:r>
            <a:r>
              <a:rPr lang="sv-SE" dirty="0" err="1"/>
              <a:t>measured</a:t>
            </a:r>
            <a:r>
              <a:rPr lang="sv-SE" dirty="0"/>
              <a:t> </a:t>
            </a:r>
            <a:r>
              <a:rPr lang="sv-SE" dirty="0" err="1"/>
              <a:t>dataset</a:t>
            </a:r>
            <a:r>
              <a:rPr lang="sv-SE" dirty="0"/>
              <a:t>, and y is the </a:t>
            </a:r>
            <a:r>
              <a:rPr lang="sv-SE" dirty="0" err="1"/>
              <a:t>model</a:t>
            </a:r>
            <a:r>
              <a:rPr lang="sv-SE" dirty="0"/>
              <a:t> </a:t>
            </a:r>
            <a:r>
              <a:rPr lang="sv-SE" dirty="0" err="1"/>
              <a:t>predicition</a:t>
            </a:r>
            <a:r>
              <a:rPr lang="sv-SE" dirty="0"/>
              <a:t>/</a:t>
            </a:r>
            <a:r>
              <a:rPr lang="sv-SE" dirty="0" err="1"/>
              <a:t>outcome</a:t>
            </a:r>
            <a:r>
              <a:rPr lang="sv-SE" dirty="0"/>
              <a:t>.</a:t>
            </a:r>
          </a:p>
          <a:p>
            <a:r>
              <a:rPr lang="sv-SE" dirty="0"/>
              <a:t>By the </a:t>
            </a:r>
            <a:r>
              <a:rPr lang="sv-SE" dirty="0" err="1"/>
              <a:t>way</a:t>
            </a:r>
            <a:r>
              <a:rPr lang="sv-SE" dirty="0"/>
              <a:t>, </a:t>
            </a:r>
            <a:r>
              <a:rPr lang="sv-SE" dirty="0" err="1"/>
              <a:t>large</a:t>
            </a:r>
            <a:r>
              <a:rPr lang="sv-SE" dirty="0"/>
              <a:t> LLMs </a:t>
            </a:r>
            <a:r>
              <a:rPr lang="sv-SE" dirty="0" err="1"/>
              <a:t>are</a:t>
            </a:r>
            <a:r>
              <a:rPr lang="sv-SE" dirty="0"/>
              <a:t> </a:t>
            </a:r>
            <a:r>
              <a:rPr lang="sv-SE" dirty="0" err="1"/>
              <a:t>essentially</a:t>
            </a:r>
            <a:r>
              <a:rPr lang="sv-SE" dirty="0"/>
              <a:t> just billions </a:t>
            </a:r>
            <a:r>
              <a:rPr lang="sv-SE" dirty="0" err="1"/>
              <a:t>of</a:t>
            </a:r>
            <a:r>
              <a:rPr lang="sv-SE" dirty="0"/>
              <a:t> straight </a:t>
            </a:r>
            <a:r>
              <a:rPr lang="sv-SE" dirty="0" err="1"/>
              <a:t>line</a:t>
            </a:r>
            <a:r>
              <a:rPr lang="sv-SE" dirty="0"/>
              <a:t> </a:t>
            </a:r>
            <a:r>
              <a:rPr lang="sv-SE" dirty="0" err="1"/>
              <a:t>models</a:t>
            </a:r>
            <a:r>
              <a:rPr lang="sv-SE" dirty="0"/>
              <a:t> like </a:t>
            </a:r>
            <a:r>
              <a:rPr lang="sv-SE" dirty="0" err="1"/>
              <a:t>this</a:t>
            </a:r>
            <a:r>
              <a:rPr lang="sv-SE" dirty="0"/>
              <a:t> </a:t>
            </a:r>
            <a:r>
              <a:rPr lang="sv-SE" dirty="0" err="1"/>
              <a:t>compounded</a:t>
            </a:r>
            <a:r>
              <a:rPr lang="sv-SE" dirty="0"/>
              <a:t> on </a:t>
            </a:r>
            <a:r>
              <a:rPr lang="sv-SE" dirty="0" err="1"/>
              <a:t>top</a:t>
            </a:r>
            <a:r>
              <a:rPr lang="sv-SE" dirty="0"/>
              <a:t> </a:t>
            </a:r>
            <a:r>
              <a:rPr lang="sv-SE" dirty="0" err="1"/>
              <a:t>of</a:t>
            </a:r>
            <a:r>
              <a:rPr lang="sv-SE" dirty="0"/>
              <a:t> </a:t>
            </a:r>
            <a:r>
              <a:rPr lang="sv-SE" dirty="0" err="1"/>
              <a:t>each</a:t>
            </a:r>
            <a:r>
              <a:rPr lang="sv-SE" dirty="0"/>
              <a:t> </a:t>
            </a:r>
            <a:r>
              <a:rPr lang="sv-SE" dirty="0" err="1"/>
              <a:t>other</a:t>
            </a:r>
            <a:r>
              <a:rPr lang="sv-SE" dirty="0"/>
              <a:t>. So </a:t>
            </a:r>
            <a:r>
              <a:rPr lang="sv-SE" dirty="0" err="1"/>
              <a:t>this</a:t>
            </a:r>
            <a:r>
              <a:rPr lang="sv-SE" dirty="0"/>
              <a:t> </a:t>
            </a:r>
            <a:r>
              <a:rPr lang="sv-SE" dirty="0" err="1"/>
              <a:t>model</a:t>
            </a:r>
            <a:r>
              <a:rPr lang="sv-SE" dirty="0"/>
              <a:t> is </a:t>
            </a:r>
            <a:r>
              <a:rPr lang="sv-SE" dirty="0" err="1"/>
              <a:t>actually</a:t>
            </a:r>
            <a:r>
              <a:rPr lang="sv-SE" dirty="0"/>
              <a:t> </a:t>
            </a:r>
            <a:r>
              <a:rPr lang="sv-SE" dirty="0" err="1"/>
              <a:t>surprisingly</a:t>
            </a:r>
            <a:r>
              <a:rPr lang="sv-SE" dirty="0"/>
              <a:t> relevant </a:t>
            </a:r>
            <a:r>
              <a:rPr lang="sv-SE" dirty="0" err="1"/>
              <a:t>even</a:t>
            </a:r>
            <a:r>
              <a:rPr lang="sv-SE" dirty="0"/>
              <a:t> </a:t>
            </a:r>
            <a:r>
              <a:rPr lang="sv-SE" dirty="0" err="1"/>
              <a:t>today</a:t>
            </a:r>
            <a:r>
              <a:rPr lang="sv-SE" dirty="0"/>
              <a:t>.</a:t>
            </a:r>
          </a:p>
        </p:txBody>
      </p:sp>
      <p:sp>
        <p:nvSpPr>
          <p:cNvPr id="4" name="Slide Number Placeholder 3">
            <a:extLst>
              <a:ext uri="{FF2B5EF4-FFF2-40B4-BE49-F238E27FC236}">
                <a16:creationId xmlns:a16="http://schemas.microsoft.com/office/drawing/2014/main" id="{8F205F99-5EDA-DC3B-869D-AF026EFA32C4}"/>
              </a:ext>
            </a:extLst>
          </p:cNvPr>
          <p:cNvSpPr>
            <a:spLocks noGrp="1"/>
          </p:cNvSpPr>
          <p:nvPr>
            <p:ph type="sldNum" sz="quarter" idx="5"/>
          </p:nvPr>
        </p:nvSpPr>
        <p:spPr/>
        <p:txBody>
          <a:bodyPr/>
          <a:lstStyle/>
          <a:p>
            <a:fld id="{3AE5A434-646A-2746-9BDC-885B2382B33E}" type="slidenum">
              <a:rPr lang="sv-SE" smtClean="0"/>
              <a:t>6</a:t>
            </a:fld>
            <a:endParaRPr lang="sv-SE"/>
          </a:p>
        </p:txBody>
      </p:sp>
    </p:spTree>
    <p:extLst>
      <p:ext uri="{BB962C8B-B14F-4D97-AF65-F5344CB8AC3E}">
        <p14:creationId xmlns:p14="http://schemas.microsoft.com/office/powerpoint/2010/main" val="850164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16D54-2DCE-DAB0-AEC4-3B5BC2FA7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58528-FD43-4E4B-7EF4-D3712E2BBCA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CC53F8D-E686-4BAB-194A-21414EFFF8FD}"/>
              </a:ext>
            </a:extLst>
          </p:cNvPr>
          <p:cNvSpPr>
            <a:spLocks noGrp="1"/>
          </p:cNvSpPr>
          <p:nvPr>
            <p:ph type="body" idx="1"/>
          </p:nvPr>
        </p:nvSpPr>
        <p:spPr/>
        <p:txBody>
          <a:bodyPr/>
          <a:lstStyle/>
          <a:p>
            <a:r>
              <a:rPr lang="sv-SE" dirty="0" err="1"/>
              <a:t>This</a:t>
            </a:r>
            <a:r>
              <a:rPr lang="sv-SE" dirty="0"/>
              <a:t> </a:t>
            </a:r>
            <a:r>
              <a:rPr lang="sv-SE" dirty="0" err="1"/>
              <a:t>model</a:t>
            </a:r>
            <a:r>
              <a:rPr lang="sv-SE" dirty="0"/>
              <a:t> </a:t>
            </a:r>
            <a:r>
              <a:rPr lang="sv-SE" dirty="0" err="1"/>
              <a:t>can</a:t>
            </a:r>
            <a:r>
              <a:rPr lang="sv-SE" dirty="0"/>
              <a:t> </a:t>
            </a:r>
            <a:r>
              <a:rPr lang="sv-SE" dirty="0" err="1"/>
              <a:t>very</a:t>
            </a:r>
            <a:r>
              <a:rPr lang="sv-SE" dirty="0"/>
              <a:t> </a:t>
            </a:r>
            <a:r>
              <a:rPr lang="sv-SE" dirty="0" err="1"/>
              <a:t>simply</a:t>
            </a:r>
            <a:r>
              <a:rPr lang="sv-SE" dirty="0"/>
              <a:t> be </a:t>
            </a:r>
            <a:r>
              <a:rPr lang="sv-SE" dirty="0" err="1"/>
              <a:t>written</a:t>
            </a:r>
            <a:r>
              <a:rPr lang="sv-SE" dirty="0"/>
              <a:t> in </a:t>
            </a:r>
            <a:r>
              <a:rPr lang="sv-SE" dirty="0" err="1"/>
              <a:t>Python</a:t>
            </a:r>
            <a:r>
              <a:rPr lang="sv-SE" dirty="0"/>
              <a:t> like </a:t>
            </a:r>
            <a:r>
              <a:rPr lang="sv-SE" dirty="0" err="1"/>
              <a:t>this</a:t>
            </a:r>
            <a:r>
              <a:rPr lang="sv-SE" dirty="0"/>
              <a:t>. </a:t>
            </a:r>
            <a:r>
              <a:rPr lang="sv-SE" dirty="0" err="1"/>
              <a:t>Notice</a:t>
            </a:r>
            <a:r>
              <a:rPr lang="sv-SE" dirty="0"/>
              <a:t> </a:t>
            </a:r>
            <a:r>
              <a:rPr lang="sv-SE" dirty="0" err="1"/>
              <a:t>that</a:t>
            </a:r>
            <a:r>
              <a:rPr lang="sv-SE" dirty="0"/>
              <a:t> the </a:t>
            </a:r>
            <a:r>
              <a:rPr lang="sv-SE" dirty="0" err="1"/>
              <a:t>model</a:t>
            </a:r>
            <a:r>
              <a:rPr lang="sv-SE" dirty="0"/>
              <a:t> </a:t>
            </a:r>
            <a:r>
              <a:rPr lang="sv-SE" dirty="0" err="1"/>
              <a:t>takes</a:t>
            </a:r>
            <a:r>
              <a:rPr lang="sv-SE" dirty="0"/>
              <a:t> the independent </a:t>
            </a:r>
            <a:r>
              <a:rPr lang="sv-SE" dirty="0" err="1"/>
              <a:t>variable</a:t>
            </a:r>
            <a:r>
              <a:rPr lang="sv-SE" dirty="0"/>
              <a:t> as input and </a:t>
            </a:r>
            <a:r>
              <a:rPr lang="sv-SE" dirty="0" err="1"/>
              <a:t>returns</a:t>
            </a:r>
            <a:r>
              <a:rPr lang="sv-SE" dirty="0"/>
              <a:t> the </a:t>
            </a:r>
            <a:r>
              <a:rPr lang="sv-SE" dirty="0" err="1"/>
              <a:t>prediction</a:t>
            </a:r>
            <a:r>
              <a:rPr lang="sv-SE" dirty="0"/>
              <a:t>/</a:t>
            </a:r>
            <a:r>
              <a:rPr lang="sv-SE" dirty="0" err="1"/>
              <a:t>outcome</a:t>
            </a:r>
            <a:r>
              <a:rPr lang="sv-SE" dirty="0"/>
              <a:t> by </a:t>
            </a:r>
            <a:r>
              <a:rPr lang="sv-SE" dirty="0" err="1"/>
              <a:t>using</a:t>
            </a:r>
            <a:r>
              <a:rPr lang="sv-SE" dirty="0"/>
              <a:t> the </a:t>
            </a:r>
            <a:r>
              <a:rPr lang="sv-SE" dirty="0" err="1"/>
              <a:t>tuning</a:t>
            </a:r>
            <a:r>
              <a:rPr lang="sv-SE" dirty="0"/>
              <a:t> parameters.</a:t>
            </a:r>
          </a:p>
        </p:txBody>
      </p:sp>
      <p:sp>
        <p:nvSpPr>
          <p:cNvPr id="4" name="Slide Number Placeholder 3">
            <a:extLst>
              <a:ext uri="{FF2B5EF4-FFF2-40B4-BE49-F238E27FC236}">
                <a16:creationId xmlns:a16="http://schemas.microsoft.com/office/drawing/2014/main" id="{ECD332E4-D2A6-879E-D1DB-14D903228646}"/>
              </a:ext>
            </a:extLst>
          </p:cNvPr>
          <p:cNvSpPr>
            <a:spLocks noGrp="1"/>
          </p:cNvSpPr>
          <p:nvPr>
            <p:ph type="sldNum" sz="quarter" idx="5"/>
          </p:nvPr>
        </p:nvSpPr>
        <p:spPr/>
        <p:txBody>
          <a:bodyPr/>
          <a:lstStyle/>
          <a:p>
            <a:fld id="{3AE5A434-646A-2746-9BDC-885B2382B33E}" type="slidenum">
              <a:rPr lang="sv-SE" smtClean="0"/>
              <a:t>7</a:t>
            </a:fld>
            <a:endParaRPr lang="sv-SE"/>
          </a:p>
        </p:txBody>
      </p:sp>
    </p:spTree>
    <p:extLst>
      <p:ext uri="{BB962C8B-B14F-4D97-AF65-F5344CB8AC3E}">
        <p14:creationId xmlns:p14="http://schemas.microsoft.com/office/powerpoint/2010/main" val="2135013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CE6E6-EDBA-BF56-00BA-0F581B601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2AD3C-45CD-E4DF-EA8D-58741F38F63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AD76D07-EBD8-CBE9-9A88-9C14C382D0B6}"/>
              </a:ext>
            </a:extLst>
          </p:cNvPr>
          <p:cNvSpPr>
            <a:spLocks noGrp="1"/>
          </p:cNvSpPr>
          <p:nvPr>
            <p:ph type="body" idx="1"/>
          </p:nvPr>
        </p:nvSpPr>
        <p:spPr/>
        <p:txBody>
          <a:bodyPr/>
          <a:lstStyle/>
          <a:p>
            <a:r>
              <a:rPr lang="sv-SE" dirty="0"/>
              <a:t>The </a:t>
            </a:r>
            <a:r>
              <a:rPr lang="sv-SE" dirty="0" err="1"/>
              <a:t>model</a:t>
            </a:r>
            <a:r>
              <a:rPr lang="sv-SE" dirty="0"/>
              <a:t> is </a:t>
            </a:r>
            <a:r>
              <a:rPr lang="sv-SE" dirty="0" err="1"/>
              <a:t>usually</a:t>
            </a:r>
            <a:r>
              <a:rPr lang="sv-SE" dirty="0"/>
              <a:t> </a:t>
            </a:r>
            <a:r>
              <a:rPr lang="sv-SE" dirty="0" err="1"/>
              <a:t>plotted</a:t>
            </a:r>
            <a:r>
              <a:rPr lang="sv-SE" dirty="0"/>
              <a:t> </a:t>
            </a:r>
            <a:r>
              <a:rPr lang="sv-SE" dirty="0" err="1"/>
              <a:t>together</a:t>
            </a:r>
            <a:r>
              <a:rPr lang="sv-SE" dirty="0"/>
              <a:t> </a:t>
            </a:r>
            <a:r>
              <a:rPr lang="sv-SE" dirty="0" err="1"/>
              <a:t>with</a:t>
            </a:r>
            <a:r>
              <a:rPr lang="sv-SE" dirty="0"/>
              <a:t> the experimental </a:t>
            </a:r>
            <a:r>
              <a:rPr lang="sv-SE" dirty="0" err="1"/>
              <a:t>dataset</a:t>
            </a:r>
            <a:r>
              <a:rPr lang="sv-SE" dirty="0"/>
              <a:t> it </a:t>
            </a:r>
            <a:r>
              <a:rPr lang="sv-SE" dirty="0" err="1"/>
              <a:t>attempts</a:t>
            </a:r>
            <a:r>
              <a:rPr lang="sv-SE" dirty="0"/>
              <a:t> to </a:t>
            </a:r>
            <a:r>
              <a:rPr lang="sv-SE" dirty="0" err="1"/>
              <a:t>reproduce</a:t>
            </a:r>
            <a:r>
              <a:rPr lang="sv-SE" dirty="0"/>
              <a:t>, like </a:t>
            </a:r>
            <a:r>
              <a:rPr lang="sv-SE" dirty="0" err="1"/>
              <a:t>this</a:t>
            </a:r>
            <a:r>
              <a:rPr lang="sv-SE" dirty="0"/>
              <a:t>. </a:t>
            </a:r>
            <a:r>
              <a:rPr lang="sv-SE" dirty="0" err="1"/>
              <a:t>Here</a:t>
            </a:r>
            <a:r>
              <a:rPr lang="sv-SE" dirty="0"/>
              <a:t>, the </a:t>
            </a:r>
            <a:r>
              <a:rPr lang="sv-SE" dirty="0" err="1"/>
              <a:t>blue</a:t>
            </a:r>
            <a:r>
              <a:rPr lang="sv-SE" dirty="0"/>
              <a:t> </a:t>
            </a:r>
            <a:r>
              <a:rPr lang="sv-SE" dirty="0" err="1"/>
              <a:t>circles</a:t>
            </a:r>
            <a:r>
              <a:rPr lang="sv-SE" dirty="0"/>
              <a:t> </a:t>
            </a:r>
            <a:r>
              <a:rPr lang="sv-SE" dirty="0" err="1"/>
              <a:t>are</a:t>
            </a:r>
            <a:r>
              <a:rPr lang="sv-SE" dirty="0"/>
              <a:t> the </a:t>
            </a:r>
            <a:r>
              <a:rPr lang="sv-SE" dirty="0" err="1"/>
              <a:t>experimentally</a:t>
            </a:r>
            <a:r>
              <a:rPr lang="sv-SE" dirty="0"/>
              <a:t> </a:t>
            </a:r>
            <a:r>
              <a:rPr lang="sv-SE" dirty="0" err="1"/>
              <a:t>observed</a:t>
            </a:r>
            <a:r>
              <a:rPr lang="sv-SE" dirty="0"/>
              <a:t> </a:t>
            </a:r>
            <a:r>
              <a:rPr lang="sv-SE" dirty="0" err="1"/>
              <a:t>values</a:t>
            </a:r>
            <a:r>
              <a:rPr lang="sv-SE" dirty="0"/>
              <a:t>, and the </a:t>
            </a:r>
            <a:r>
              <a:rPr lang="sv-SE" dirty="0" err="1"/>
              <a:t>lines</a:t>
            </a:r>
            <a:r>
              <a:rPr lang="sv-SE" dirty="0"/>
              <a:t> </a:t>
            </a:r>
            <a:r>
              <a:rPr lang="sv-SE" dirty="0" err="1"/>
              <a:t>extending</a:t>
            </a:r>
            <a:r>
              <a:rPr lang="sv-SE" dirty="0"/>
              <a:t> from </a:t>
            </a:r>
            <a:r>
              <a:rPr lang="sv-SE" dirty="0" err="1"/>
              <a:t>that</a:t>
            </a:r>
            <a:r>
              <a:rPr lang="sv-SE" dirty="0"/>
              <a:t> is </a:t>
            </a:r>
            <a:r>
              <a:rPr lang="sv-SE" dirty="0" err="1"/>
              <a:t>their</a:t>
            </a:r>
            <a:r>
              <a:rPr lang="sv-SE" dirty="0"/>
              <a:t> </a:t>
            </a:r>
            <a:r>
              <a:rPr lang="sv-SE" dirty="0" err="1"/>
              <a:t>error</a:t>
            </a:r>
            <a:r>
              <a:rPr lang="sv-SE" dirty="0"/>
              <a:t> bars. </a:t>
            </a:r>
          </a:p>
          <a:p>
            <a:r>
              <a:rPr lang="sv-SE" dirty="0"/>
              <a:t>The </a:t>
            </a:r>
            <a:r>
              <a:rPr lang="sv-SE" dirty="0" err="1"/>
              <a:t>error</a:t>
            </a:r>
            <a:r>
              <a:rPr lang="sv-SE" dirty="0"/>
              <a:t> bars </a:t>
            </a:r>
            <a:r>
              <a:rPr lang="sv-SE" dirty="0" err="1"/>
              <a:t>reflect</a:t>
            </a:r>
            <a:r>
              <a:rPr lang="sv-SE" dirty="0"/>
              <a:t> the </a:t>
            </a:r>
            <a:r>
              <a:rPr lang="sv-SE" dirty="0" err="1"/>
              <a:t>uncertainty</a:t>
            </a:r>
            <a:r>
              <a:rPr lang="sv-SE" dirty="0"/>
              <a:t> </a:t>
            </a:r>
            <a:r>
              <a:rPr lang="sv-SE" dirty="0" err="1"/>
              <a:t>of</a:t>
            </a:r>
            <a:r>
              <a:rPr lang="sv-SE" dirty="0"/>
              <a:t> </a:t>
            </a:r>
            <a:r>
              <a:rPr lang="sv-SE" dirty="0" err="1"/>
              <a:t>our</a:t>
            </a:r>
            <a:r>
              <a:rPr lang="sv-SE" dirty="0"/>
              <a:t> </a:t>
            </a:r>
            <a:r>
              <a:rPr lang="sv-SE" dirty="0" err="1"/>
              <a:t>measurements</a:t>
            </a:r>
            <a:r>
              <a:rPr lang="sv-SE" dirty="0"/>
              <a:t>. </a:t>
            </a:r>
            <a:r>
              <a:rPr lang="sv-SE" dirty="0" err="1"/>
              <a:t>Uncertainty</a:t>
            </a:r>
            <a:r>
              <a:rPr lang="sv-SE" dirty="0"/>
              <a:t> is not </a:t>
            </a:r>
            <a:r>
              <a:rPr lang="sv-SE" dirty="0" err="1"/>
              <a:t>always</a:t>
            </a:r>
            <a:r>
              <a:rPr lang="sv-SE" dirty="0"/>
              <a:t> </a:t>
            </a:r>
            <a:r>
              <a:rPr lang="sv-SE" dirty="0" err="1"/>
              <a:t>considered</a:t>
            </a:r>
            <a:r>
              <a:rPr lang="sv-SE" dirty="0"/>
              <a:t>, so </a:t>
            </a:r>
            <a:r>
              <a:rPr lang="sv-SE" dirty="0" err="1"/>
              <a:t>you</a:t>
            </a:r>
            <a:r>
              <a:rPr lang="sv-SE" dirty="0"/>
              <a:t> </a:t>
            </a:r>
            <a:r>
              <a:rPr lang="sv-SE" dirty="0" err="1"/>
              <a:t>may</a:t>
            </a:r>
            <a:r>
              <a:rPr lang="sv-SE" dirty="0"/>
              <a:t> </a:t>
            </a:r>
            <a:r>
              <a:rPr lang="sv-SE" dirty="0" err="1"/>
              <a:t>have</a:t>
            </a:r>
            <a:r>
              <a:rPr lang="sv-SE" dirty="0"/>
              <a:t> </a:t>
            </a:r>
            <a:r>
              <a:rPr lang="sv-SE" dirty="0" err="1"/>
              <a:t>seen</a:t>
            </a:r>
            <a:r>
              <a:rPr lang="sv-SE" dirty="0"/>
              <a:t> </a:t>
            </a:r>
            <a:r>
              <a:rPr lang="sv-SE" dirty="0" err="1"/>
              <a:t>plots</a:t>
            </a:r>
            <a:r>
              <a:rPr lang="sv-SE" dirty="0"/>
              <a:t> </a:t>
            </a:r>
            <a:r>
              <a:rPr lang="sv-SE" dirty="0" err="1"/>
              <a:t>without</a:t>
            </a:r>
            <a:r>
              <a:rPr lang="sv-SE" dirty="0"/>
              <a:t> </a:t>
            </a:r>
            <a:r>
              <a:rPr lang="sv-SE" dirty="0" err="1"/>
              <a:t>them</a:t>
            </a:r>
            <a:r>
              <a:rPr lang="sv-SE" dirty="0"/>
              <a:t>, </a:t>
            </a:r>
            <a:r>
              <a:rPr lang="sv-SE" dirty="0" err="1"/>
              <a:t>but</a:t>
            </a:r>
            <a:r>
              <a:rPr lang="sv-SE" dirty="0"/>
              <a:t> </a:t>
            </a:r>
            <a:r>
              <a:rPr lang="sv-SE" dirty="0" err="1"/>
              <a:t>that</a:t>
            </a:r>
            <a:r>
              <a:rPr lang="sv-SE" dirty="0"/>
              <a:t> </a:t>
            </a:r>
            <a:r>
              <a:rPr lang="sv-SE" dirty="0" err="1"/>
              <a:t>doesn’t</a:t>
            </a:r>
            <a:r>
              <a:rPr lang="sv-SE" dirty="0"/>
              <a:t> </a:t>
            </a:r>
            <a:r>
              <a:rPr lang="sv-SE" dirty="0" err="1"/>
              <a:t>mean</a:t>
            </a:r>
            <a:r>
              <a:rPr lang="sv-SE" dirty="0"/>
              <a:t> </a:t>
            </a:r>
            <a:r>
              <a:rPr lang="sv-SE" dirty="0" err="1"/>
              <a:t>that</a:t>
            </a:r>
            <a:r>
              <a:rPr lang="sv-SE" dirty="0"/>
              <a:t> </a:t>
            </a:r>
            <a:r>
              <a:rPr lang="sv-SE" dirty="0" err="1"/>
              <a:t>there</a:t>
            </a:r>
            <a:r>
              <a:rPr lang="sv-SE" dirty="0"/>
              <a:t> is no </a:t>
            </a:r>
            <a:r>
              <a:rPr lang="sv-SE" dirty="0" err="1"/>
              <a:t>uncertainty</a:t>
            </a:r>
            <a:r>
              <a:rPr lang="sv-SE" dirty="0"/>
              <a:t> in </a:t>
            </a:r>
            <a:r>
              <a:rPr lang="sv-SE" dirty="0" err="1"/>
              <a:t>those</a:t>
            </a:r>
            <a:r>
              <a:rPr lang="sv-SE" dirty="0"/>
              <a:t> </a:t>
            </a:r>
            <a:r>
              <a:rPr lang="sv-SE" dirty="0" err="1"/>
              <a:t>measurements</a:t>
            </a:r>
            <a:r>
              <a:rPr lang="sv-SE" dirty="0"/>
              <a:t>, </a:t>
            </a:r>
            <a:r>
              <a:rPr lang="sv-SE" dirty="0" err="1"/>
              <a:t>merely</a:t>
            </a:r>
            <a:r>
              <a:rPr lang="sv-SE" dirty="0"/>
              <a:t> </a:t>
            </a:r>
            <a:r>
              <a:rPr lang="sv-SE" dirty="0" err="1"/>
              <a:t>that</a:t>
            </a:r>
            <a:r>
              <a:rPr lang="sv-SE" dirty="0"/>
              <a:t> </a:t>
            </a:r>
            <a:r>
              <a:rPr lang="sv-SE" dirty="0" err="1"/>
              <a:t>uncertainty</a:t>
            </a:r>
            <a:r>
              <a:rPr lang="sv-SE" dirty="0"/>
              <a:t> </a:t>
            </a:r>
            <a:r>
              <a:rPr lang="sv-SE" dirty="0" err="1"/>
              <a:t>wasn’t</a:t>
            </a:r>
            <a:r>
              <a:rPr lang="sv-SE" dirty="0"/>
              <a:t> </a:t>
            </a:r>
            <a:r>
              <a:rPr lang="sv-SE" dirty="0" err="1"/>
              <a:t>even</a:t>
            </a:r>
            <a:r>
              <a:rPr lang="sv-SE" dirty="0"/>
              <a:t> taken </a:t>
            </a:r>
            <a:r>
              <a:rPr lang="sv-SE" dirty="0" err="1"/>
              <a:t>into</a:t>
            </a:r>
            <a:r>
              <a:rPr lang="sv-SE" dirty="0"/>
              <a:t> </a:t>
            </a:r>
            <a:r>
              <a:rPr lang="sv-SE" dirty="0" err="1"/>
              <a:t>consideration</a:t>
            </a:r>
            <a:r>
              <a:rPr lang="sv-SE" dirty="0"/>
              <a:t>.</a:t>
            </a:r>
          </a:p>
          <a:p>
            <a:r>
              <a:rPr lang="sv-SE" dirty="0" err="1"/>
              <a:t>How</a:t>
            </a:r>
            <a:r>
              <a:rPr lang="sv-SE" dirty="0"/>
              <a:t> </a:t>
            </a:r>
            <a:r>
              <a:rPr lang="sv-SE" dirty="0" err="1"/>
              <a:t>can</a:t>
            </a:r>
            <a:r>
              <a:rPr lang="sv-SE" dirty="0"/>
              <a:t> I </a:t>
            </a:r>
            <a:r>
              <a:rPr lang="sv-SE" dirty="0" err="1"/>
              <a:t>say</a:t>
            </a:r>
            <a:r>
              <a:rPr lang="sv-SE" dirty="0"/>
              <a:t> </a:t>
            </a:r>
            <a:r>
              <a:rPr lang="sv-SE" dirty="0" err="1"/>
              <a:t>that</a:t>
            </a:r>
            <a:r>
              <a:rPr lang="sv-SE" dirty="0"/>
              <a:t> so </a:t>
            </a:r>
            <a:r>
              <a:rPr lang="sv-SE" dirty="0" err="1"/>
              <a:t>confidently</a:t>
            </a:r>
            <a:r>
              <a:rPr lang="sv-SE" dirty="0"/>
              <a:t>? </a:t>
            </a:r>
            <a:r>
              <a:rPr lang="sv-SE" dirty="0" err="1"/>
              <a:t>Because</a:t>
            </a:r>
            <a:r>
              <a:rPr lang="sv-SE" dirty="0"/>
              <a:t> </a:t>
            </a:r>
            <a:r>
              <a:rPr lang="sv-SE" dirty="0" err="1"/>
              <a:t>there</a:t>
            </a:r>
            <a:r>
              <a:rPr lang="sv-SE" dirty="0"/>
              <a:t> is no </a:t>
            </a:r>
            <a:r>
              <a:rPr lang="sv-SE" dirty="0" err="1"/>
              <a:t>such</a:t>
            </a:r>
            <a:r>
              <a:rPr lang="sv-SE" dirty="0"/>
              <a:t> </a:t>
            </a:r>
            <a:r>
              <a:rPr lang="sv-SE" dirty="0" err="1"/>
              <a:t>thing</a:t>
            </a:r>
            <a:r>
              <a:rPr lang="sv-SE" dirty="0"/>
              <a:t> as a </a:t>
            </a:r>
            <a:r>
              <a:rPr lang="sv-SE" dirty="0" err="1"/>
              <a:t>perfect</a:t>
            </a:r>
            <a:r>
              <a:rPr lang="sv-SE" dirty="0"/>
              <a:t> </a:t>
            </a:r>
            <a:r>
              <a:rPr lang="sv-SE" dirty="0" err="1"/>
              <a:t>measurement</a:t>
            </a:r>
            <a:r>
              <a:rPr lang="sv-SE" dirty="0"/>
              <a:t>.</a:t>
            </a:r>
          </a:p>
        </p:txBody>
      </p:sp>
      <p:sp>
        <p:nvSpPr>
          <p:cNvPr id="4" name="Slide Number Placeholder 3">
            <a:extLst>
              <a:ext uri="{FF2B5EF4-FFF2-40B4-BE49-F238E27FC236}">
                <a16:creationId xmlns:a16="http://schemas.microsoft.com/office/drawing/2014/main" id="{9CA518E4-FDBA-96BA-F9B5-C9E3C290131D}"/>
              </a:ext>
            </a:extLst>
          </p:cNvPr>
          <p:cNvSpPr>
            <a:spLocks noGrp="1"/>
          </p:cNvSpPr>
          <p:nvPr>
            <p:ph type="sldNum" sz="quarter" idx="5"/>
          </p:nvPr>
        </p:nvSpPr>
        <p:spPr/>
        <p:txBody>
          <a:bodyPr/>
          <a:lstStyle/>
          <a:p>
            <a:fld id="{3AE5A434-646A-2746-9BDC-885B2382B33E}" type="slidenum">
              <a:rPr lang="sv-SE" smtClean="0"/>
              <a:t>8</a:t>
            </a:fld>
            <a:endParaRPr lang="sv-SE"/>
          </a:p>
        </p:txBody>
      </p:sp>
    </p:spTree>
    <p:extLst>
      <p:ext uri="{BB962C8B-B14F-4D97-AF65-F5344CB8AC3E}">
        <p14:creationId xmlns:p14="http://schemas.microsoft.com/office/powerpoint/2010/main" val="2917173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29CF6-B4F0-2797-EFB5-B3AC4412D8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B4291-BB16-705B-13B0-EA97CBCFF31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41B95BF-9D3D-793B-389C-13A769101936}"/>
              </a:ext>
            </a:extLst>
          </p:cNvPr>
          <p:cNvSpPr>
            <a:spLocks noGrp="1"/>
          </p:cNvSpPr>
          <p:nvPr>
            <p:ph type="body" idx="1"/>
          </p:nvPr>
        </p:nvSpPr>
        <p:spPr/>
        <p:txBody>
          <a:bodyPr/>
          <a:lstStyle/>
          <a:p>
            <a:r>
              <a:rPr lang="sv-SE" dirty="0"/>
              <a:t>To </a:t>
            </a:r>
            <a:r>
              <a:rPr lang="sv-SE" dirty="0" err="1"/>
              <a:t>see</a:t>
            </a:r>
            <a:r>
              <a:rPr lang="sv-SE" dirty="0"/>
              <a:t> </a:t>
            </a:r>
            <a:r>
              <a:rPr lang="sv-SE" dirty="0" err="1"/>
              <a:t>what</a:t>
            </a:r>
            <a:r>
              <a:rPr lang="sv-SE" dirty="0"/>
              <a:t> I </a:t>
            </a:r>
            <a:r>
              <a:rPr lang="sv-SE" dirty="0" err="1"/>
              <a:t>mean</a:t>
            </a:r>
            <a:r>
              <a:rPr lang="sv-SE" dirty="0"/>
              <a:t>, </a:t>
            </a:r>
            <a:r>
              <a:rPr lang="sv-SE" dirty="0" err="1"/>
              <a:t>if</a:t>
            </a:r>
            <a:r>
              <a:rPr lang="sv-SE" dirty="0"/>
              <a:t> </a:t>
            </a:r>
            <a:r>
              <a:rPr lang="sv-SE" dirty="0" err="1"/>
              <a:t>you</a:t>
            </a:r>
            <a:r>
              <a:rPr lang="sv-SE" dirty="0"/>
              <a:t> </a:t>
            </a:r>
            <a:r>
              <a:rPr lang="sv-SE" dirty="0" err="1"/>
              <a:t>imagine</a:t>
            </a:r>
            <a:r>
              <a:rPr lang="sv-SE" dirty="0"/>
              <a:t> </a:t>
            </a:r>
            <a:r>
              <a:rPr lang="sv-SE" dirty="0" err="1"/>
              <a:t>measuring</a:t>
            </a:r>
            <a:r>
              <a:rPr lang="sv-SE" dirty="0"/>
              <a:t> </a:t>
            </a:r>
            <a:r>
              <a:rPr lang="sv-SE" dirty="0" err="1"/>
              <a:t>some</a:t>
            </a:r>
            <a:r>
              <a:rPr lang="sv-SE" dirty="0"/>
              <a:t> </a:t>
            </a:r>
            <a:r>
              <a:rPr lang="sv-SE" dirty="0" err="1"/>
              <a:t>distance</a:t>
            </a:r>
            <a:r>
              <a:rPr lang="sv-SE" dirty="0"/>
              <a:t> </a:t>
            </a:r>
            <a:r>
              <a:rPr lang="sv-SE" dirty="0" err="1"/>
              <a:t>with</a:t>
            </a:r>
            <a:r>
              <a:rPr lang="sv-SE" dirty="0"/>
              <a:t> a </a:t>
            </a:r>
            <a:r>
              <a:rPr lang="sv-SE" dirty="0" err="1"/>
              <a:t>ruler</a:t>
            </a:r>
            <a:r>
              <a:rPr lang="sv-SE" dirty="0"/>
              <a:t>. With </a:t>
            </a:r>
            <a:r>
              <a:rPr lang="sv-SE" dirty="0" err="1"/>
              <a:t>your</a:t>
            </a:r>
            <a:r>
              <a:rPr lang="sv-SE" dirty="0"/>
              <a:t> </a:t>
            </a:r>
            <a:r>
              <a:rPr lang="sv-SE" dirty="0" err="1"/>
              <a:t>eye</a:t>
            </a:r>
            <a:r>
              <a:rPr lang="sv-SE" dirty="0"/>
              <a:t> </a:t>
            </a:r>
            <a:r>
              <a:rPr lang="sv-SE" dirty="0" err="1"/>
              <a:t>you</a:t>
            </a:r>
            <a:r>
              <a:rPr lang="sv-SE" dirty="0"/>
              <a:t> </a:t>
            </a:r>
            <a:r>
              <a:rPr lang="sv-SE" dirty="0" err="1"/>
              <a:t>determine</a:t>
            </a:r>
            <a:r>
              <a:rPr lang="sv-SE" dirty="0"/>
              <a:t> the </a:t>
            </a:r>
            <a:r>
              <a:rPr lang="sv-SE" dirty="0" err="1"/>
              <a:t>length</a:t>
            </a:r>
            <a:r>
              <a:rPr lang="sv-SE" dirty="0"/>
              <a:t> to be 6.5 cm, </a:t>
            </a:r>
            <a:r>
              <a:rPr lang="sv-SE" dirty="0" err="1"/>
              <a:t>but</a:t>
            </a:r>
            <a:r>
              <a:rPr lang="sv-SE" dirty="0"/>
              <a:t> is it </a:t>
            </a:r>
            <a:r>
              <a:rPr lang="sv-SE" dirty="0" err="1"/>
              <a:t>really</a:t>
            </a:r>
            <a:r>
              <a:rPr lang="sv-SE" dirty="0"/>
              <a:t> 6.5 cm? Or is it 6.49? 6.51? </a:t>
            </a:r>
            <a:r>
              <a:rPr lang="sv-SE" dirty="0" err="1"/>
              <a:t>How</a:t>
            </a:r>
            <a:r>
              <a:rPr lang="sv-SE" dirty="0"/>
              <a:t> </a:t>
            </a:r>
            <a:r>
              <a:rPr lang="sv-SE" dirty="0" err="1"/>
              <a:t>about</a:t>
            </a:r>
            <a:r>
              <a:rPr lang="sv-SE" dirty="0"/>
              <a:t> 6.503? </a:t>
            </a:r>
          </a:p>
          <a:p>
            <a:r>
              <a:rPr lang="sv-SE" dirty="0"/>
              <a:t>No </a:t>
            </a:r>
            <a:r>
              <a:rPr lang="sv-SE" dirty="0" err="1"/>
              <a:t>matter</a:t>
            </a:r>
            <a:r>
              <a:rPr lang="sv-SE" dirty="0"/>
              <a:t> </a:t>
            </a:r>
            <a:r>
              <a:rPr lang="sv-SE" dirty="0" err="1"/>
              <a:t>how</a:t>
            </a:r>
            <a:r>
              <a:rPr lang="sv-SE" dirty="0"/>
              <a:t> </a:t>
            </a:r>
            <a:r>
              <a:rPr lang="sv-SE" dirty="0" err="1"/>
              <a:t>much</a:t>
            </a:r>
            <a:r>
              <a:rPr lang="sv-SE" dirty="0"/>
              <a:t> </a:t>
            </a:r>
            <a:r>
              <a:rPr lang="sv-SE" dirty="0" err="1"/>
              <a:t>you</a:t>
            </a:r>
            <a:r>
              <a:rPr lang="sv-SE" dirty="0"/>
              <a:t> zoom in or </a:t>
            </a:r>
            <a:r>
              <a:rPr lang="sv-SE" dirty="0" err="1"/>
              <a:t>how</a:t>
            </a:r>
            <a:r>
              <a:rPr lang="sv-SE" dirty="0"/>
              <a:t> precise a </a:t>
            </a:r>
            <a:r>
              <a:rPr lang="sv-SE" dirty="0" err="1"/>
              <a:t>microscope</a:t>
            </a:r>
            <a:r>
              <a:rPr lang="sv-SE" dirty="0"/>
              <a:t> </a:t>
            </a:r>
            <a:r>
              <a:rPr lang="sv-SE" dirty="0" err="1"/>
              <a:t>you</a:t>
            </a:r>
            <a:r>
              <a:rPr lang="sv-SE" dirty="0"/>
              <a:t> </a:t>
            </a:r>
            <a:r>
              <a:rPr lang="sv-SE" dirty="0" err="1"/>
              <a:t>use</a:t>
            </a:r>
            <a:r>
              <a:rPr lang="sv-SE" dirty="0"/>
              <a:t>, </a:t>
            </a:r>
            <a:r>
              <a:rPr lang="sv-SE" dirty="0" err="1"/>
              <a:t>there</a:t>
            </a:r>
            <a:r>
              <a:rPr lang="sv-SE" dirty="0"/>
              <a:t> </a:t>
            </a:r>
            <a:r>
              <a:rPr lang="sv-SE" dirty="0" err="1"/>
              <a:t>will</a:t>
            </a:r>
            <a:r>
              <a:rPr lang="sv-SE" dirty="0"/>
              <a:t> </a:t>
            </a:r>
            <a:r>
              <a:rPr lang="sv-SE" dirty="0" err="1"/>
              <a:t>always</a:t>
            </a:r>
            <a:r>
              <a:rPr lang="sv-SE" dirty="0"/>
              <a:t> be </a:t>
            </a:r>
            <a:r>
              <a:rPr lang="sv-SE" dirty="0" err="1"/>
              <a:t>another</a:t>
            </a:r>
            <a:r>
              <a:rPr lang="sv-SE" dirty="0"/>
              <a:t> </a:t>
            </a:r>
            <a:r>
              <a:rPr lang="sv-SE" dirty="0" err="1"/>
              <a:t>digit</a:t>
            </a:r>
            <a:r>
              <a:rPr lang="sv-SE" dirty="0"/>
              <a:t> </a:t>
            </a:r>
            <a:r>
              <a:rPr lang="sv-SE" dirty="0" err="1"/>
              <a:t>that</a:t>
            </a:r>
            <a:r>
              <a:rPr lang="sv-SE" dirty="0"/>
              <a:t> </a:t>
            </a:r>
            <a:r>
              <a:rPr lang="sv-SE" dirty="0" err="1"/>
              <a:t>you</a:t>
            </a:r>
            <a:r>
              <a:rPr lang="sv-SE" dirty="0"/>
              <a:t> </a:t>
            </a:r>
            <a:r>
              <a:rPr lang="sv-SE" dirty="0" err="1"/>
              <a:t>can’t</a:t>
            </a:r>
            <a:r>
              <a:rPr lang="sv-SE" dirty="0"/>
              <a:t> </a:t>
            </a:r>
            <a:r>
              <a:rPr lang="sv-SE" dirty="0" err="1"/>
              <a:t>estimate</a:t>
            </a:r>
            <a:r>
              <a:rPr lang="sv-SE" dirty="0"/>
              <a:t> for </a:t>
            </a:r>
            <a:r>
              <a:rPr lang="sv-SE" dirty="0" err="1"/>
              <a:t>certain</a:t>
            </a:r>
            <a:r>
              <a:rPr lang="sv-SE" dirty="0"/>
              <a:t>. </a:t>
            </a:r>
            <a:r>
              <a:rPr lang="sv-SE" dirty="0" err="1"/>
              <a:t>This</a:t>
            </a:r>
            <a:r>
              <a:rPr lang="sv-SE" dirty="0"/>
              <a:t> is the </a:t>
            </a:r>
            <a:r>
              <a:rPr lang="sv-SE" dirty="0" err="1"/>
              <a:t>uncertainty</a:t>
            </a:r>
            <a:r>
              <a:rPr lang="sv-SE" dirty="0"/>
              <a:t> </a:t>
            </a:r>
            <a:r>
              <a:rPr lang="sv-SE" dirty="0" err="1"/>
              <a:t>of</a:t>
            </a:r>
            <a:r>
              <a:rPr lang="sv-SE" dirty="0"/>
              <a:t> </a:t>
            </a:r>
            <a:r>
              <a:rPr lang="sv-SE" dirty="0" err="1"/>
              <a:t>your</a:t>
            </a:r>
            <a:r>
              <a:rPr lang="sv-SE" dirty="0"/>
              <a:t> </a:t>
            </a:r>
            <a:r>
              <a:rPr lang="sv-SE" dirty="0" err="1"/>
              <a:t>measurement</a:t>
            </a:r>
            <a:r>
              <a:rPr lang="sv-SE" dirty="0"/>
              <a:t>. </a:t>
            </a:r>
          </a:p>
          <a:p>
            <a:r>
              <a:rPr lang="sv-SE" dirty="0"/>
              <a:t>The same </a:t>
            </a:r>
            <a:r>
              <a:rPr lang="sv-SE" dirty="0" err="1"/>
              <a:t>applies</a:t>
            </a:r>
            <a:r>
              <a:rPr lang="sv-SE" dirty="0"/>
              <a:t> to digital </a:t>
            </a:r>
            <a:r>
              <a:rPr lang="sv-SE" dirty="0" err="1"/>
              <a:t>measurements</a:t>
            </a:r>
            <a:r>
              <a:rPr lang="sv-SE" dirty="0"/>
              <a:t> </a:t>
            </a:r>
            <a:r>
              <a:rPr lang="sv-SE" dirty="0" err="1"/>
              <a:t>where</a:t>
            </a:r>
            <a:r>
              <a:rPr lang="sv-SE" dirty="0"/>
              <a:t> the </a:t>
            </a:r>
            <a:r>
              <a:rPr lang="sv-SE" dirty="0" err="1"/>
              <a:t>electronics</a:t>
            </a:r>
            <a:r>
              <a:rPr lang="sv-SE" dirty="0"/>
              <a:t> </a:t>
            </a:r>
            <a:r>
              <a:rPr lang="sv-SE" dirty="0" err="1"/>
              <a:t>have</a:t>
            </a:r>
            <a:r>
              <a:rPr lang="sv-SE" dirty="0"/>
              <a:t> a </a:t>
            </a:r>
            <a:r>
              <a:rPr lang="sv-SE" dirty="0" err="1"/>
              <a:t>certain</a:t>
            </a:r>
            <a:r>
              <a:rPr lang="sv-SE" dirty="0"/>
              <a:t> absolute precision.</a:t>
            </a:r>
          </a:p>
        </p:txBody>
      </p:sp>
      <p:sp>
        <p:nvSpPr>
          <p:cNvPr id="4" name="Slide Number Placeholder 3">
            <a:extLst>
              <a:ext uri="{FF2B5EF4-FFF2-40B4-BE49-F238E27FC236}">
                <a16:creationId xmlns:a16="http://schemas.microsoft.com/office/drawing/2014/main" id="{4647A379-898B-9C27-53AA-4E0CECD4E3AD}"/>
              </a:ext>
            </a:extLst>
          </p:cNvPr>
          <p:cNvSpPr>
            <a:spLocks noGrp="1"/>
          </p:cNvSpPr>
          <p:nvPr>
            <p:ph type="sldNum" sz="quarter" idx="5"/>
          </p:nvPr>
        </p:nvSpPr>
        <p:spPr/>
        <p:txBody>
          <a:bodyPr/>
          <a:lstStyle/>
          <a:p>
            <a:fld id="{3AE5A434-646A-2746-9BDC-885B2382B33E}" type="slidenum">
              <a:rPr lang="sv-SE" smtClean="0"/>
              <a:t>9</a:t>
            </a:fld>
            <a:endParaRPr lang="sv-SE"/>
          </a:p>
        </p:txBody>
      </p:sp>
    </p:spTree>
    <p:extLst>
      <p:ext uri="{BB962C8B-B14F-4D97-AF65-F5344CB8AC3E}">
        <p14:creationId xmlns:p14="http://schemas.microsoft.com/office/powerpoint/2010/main" val="3581528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01E24-399E-F42C-9A8B-A21FFD050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954D9-3546-0297-C62E-FA2D239A22A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A5E4DAF-3BD6-A92A-1624-E8F317F828B7}"/>
              </a:ext>
            </a:extLst>
          </p:cNvPr>
          <p:cNvSpPr>
            <a:spLocks noGrp="1"/>
          </p:cNvSpPr>
          <p:nvPr>
            <p:ph type="body" idx="1"/>
          </p:nvPr>
        </p:nvSpPr>
        <p:spPr/>
        <p:txBody>
          <a:bodyPr/>
          <a:lstStyle/>
          <a:p>
            <a:r>
              <a:rPr lang="sv-SE" dirty="0" err="1"/>
              <a:t>We</a:t>
            </a:r>
            <a:r>
              <a:rPr lang="sv-SE" dirty="0"/>
              <a:t> </a:t>
            </a:r>
            <a:r>
              <a:rPr lang="sv-SE" dirty="0" err="1"/>
              <a:t>denote</a:t>
            </a:r>
            <a:r>
              <a:rPr lang="sv-SE" dirty="0"/>
              <a:t> </a:t>
            </a:r>
            <a:r>
              <a:rPr lang="sv-SE" dirty="0" err="1"/>
              <a:t>uncertainty</a:t>
            </a:r>
            <a:r>
              <a:rPr lang="sv-SE" dirty="0"/>
              <a:t> in a </a:t>
            </a:r>
            <a:r>
              <a:rPr lang="sv-SE" dirty="0" err="1"/>
              <a:t>number</a:t>
            </a:r>
            <a:r>
              <a:rPr lang="sv-SE" dirty="0"/>
              <a:t> by </a:t>
            </a:r>
            <a:r>
              <a:rPr lang="sv-SE" dirty="0" err="1"/>
              <a:t>writing</a:t>
            </a:r>
            <a:r>
              <a:rPr lang="sv-SE" dirty="0"/>
              <a:t> it in </a:t>
            </a:r>
            <a:r>
              <a:rPr lang="sv-SE" dirty="0" err="1"/>
              <a:t>this</a:t>
            </a:r>
            <a:r>
              <a:rPr lang="sv-SE" dirty="0"/>
              <a:t> form, </a:t>
            </a:r>
            <a:r>
              <a:rPr lang="sv-SE" dirty="0" err="1"/>
              <a:t>where</a:t>
            </a:r>
            <a:r>
              <a:rPr lang="sv-SE" dirty="0"/>
              <a:t> mu is </a:t>
            </a:r>
            <a:r>
              <a:rPr lang="sv-SE" dirty="0" err="1"/>
              <a:t>our</a:t>
            </a:r>
            <a:r>
              <a:rPr lang="sv-SE" dirty="0"/>
              <a:t> best </a:t>
            </a:r>
            <a:r>
              <a:rPr lang="sv-SE" dirty="0" err="1"/>
              <a:t>guess</a:t>
            </a:r>
            <a:r>
              <a:rPr lang="sv-SE" dirty="0"/>
              <a:t> </a:t>
            </a:r>
            <a:r>
              <a:rPr lang="sv-SE" dirty="0" err="1"/>
              <a:t>of</a:t>
            </a:r>
            <a:r>
              <a:rPr lang="sv-SE" dirty="0"/>
              <a:t> the </a:t>
            </a:r>
            <a:r>
              <a:rPr lang="sv-SE" dirty="0" err="1"/>
              <a:t>actual</a:t>
            </a:r>
            <a:r>
              <a:rPr lang="sv-SE" dirty="0"/>
              <a:t> </a:t>
            </a:r>
            <a:r>
              <a:rPr lang="sv-SE" dirty="0" err="1"/>
              <a:t>value</a:t>
            </a:r>
            <a:r>
              <a:rPr lang="sv-SE" dirty="0"/>
              <a:t>, and sigma is </a:t>
            </a:r>
            <a:r>
              <a:rPr lang="sv-SE" dirty="0" err="1"/>
              <a:t>our</a:t>
            </a:r>
            <a:r>
              <a:rPr lang="sv-SE" dirty="0"/>
              <a:t> </a:t>
            </a:r>
            <a:r>
              <a:rPr lang="sv-SE" dirty="0" err="1"/>
              <a:t>uncertainty</a:t>
            </a:r>
            <a:r>
              <a:rPr lang="sv-SE" dirty="0"/>
              <a:t>. </a:t>
            </a:r>
          </a:p>
          <a:p>
            <a:r>
              <a:rPr lang="sv-SE" dirty="0"/>
              <a:t>In the case </a:t>
            </a:r>
            <a:r>
              <a:rPr lang="sv-SE" dirty="0" err="1"/>
              <a:t>of</a:t>
            </a:r>
            <a:r>
              <a:rPr lang="sv-SE" dirty="0"/>
              <a:t> the </a:t>
            </a:r>
            <a:r>
              <a:rPr lang="sv-SE" dirty="0" err="1"/>
              <a:t>ruler</a:t>
            </a:r>
            <a:r>
              <a:rPr lang="sv-SE" dirty="0"/>
              <a:t> </a:t>
            </a:r>
            <a:r>
              <a:rPr lang="sv-SE" dirty="0" err="1"/>
              <a:t>measurement</a:t>
            </a:r>
            <a:r>
              <a:rPr lang="sv-SE" dirty="0"/>
              <a:t>, </a:t>
            </a:r>
            <a:r>
              <a:rPr lang="sv-SE" dirty="0" err="1"/>
              <a:t>we</a:t>
            </a:r>
            <a:r>
              <a:rPr lang="sv-SE" dirty="0"/>
              <a:t> </a:t>
            </a:r>
            <a:r>
              <a:rPr lang="sv-SE" dirty="0" err="1"/>
              <a:t>might</a:t>
            </a:r>
            <a:r>
              <a:rPr lang="sv-SE" dirty="0"/>
              <a:t> </a:t>
            </a:r>
            <a:r>
              <a:rPr lang="sv-SE" dirty="0" err="1"/>
              <a:t>say</a:t>
            </a:r>
            <a:r>
              <a:rPr lang="sv-SE" dirty="0"/>
              <a:t> </a:t>
            </a:r>
            <a:r>
              <a:rPr lang="sv-SE" dirty="0" err="1"/>
              <a:t>that</a:t>
            </a:r>
            <a:r>
              <a:rPr lang="sv-SE" dirty="0"/>
              <a:t> </a:t>
            </a:r>
            <a:r>
              <a:rPr lang="sv-SE" dirty="0" err="1"/>
              <a:t>our</a:t>
            </a:r>
            <a:r>
              <a:rPr lang="sv-SE" dirty="0"/>
              <a:t> best </a:t>
            </a:r>
            <a:r>
              <a:rPr lang="sv-SE" b="1" dirty="0" err="1"/>
              <a:t>guess</a:t>
            </a:r>
            <a:r>
              <a:rPr lang="sv-SE" b="0" dirty="0"/>
              <a:t> is 6.5 cm, and </a:t>
            </a:r>
            <a:r>
              <a:rPr lang="sv-SE" b="0" dirty="0" err="1"/>
              <a:t>we</a:t>
            </a:r>
            <a:r>
              <a:rPr lang="sv-SE" b="0" dirty="0"/>
              <a:t> </a:t>
            </a:r>
            <a:r>
              <a:rPr lang="sv-SE" b="1" dirty="0" err="1"/>
              <a:t>know</a:t>
            </a:r>
            <a:r>
              <a:rPr lang="sv-SE" b="0" dirty="0"/>
              <a:t> it is </a:t>
            </a:r>
            <a:r>
              <a:rPr lang="sv-SE" b="0" dirty="0" err="1"/>
              <a:t>within</a:t>
            </a:r>
            <a:r>
              <a:rPr lang="sv-SE" b="0" dirty="0"/>
              <a:t> 0.01cm </a:t>
            </a:r>
            <a:r>
              <a:rPr lang="sv-SE" b="0" dirty="0" err="1"/>
              <a:t>of</a:t>
            </a:r>
            <a:r>
              <a:rPr lang="sv-SE" b="0" dirty="0"/>
              <a:t> </a:t>
            </a:r>
            <a:r>
              <a:rPr lang="sv-SE" b="0" dirty="0" err="1"/>
              <a:t>that</a:t>
            </a:r>
            <a:r>
              <a:rPr lang="sv-SE" b="0" dirty="0"/>
              <a:t>.</a:t>
            </a:r>
          </a:p>
          <a:p>
            <a:r>
              <a:rPr lang="sv-SE" b="0" dirty="0"/>
              <a:t>If </a:t>
            </a:r>
            <a:r>
              <a:rPr lang="sv-SE" b="0" dirty="0" err="1"/>
              <a:t>we</a:t>
            </a:r>
            <a:r>
              <a:rPr lang="sv-SE" b="0" dirty="0"/>
              <a:t> </a:t>
            </a:r>
            <a:r>
              <a:rPr lang="sv-SE" b="0" dirty="0" err="1"/>
              <a:t>had</a:t>
            </a:r>
            <a:r>
              <a:rPr lang="sv-SE" b="0" dirty="0"/>
              <a:t> </a:t>
            </a:r>
            <a:r>
              <a:rPr lang="sv-SE" b="0" dirty="0" err="1"/>
              <a:t>zoomed</a:t>
            </a:r>
            <a:r>
              <a:rPr lang="sv-SE" b="0" dirty="0"/>
              <a:t> in, or </a:t>
            </a:r>
            <a:r>
              <a:rPr lang="sv-SE" b="0" dirty="0" err="1"/>
              <a:t>used</a:t>
            </a:r>
            <a:r>
              <a:rPr lang="sv-SE" b="0" dirty="0"/>
              <a:t> a </a:t>
            </a:r>
            <a:r>
              <a:rPr lang="sv-SE" b="0" dirty="0" err="1"/>
              <a:t>microscope</a:t>
            </a:r>
            <a:r>
              <a:rPr lang="sv-SE" b="0" dirty="0"/>
              <a:t>, </a:t>
            </a:r>
            <a:r>
              <a:rPr lang="sv-SE" b="0" dirty="0" err="1"/>
              <a:t>our</a:t>
            </a:r>
            <a:r>
              <a:rPr lang="sv-SE" b="0" dirty="0"/>
              <a:t> best </a:t>
            </a:r>
            <a:r>
              <a:rPr lang="sv-SE" b="0" dirty="0" err="1"/>
              <a:t>guess</a:t>
            </a:r>
            <a:r>
              <a:rPr lang="sv-SE" b="0" dirty="0"/>
              <a:t> </a:t>
            </a:r>
            <a:r>
              <a:rPr lang="sv-SE" b="0" dirty="0" err="1"/>
              <a:t>might</a:t>
            </a:r>
            <a:r>
              <a:rPr lang="sv-SE" b="0" dirty="0"/>
              <a:t> still </a:t>
            </a:r>
            <a:r>
              <a:rPr lang="sv-SE" b="0" dirty="0" err="1"/>
              <a:t>have</a:t>
            </a:r>
            <a:r>
              <a:rPr lang="sv-SE" b="0" dirty="0"/>
              <a:t> </a:t>
            </a:r>
            <a:r>
              <a:rPr lang="sv-SE" b="0" dirty="0" err="1"/>
              <a:t>been</a:t>
            </a:r>
            <a:r>
              <a:rPr lang="sv-SE" b="0" dirty="0"/>
              <a:t> 6.5 cm, </a:t>
            </a:r>
            <a:r>
              <a:rPr lang="sv-SE" b="0" dirty="0" err="1"/>
              <a:t>but</a:t>
            </a:r>
            <a:r>
              <a:rPr lang="sv-SE" b="0" dirty="0"/>
              <a:t> </a:t>
            </a:r>
            <a:r>
              <a:rPr lang="sv-SE" b="0" dirty="0" err="1"/>
              <a:t>we</a:t>
            </a:r>
            <a:r>
              <a:rPr lang="sv-SE" b="0" dirty="0"/>
              <a:t> </a:t>
            </a:r>
            <a:r>
              <a:rPr lang="sv-SE" b="0" dirty="0" err="1"/>
              <a:t>could</a:t>
            </a:r>
            <a:r>
              <a:rPr lang="sv-SE" b="0" dirty="0"/>
              <a:t> </a:t>
            </a:r>
            <a:r>
              <a:rPr lang="sv-SE" b="0" dirty="0" err="1"/>
              <a:t>potentially</a:t>
            </a:r>
            <a:r>
              <a:rPr lang="sv-SE" b="0" dirty="0"/>
              <a:t> </a:t>
            </a:r>
            <a:r>
              <a:rPr lang="sv-SE" b="0" dirty="0" err="1"/>
              <a:t>then</a:t>
            </a:r>
            <a:r>
              <a:rPr lang="sv-SE" b="0" dirty="0"/>
              <a:t> be </a:t>
            </a:r>
            <a:r>
              <a:rPr lang="sv-SE" b="0" dirty="0" err="1"/>
              <a:t>certain</a:t>
            </a:r>
            <a:r>
              <a:rPr lang="sv-SE" b="0" dirty="0"/>
              <a:t> </a:t>
            </a:r>
            <a:r>
              <a:rPr lang="sv-SE" b="0" dirty="0" err="1"/>
              <a:t>that</a:t>
            </a:r>
            <a:r>
              <a:rPr lang="sv-SE" b="0" dirty="0"/>
              <a:t> it is </a:t>
            </a:r>
            <a:r>
              <a:rPr lang="sv-SE" b="0" dirty="0" err="1"/>
              <a:t>within</a:t>
            </a:r>
            <a:r>
              <a:rPr lang="sv-SE" b="0" dirty="0"/>
              <a:t> 1 or 0.1 mikrometer </a:t>
            </a:r>
            <a:r>
              <a:rPr lang="sv-SE" b="0" dirty="0" err="1"/>
              <a:t>of</a:t>
            </a:r>
            <a:r>
              <a:rPr lang="sv-SE" b="0" dirty="0"/>
              <a:t> </a:t>
            </a:r>
            <a:r>
              <a:rPr lang="sv-SE" b="0" dirty="0" err="1"/>
              <a:t>that</a:t>
            </a:r>
            <a:r>
              <a:rPr lang="sv-SE" b="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sv-SE" dirty="0"/>
              <a:t>So </a:t>
            </a:r>
            <a:r>
              <a:rPr lang="sv-SE" dirty="0" err="1"/>
              <a:t>now</a:t>
            </a:r>
            <a:r>
              <a:rPr lang="sv-SE" dirty="0"/>
              <a:t> </a:t>
            </a:r>
            <a:r>
              <a:rPr lang="sv-SE" dirty="0" err="1"/>
              <a:t>that</a:t>
            </a:r>
            <a:r>
              <a:rPr lang="sv-SE" dirty="0"/>
              <a:t> </a:t>
            </a:r>
            <a:r>
              <a:rPr lang="sv-SE" dirty="0" err="1"/>
              <a:t>we’ve</a:t>
            </a:r>
            <a:r>
              <a:rPr lang="sv-SE" dirty="0"/>
              <a:t> </a:t>
            </a:r>
            <a:r>
              <a:rPr lang="sv-SE" dirty="0" err="1"/>
              <a:t>established</a:t>
            </a:r>
            <a:r>
              <a:rPr lang="sv-SE" dirty="0"/>
              <a:t> </a:t>
            </a:r>
            <a:r>
              <a:rPr lang="sv-SE" dirty="0" err="1"/>
              <a:t>that</a:t>
            </a:r>
            <a:r>
              <a:rPr lang="sv-SE" dirty="0"/>
              <a:t> all </a:t>
            </a:r>
            <a:r>
              <a:rPr lang="sv-SE" dirty="0" err="1"/>
              <a:t>measurements</a:t>
            </a:r>
            <a:r>
              <a:rPr lang="sv-SE" dirty="0"/>
              <a:t> </a:t>
            </a:r>
            <a:r>
              <a:rPr lang="sv-SE" dirty="0" err="1"/>
              <a:t>have</a:t>
            </a:r>
            <a:r>
              <a:rPr lang="sv-SE" dirty="0"/>
              <a:t> </a:t>
            </a:r>
            <a:r>
              <a:rPr lang="sv-SE" dirty="0" err="1"/>
              <a:t>some</a:t>
            </a:r>
            <a:r>
              <a:rPr lang="sv-SE" dirty="0"/>
              <a:t> </a:t>
            </a:r>
            <a:r>
              <a:rPr lang="sv-SE" dirty="0" err="1"/>
              <a:t>uncertainty</a:t>
            </a:r>
            <a:r>
              <a:rPr lang="sv-SE" dirty="0"/>
              <a:t> </a:t>
            </a:r>
            <a:r>
              <a:rPr lang="sv-SE" dirty="0" err="1"/>
              <a:t>associated</a:t>
            </a:r>
            <a:r>
              <a:rPr lang="sv-SE" dirty="0"/>
              <a:t> </a:t>
            </a:r>
            <a:r>
              <a:rPr lang="sv-SE" dirty="0" err="1"/>
              <a:t>with</a:t>
            </a:r>
            <a:r>
              <a:rPr lang="sv-SE" dirty="0"/>
              <a:t> </a:t>
            </a:r>
            <a:r>
              <a:rPr lang="sv-SE" dirty="0" err="1"/>
              <a:t>them</a:t>
            </a:r>
            <a:r>
              <a:rPr lang="sv-SE" dirty="0"/>
              <a:t>, </a:t>
            </a:r>
            <a:r>
              <a:rPr lang="sv-SE" dirty="0" err="1"/>
              <a:t>how</a:t>
            </a:r>
            <a:r>
              <a:rPr lang="sv-SE" dirty="0"/>
              <a:t> do </a:t>
            </a:r>
            <a:r>
              <a:rPr lang="sv-SE" dirty="0" err="1"/>
              <a:t>we</a:t>
            </a:r>
            <a:r>
              <a:rPr lang="sv-SE" dirty="0"/>
              <a:t> </a:t>
            </a:r>
            <a:r>
              <a:rPr lang="sv-SE" dirty="0" err="1"/>
              <a:t>treat</a:t>
            </a:r>
            <a:r>
              <a:rPr lang="sv-SE" dirty="0"/>
              <a:t> </a:t>
            </a:r>
            <a:r>
              <a:rPr lang="sv-SE" dirty="0" err="1"/>
              <a:t>this</a:t>
            </a:r>
            <a:r>
              <a:rPr lang="sv-SE" dirty="0"/>
              <a:t> </a:t>
            </a:r>
            <a:r>
              <a:rPr lang="sv-SE" dirty="0" err="1"/>
              <a:t>uncertainty</a:t>
            </a:r>
            <a:r>
              <a:rPr lang="sv-SE" dirty="0"/>
              <a:t>?</a:t>
            </a:r>
          </a:p>
          <a:p>
            <a:endParaRPr lang="sv-SE" dirty="0"/>
          </a:p>
        </p:txBody>
      </p:sp>
      <p:sp>
        <p:nvSpPr>
          <p:cNvPr id="4" name="Slide Number Placeholder 3">
            <a:extLst>
              <a:ext uri="{FF2B5EF4-FFF2-40B4-BE49-F238E27FC236}">
                <a16:creationId xmlns:a16="http://schemas.microsoft.com/office/drawing/2014/main" id="{86467DDC-5C47-1D6F-7B2F-662C9575D950}"/>
              </a:ext>
            </a:extLst>
          </p:cNvPr>
          <p:cNvSpPr>
            <a:spLocks noGrp="1"/>
          </p:cNvSpPr>
          <p:nvPr>
            <p:ph type="sldNum" sz="quarter" idx="5"/>
          </p:nvPr>
        </p:nvSpPr>
        <p:spPr/>
        <p:txBody>
          <a:bodyPr/>
          <a:lstStyle/>
          <a:p>
            <a:fld id="{3AE5A434-646A-2746-9BDC-885B2382B33E}" type="slidenum">
              <a:rPr lang="sv-SE" smtClean="0"/>
              <a:t>10</a:t>
            </a:fld>
            <a:endParaRPr lang="sv-SE"/>
          </a:p>
        </p:txBody>
      </p:sp>
    </p:spTree>
    <p:extLst>
      <p:ext uri="{BB962C8B-B14F-4D97-AF65-F5344CB8AC3E}">
        <p14:creationId xmlns:p14="http://schemas.microsoft.com/office/powerpoint/2010/main" val="3530397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6CACA-AA0E-7715-4DD5-6E6B4D74F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35851-5A99-B8B2-BF98-DD3EA16C7D6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9243D67-4F2D-225E-51D1-45860E1B245E}"/>
              </a:ext>
            </a:extLst>
          </p:cNvPr>
          <p:cNvSpPr>
            <a:spLocks noGrp="1"/>
          </p:cNvSpPr>
          <p:nvPr>
            <p:ph type="body" idx="1"/>
          </p:nvPr>
        </p:nvSpPr>
        <p:spPr/>
        <p:txBody>
          <a:bodyPr/>
          <a:lstStyle/>
          <a:p>
            <a:r>
              <a:rPr lang="sv-SE" dirty="0"/>
              <a:t>The </a:t>
            </a:r>
            <a:r>
              <a:rPr lang="sv-SE" dirty="0" err="1"/>
              <a:t>most</a:t>
            </a:r>
            <a:r>
              <a:rPr lang="sv-SE" dirty="0"/>
              <a:t> </a:t>
            </a:r>
            <a:r>
              <a:rPr lang="sv-SE" dirty="0" err="1"/>
              <a:t>obvious</a:t>
            </a:r>
            <a:r>
              <a:rPr lang="sv-SE" dirty="0"/>
              <a:t> choice is </a:t>
            </a:r>
            <a:r>
              <a:rPr lang="sv-SE" dirty="0" err="1"/>
              <a:t>probabilistically</a:t>
            </a:r>
            <a:r>
              <a:rPr lang="sv-SE" dirty="0"/>
              <a:t>, </a:t>
            </a:r>
            <a:r>
              <a:rPr lang="sv-SE" dirty="0" err="1"/>
              <a:t>our</a:t>
            </a:r>
            <a:r>
              <a:rPr lang="sv-SE" dirty="0"/>
              <a:t> </a:t>
            </a:r>
            <a:r>
              <a:rPr lang="sv-SE" dirty="0" err="1"/>
              <a:t>measurement</a:t>
            </a:r>
            <a:r>
              <a:rPr lang="sv-SE" dirty="0"/>
              <a:t> </a:t>
            </a:r>
            <a:r>
              <a:rPr lang="sv-SE" dirty="0" err="1"/>
              <a:t>was</a:t>
            </a:r>
            <a:r>
              <a:rPr lang="sv-SE" dirty="0"/>
              <a:t> </a:t>
            </a:r>
            <a:r>
              <a:rPr lang="sv-SE" dirty="0" err="1"/>
              <a:t>simply</a:t>
            </a:r>
            <a:r>
              <a:rPr lang="sv-SE" dirty="0"/>
              <a:t> a </a:t>
            </a:r>
            <a:r>
              <a:rPr lang="sv-SE" dirty="0" err="1"/>
              <a:t>random</a:t>
            </a:r>
            <a:r>
              <a:rPr lang="sv-SE" dirty="0"/>
              <a:t> </a:t>
            </a:r>
            <a:r>
              <a:rPr lang="sv-SE" dirty="0" err="1"/>
              <a:t>sample</a:t>
            </a:r>
            <a:r>
              <a:rPr lang="sv-SE" dirty="0"/>
              <a:t> </a:t>
            </a:r>
            <a:r>
              <a:rPr lang="sv-SE" dirty="0" err="1"/>
              <a:t>of</a:t>
            </a:r>
            <a:r>
              <a:rPr lang="sv-SE" dirty="0"/>
              <a:t> </a:t>
            </a:r>
            <a:r>
              <a:rPr lang="sv-SE" dirty="0" err="1"/>
              <a:t>its</a:t>
            </a:r>
            <a:r>
              <a:rPr lang="sv-SE" dirty="0"/>
              <a:t> </a:t>
            </a:r>
            <a:r>
              <a:rPr lang="sv-SE" dirty="0" err="1"/>
              <a:t>underlying</a:t>
            </a:r>
            <a:r>
              <a:rPr lang="sv-SE" dirty="0"/>
              <a:t> </a:t>
            </a:r>
            <a:r>
              <a:rPr lang="sv-SE" dirty="0" err="1"/>
              <a:t>governing</a:t>
            </a:r>
            <a:r>
              <a:rPr lang="sv-SE" dirty="0"/>
              <a:t> </a:t>
            </a:r>
            <a:r>
              <a:rPr lang="sv-SE" dirty="0" err="1"/>
              <a:t>probability</a:t>
            </a:r>
            <a:r>
              <a:rPr lang="sv-SE" dirty="0"/>
              <a:t> distribution.</a:t>
            </a:r>
          </a:p>
          <a:p>
            <a:r>
              <a:rPr lang="sv-SE" dirty="0" err="1"/>
              <a:t>Let’s</a:t>
            </a:r>
            <a:r>
              <a:rPr lang="sv-SE" dirty="0"/>
              <a:t> start </a:t>
            </a:r>
            <a:r>
              <a:rPr lang="sv-SE" dirty="0" err="1"/>
              <a:t>with</a:t>
            </a:r>
            <a:r>
              <a:rPr lang="sv-SE" dirty="0"/>
              <a:t> a simple </a:t>
            </a:r>
            <a:r>
              <a:rPr lang="sv-SE" dirty="0" err="1"/>
              <a:t>example</a:t>
            </a:r>
            <a:r>
              <a:rPr lang="sv-SE" dirty="0"/>
              <a:t>, a </a:t>
            </a:r>
            <a:r>
              <a:rPr lang="sv-SE" dirty="0" err="1"/>
              <a:t>coin</a:t>
            </a:r>
            <a:r>
              <a:rPr lang="sv-SE" dirty="0"/>
              <a:t>.</a:t>
            </a:r>
          </a:p>
          <a:p>
            <a:r>
              <a:rPr lang="sv-SE" dirty="0" err="1"/>
              <a:t>Flipping</a:t>
            </a:r>
            <a:r>
              <a:rPr lang="sv-SE" dirty="0"/>
              <a:t> the </a:t>
            </a:r>
            <a:r>
              <a:rPr lang="sv-SE" dirty="0" err="1"/>
              <a:t>coin</a:t>
            </a:r>
            <a:r>
              <a:rPr lang="sv-SE" dirty="0"/>
              <a:t> has an </a:t>
            </a:r>
            <a:r>
              <a:rPr lang="sv-SE" dirty="0" err="1"/>
              <a:t>equal</a:t>
            </a:r>
            <a:r>
              <a:rPr lang="sv-SE" dirty="0"/>
              <a:t> </a:t>
            </a:r>
            <a:r>
              <a:rPr lang="sv-SE" dirty="0" err="1"/>
              <a:t>chance</a:t>
            </a:r>
            <a:r>
              <a:rPr lang="sv-SE" dirty="0"/>
              <a:t> to land </a:t>
            </a:r>
            <a:r>
              <a:rPr lang="sv-SE" dirty="0" err="1"/>
              <a:t>head</a:t>
            </a:r>
            <a:r>
              <a:rPr lang="sv-SE" dirty="0"/>
              <a:t> or </a:t>
            </a:r>
            <a:r>
              <a:rPr lang="sv-SE" dirty="0" err="1"/>
              <a:t>tails</a:t>
            </a:r>
            <a:r>
              <a:rPr lang="sv-SE" dirty="0"/>
              <a:t>. </a:t>
            </a:r>
            <a:r>
              <a:rPr lang="sv-SE" dirty="0" err="1"/>
              <a:t>Assuming</a:t>
            </a:r>
            <a:r>
              <a:rPr lang="sv-SE" dirty="0"/>
              <a:t> </a:t>
            </a:r>
            <a:r>
              <a:rPr lang="sv-SE" dirty="0" err="1"/>
              <a:t>that</a:t>
            </a:r>
            <a:r>
              <a:rPr lang="sv-SE" dirty="0"/>
              <a:t> it is </a:t>
            </a:r>
            <a:r>
              <a:rPr lang="sv-SE" dirty="0" err="1"/>
              <a:t>evenly</a:t>
            </a:r>
            <a:r>
              <a:rPr lang="sv-SE" dirty="0"/>
              <a:t> </a:t>
            </a:r>
            <a:r>
              <a:rPr lang="sv-SE" dirty="0" err="1"/>
              <a:t>weighted</a:t>
            </a:r>
            <a:r>
              <a:rPr lang="sv-SE" dirty="0"/>
              <a:t>.</a:t>
            </a:r>
          </a:p>
          <a:p>
            <a:r>
              <a:rPr lang="sv-SE" dirty="0" err="1"/>
              <a:t>We</a:t>
            </a:r>
            <a:r>
              <a:rPr lang="sv-SE" dirty="0"/>
              <a:t> </a:t>
            </a:r>
            <a:r>
              <a:rPr lang="sv-SE" dirty="0" err="1"/>
              <a:t>say</a:t>
            </a:r>
            <a:r>
              <a:rPr lang="sv-SE" dirty="0"/>
              <a:t> </a:t>
            </a:r>
            <a:r>
              <a:rPr lang="sv-SE" dirty="0" err="1"/>
              <a:t>that</a:t>
            </a:r>
            <a:r>
              <a:rPr lang="sv-SE" dirty="0"/>
              <a:t> the </a:t>
            </a:r>
            <a:r>
              <a:rPr lang="sv-SE" dirty="0" err="1"/>
              <a:t>likelihood</a:t>
            </a:r>
            <a:r>
              <a:rPr lang="sv-SE" dirty="0"/>
              <a:t> </a:t>
            </a:r>
            <a:r>
              <a:rPr lang="sv-SE" dirty="0" err="1"/>
              <a:t>of</a:t>
            </a:r>
            <a:r>
              <a:rPr lang="sv-SE" dirty="0"/>
              <a:t> </a:t>
            </a:r>
            <a:r>
              <a:rPr lang="sv-SE" dirty="0" err="1"/>
              <a:t>getting</a:t>
            </a:r>
            <a:r>
              <a:rPr lang="sv-SE" dirty="0"/>
              <a:t> </a:t>
            </a:r>
            <a:r>
              <a:rPr lang="sv-SE" dirty="0" err="1"/>
              <a:t>heads</a:t>
            </a:r>
            <a:r>
              <a:rPr lang="sv-SE" dirty="0"/>
              <a:t> or </a:t>
            </a:r>
            <a:r>
              <a:rPr lang="sv-SE" dirty="0" err="1"/>
              <a:t>tails</a:t>
            </a:r>
            <a:r>
              <a:rPr lang="sv-SE" dirty="0"/>
              <a:t> is 50% or 0.5. </a:t>
            </a:r>
            <a:r>
              <a:rPr lang="sv-SE" dirty="0" err="1"/>
              <a:t>Applying</a:t>
            </a:r>
            <a:r>
              <a:rPr lang="sv-SE" dirty="0"/>
              <a:t> </a:t>
            </a:r>
            <a:r>
              <a:rPr lang="sv-SE" dirty="0" err="1"/>
              <a:t>this</a:t>
            </a:r>
            <a:r>
              <a:rPr lang="sv-SE" dirty="0"/>
              <a:t> </a:t>
            </a:r>
            <a:r>
              <a:rPr lang="sv-SE" dirty="0" err="1"/>
              <a:t>concept</a:t>
            </a:r>
            <a:r>
              <a:rPr lang="sv-SE" dirty="0"/>
              <a:t>, the </a:t>
            </a:r>
            <a:r>
              <a:rPr lang="sv-SE" dirty="0" err="1"/>
              <a:t>probability</a:t>
            </a:r>
            <a:r>
              <a:rPr lang="sv-SE" dirty="0"/>
              <a:t> distribution, </a:t>
            </a:r>
            <a:r>
              <a:rPr lang="sv-SE" dirty="0" err="1"/>
              <a:t>that</a:t>
            </a:r>
            <a:r>
              <a:rPr lang="sv-SE" dirty="0"/>
              <a:t> is, the </a:t>
            </a:r>
            <a:r>
              <a:rPr lang="sv-SE" dirty="0" err="1"/>
              <a:t>likelihood</a:t>
            </a:r>
            <a:r>
              <a:rPr lang="sv-SE" dirty="0"/>
              <a:t> </a:t>
            </a:r>
            <a:r>
              <a:rPr lang="sv-SE" dirty="0" err="1"/>
              <a:t>of</a:t>
            </a:r>
            <a:r>
              <a:rPr lang="sv-SE" dirty="0"/>
              <a:t> a given </a:t>
            </a:r>
            <a:r>
              <a:rPr lang="sv-SE" dirty="0" err="1"/>
              <a:t>outcome</a:t>
            </a:r>
            <a:r>
              <a:rPr lang="sv-SE" dirty="0"/>
              <a:t>, </a:t>
            </a:r>
            <a:r>
              <a:rPr lang="sv-SE" dirty="0" err="1"/>
              <a:t>of</a:t>
            </a:r>
            <a:r>
              <a:rPr lang="sv-SE" dirty="0"/>
              <a:t> </a:t>
            </a:r>
            <a:r>
              <a:rPr lang="sv-SE" dirty="0" err="1"/>
              <a:t>our</a:t>
            </a:r>
            <a:r>
              <a:rPr lang="sv-SE" dirty="0"/>
              <a:t> </a:t>
            </a:r>
            <a:r>
              <a:rPr lang="sv-SE" dirty="0" err="1"/>
              <a:t>ruler</a:t>
            </a:r>
            <a:r>
              <a:rPr lang="sv-SE" dirty="0"/>
              <a:t> </a:t>
            </a:r>
            <a:r>
              <a:rPr lang="sv-SE" dirty="0" err="1"/>
              <a:t>measurement</a:t>
            </a:r>
            <a:r>
              <a:rPr lang="sv-SE" dirty="0"/>
              <a:t> </a:t>
            </a:r>
            <a:r>
              <a:rPr lang="sv-SE" dirty="0" err="1"/>
              <a:t>will</a:t>
            </a:r>
            <a:r>
              <a:rPr lang="sv-SE" dirty="0"/>
              <a:t> look like </a:t>
            </a:r>
            <a:r>
              <a:rPr lang="sv-SE" dirty="0" err="1"/>
              <a:t>this</a:t>
            </a:r>
            <a:r>
              <a:rPr lang="sv-SE" dirty="0"/>
              <a:t>.</a:t>
            </a:r>
          </a:p>
          <a:p>
            <a:r>
              <a:rPr lang="sv-SE" dirty="0" err="1"/>
              <a:t>But</a:t>
            </a:r>
            <a:r>
              <a:rPr lang="sv-SE" dirty="0"/>
              <a:t> </a:t>
            </a:r>
            <a:r>
              <a:rPr lang="sv-SE" dirty="0" err="1"/>
              <a:t>with</a:t>
            </a:r>
            <a:r>
              <a:rPr lang="sv-SE" dirty="0"/>
              <a:t> </a:t>
            </a:r>
            <a:r>
              <a:rPr lang="sv-SE" dirty="0" err="1"/>
              <a:t>this</a:t>
            </a:r>
            <a:r>
              <a:rPr lang="sv-SE" dirty="0"/>
              <a:t> </a:t>
            </a:r>
            <a:r>
              <a:rPr lang="sv-SE" dirty="0" err="1"/>
              <a:t>assumption</a:t>
            </a:r>
            <a:r>
              <a:rPr lang="sv-SE" dirty="0"/>
              <a:t>, </a:t>
            </a:r>
            <a:r>
              <a:rPr lang="sv-SE" dirty="0" err="1"/>
              <a:t>we</a:t>
            </a:r>
            <a:r>
              <a:rPr lang="sv-SE" dirty="0"/>
              <a:t> </a:t>
            </a:r>
            <a:r>
              <a:rPr lang="sv-SE" dirty="0" err="1"/>
              <a:t>are</a:t>
            </a:r>
            <a:r>
              <a:rPr lang="sv-SE" dirty="0"/>
              <a:t> </a:t>
            </a:r>
            <a:r>
              <a:rPr lang="sv-SE" dirty="0" err="1"/>
              <a:t>saying</a:t>
            </a:r>
            <a:r>
              <a:rPr lang="sv-SE" dirty="0"/>
              <a:t> </a:t>
            </a:r>
            <a:r>
              <a:rPr lang="sv-SE" dirty="0" err="1"/>
              <a:t>that</a:t>
            </a:r>
            <a:r>
              <a:rPr lang="sv-SE" dirty="0"/>
              <a:t> </a:t>
            </a:r>
            <a:r>
              <a:rPr lang="sv-SE" dirty="0" err="1"/>
              <a:t>measuring</a:t>
            </a:r>
            <a:r>
              <a:rPr lang="sv-SE" dirty="0"/>
              <a:t> 6.5 cm is just as </a:t>
            </a:r>
            <a:r>
              <a:rPr lang="sv-SE" dirty="0" err="1"/>
              <a:t>likely</a:t>
            </a:r>
            <a:r>
              <a:rPr lang="sv-SE" dirty="0"/>
              <a:t> as </a:t>
            </a:r>
            <a:r>
              <a:rPr lang="sv-SE" dirty="0" err="1"/>
              <a:t>measuring</a:t>
            </a:r>
            <a:r>
              <a:rPr lang="sv-SE" dirty="0"/>
              <a:t> 6.49 cm. </a:t>
            </a:r>
            <a:r>
              <a:rPr lang="sv-SE" dirty="0" err="1"/>
              <a:t>We</a:t>
            </a:r>
            <a:r>
              <a:rPr lang="sv-SE" dirty="0"/>
              <a:t> </a:t>
            </a:r>
            <a:r>
              <a:rPr lang="sv-SE" dirty="0" err="1"/>
              <a:t>probably</a:t>
            </a:r>
            <a:r>
              <a:rPr lang="sv-SE" dirty="0"/>
              <a:t> </a:t>
            </a:r>
            <a:r>
              <a:rPr lang="sv-SE" dirty="0" err="1"/>
              <a:t>think</a:t>
            </a:r>
            <a:r>
              <a:rPr lang="sv-SE" dirty="0"/>
              <a:t> </a:t>
            </a:r>
            <a:r>
              <a:rPr lang="sv-SE" dirty="0" err="1"/>
              <a:t>our</a:t>
            </a:r>
            <a:r>
              <a:rPr lang="sv-SE" dirty="0"/>
              <a:t> best </a:t>
            </a:r>
            <a:r>
              <a:rPr lang="sv-SE" dirty="0" err="1"/>
              <a:t>guess</a:t>
            </a:r>
            <a:r>
              <a:rPr lang="sv-SE" dirty="0"/>
              <a:t> </a:t>
            </a:r>
            <a:r>
              <a:rPr lang="sv-SE" dirty="0" err="1"/>
              <a:t>of</a:t>
            </a:r>
            <a:r>
              <a:rPr lang="sv-SE" dirty="0"/>
              <a:t> 6.5cm is </a:t>
            </a:r>
            <a:r>
              <a:rPr lang="sv-SE" dirty="0" err="1"/>
              <a:t>more</a:t>
            </a:r>
            <a:r>
              <a:rPr lang="sv-SE" dirty="0"/>
              <a:t> </a:t>
            </a:r>
            <a:r>
              <a:rPr lang="sv-SE" dirty="0" err="1"/>
              <a:t>likely</a:t>
            </a:r>
            <a:r>
              <a:rPr lang="sv-SE" dirty="0"/>
              <a:t> </a:t>
            </a:r>
            <a:r>
              <a:rPr lang="sv-SE" dirty="0" err="1"/>
              <a:t>correct</a:t>
            </a:r>
            <a:r>
              <a:rPr lang="sv-SE" dirty="0"/>
              <a:t> </a:t>
            </a:r>
            <a:r>
              <a:rPr lang="sv-SE" dirty="0" err="1"/>
              <a:t>than</a:t>
            </a:r>
            <a:r>
              <a:rPr lang="sv-SE" dirty="0"/>
              <a:t> </a:t>
            </a:r>
            <a:r>
              <a:rPr lang="sv-SE" dirty="0" err="1"/>
              <a:t>our</a:t>
            </a:r>
            <a:r>
              <a:rPr lang="sv-SE" dirty="0"/>
              <a:t> </a:t>
            </a:r>
            <a:r>
              <a:rPr lang="sv-SE" dirty="0" err="1"/>
              <a:t>highest</a:t>
            </a:r>
            <a:r>
              <a:rPr lang="sv-SE" dirty="0"/>
              <a:t> deviation </a:t>
            </a:r>
            <a:r>
              <a:rPr lang="sv-SE" dirty="0" err="1"/>
              <a:t>of</a:t>
            </a:r>
            <a:r>
              <a:rPr lang="sv-SE" dirty="0"/>
              <a:t> 6.49 cm.</a:t>
            </a:r>
          </a:p>
          <a:p>
            <a:r>
              <a:rPr lang="sv-SE" dirty="0"/>
              <a:t>So </a:t>
            </a:r>
            <a:r>
              <a:rPr lang="sv-SE" dirty="0" err="1"/>
              <a:t>instead</a:t>
            </a:r>
            <a:r>
              <a:rPr lang="sv-SE" dirty="0"/>
              <a:t> </a:t>
            </a:r>
            <a:r>
              <a:rPr lang="sv-SE" dirty="0" err="1"/>
              <a:t>of</a:t>
            </a:r>
            <a:r>
              <a:rPr lang="sv-SE" dirty="0"/>
              <a:t> </a:t>
            </a:r>
            <a:r>
              <a:rPr lang="sv-SE" dirty="0" err="1"/>
              <a:t>assuming</a:t>
            </a:r>
            <a:r>
              <a:rPr lang="sv-SE" dirty="0"/>
              <a:t> </a:t>
            </a:r>
            <a:r>
              <a:rPr lang="sv-SE" dirty="0" err="1"/>
              <a:t>that</a:t>
            </a:r>
            <a:r>
              <a:rPr lang="sv-SE" dirty="0"/>
              <a:t> </a:t>
            </a:r>
            <a:r>
              <a:rPr lang="sv-SE" dirty="0" err="1"/>
              <a:t>every</a:t>
            </a:r>
            <a:r>
              <a:rPr lang="sv-SE" dirty="0"/>
              <a:t> </a:t>
            </a:r>
            <a:r>
              <a:rPr lang="sv-SE" dirty="0" err="1"/>
              <a:t>possibility</a:t>
            </a:r>
            <a:r>
              <a:rPr lang="sv-SE" dirty="0"/>
              <a:t> is </a:t>
            </a:r>
            <a:r>
              <a:rPr lang="sv-SE" dirty="0" err="1"/>
              <a:t>equally</a:t>
            </a:r>
            <a:r>
              <a:rPr lang="sv-SE" dirty="0"/>
              <a:t> </a:t>
            </a:r>
            <a:r>
              <a:rPr lang="sv-SE" dirty="0" err="1"/>
              <a:t>likely</a:t>
            </a:r>
            <a:r>
              <a:rPr lang="sv-SE" dirty="0"/>
              <a:t>, </a:t>
            </a:r>
            <a:r>
              <a:rPr lang="sv-SE" dirty="0" err="1"/>
              <a:t>we</a:t>
            </a:r>
            <a:r>
              <a:rPr lang="sv-SE" dirty="0"/>
              <a:t> </a:t>
            </a:r>
            <a:r>
              <a:rPr lang="sv-SE" dirty="0" err="1"/>
              <a:t>can</a:t>
            </a:r>
            <a:r>
              <a:rPr lang="sv-SE" dirty="0"/>
              <a:t> </a:t>
            </a:r>
            <a:r>
              <a:rPr lang="sv-SE" dirty="0" err="1"/>
              <a:t>imagine</a:t>
            </a:r>
            <a:r>
              <a:rPr lang="sv-SE" dirty="0"/>
              <a:t> a </a:t>
            </a:r>
            <a:r>
              <a:rPr lang="sv-SE" dirty="0" err="1"/>
              <a:t>probability</a:t>
            </a:r>
            <a:r>
              <a:rPr lang="sv-SE" dirty="0"/>
              <a:t> distribution like </a:t>
            </a:r>
            <a:r>
              <a:rPr lang="sv-SE" dirty="0" err="1"/>
              <a:t>this</a:t>
            </a:r>
            <a:r>
              <a:rPr lang="sv-SE" dirty="0"/>
              <a:t>.</a:t>
            </a:r>
          </a:p>
        </p:txBody>
      </p:sp>
      <p:sp>
        <p:nvSpPr>
          <p:cNvPr id="4" name="Slide Number Placeholder 3">
            <a:extLst>
              <a:ext uri="{FF2B5EF4-FFF2-40B4-BE49-F238E27FC236}">
                <a16:creationId xmlns:a16="http://schemas.microsoft.com/office/drawing/2014/main" id="{3C46C874-10EC-109E-CF18-4F16AA6D1768}"/>
              </a:ext>
            </a:extLst>
          </p:cNvPr>
          <p:cNvSpPr>
            <a:spLocks noGrp="1"/>
          </p:cNvSpPr>
          <p:nvPr>
            <p:ph type="sldNum" sz="quarter" idx="5"/>
          </p:nvPr>
        </p:nvSpPr>
        <p:spPr/>
        <p:txBody>
          <a:bodyPr/>
          <a:lstStyle/>
          <a:p>
            <a:fld id="{3AE5A434-646A-2746-9BDC-885B2382B33E}" type="slidenum">
              <a:rPr lang="sv-SE" smtClean="0"/>
              <a:t>11</a:t>
            </a:fld>
            <a:endParaRPr lang="sv-SE"/>
          </a:p>
        </p:txBody>
      </p:sp>
    </p:spTree>
    <p:extLst>
      <p:ext uri="{BB962C8B-B14F-4D97-AF65-F5344CB8AC3E}">
        <p14:creationId xmlns:p14="http://schemas.microsoft.com/office/powerpoint/2010/main" val="2156369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31D90-22BC-10B2-4A2D-05B720AF7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EE191-B226-4BAB-BA72-FF92A0011B6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7B7066E-E782-C7D6-9910-222C97CD92BF}"/>
              </a:ext>
            </a:extLst>
          </p:cNvPr>
          <p:cNvSpPr>
            <a:spLocks noGrp="1"/>
          </p:cNvSpPr>
          <p:nvPr>
            <p:ph type="body" idx="1"/>
          </p:nvPr>
        </p:nvSpPr>
        <p:spPr/>
        <p:txBody>
          <a:bodyPr/>
          <a:lstStyle/>
          <a:p>
            <a:r>
              <a:rPr lang="sv-SE" dirty="0" err="1"/>
              <a:t>This</a:t>
            </a:r>
            <a:r>
              <a:rPr lang="sv-SE" dirty="0"/>
              <a:t> is </a:t>
            </a:r>
            <a:r>
              <a:rPr lang="sv-SE" dirty="0" err="1"/>
              <a:t>called</a:t>
            </a:r>
            <a:r>
              <a:rPr lang="sv-SE" dirty="0"/>
              <a:t> the normal distribution. </a:t>
            </a:r>
            <a:r>
              <a:rPr lang="sv-SE" dirty="0" err="1"/>
              <a:t>Notice</a:t>
            </a:r>
            <a:r>
              <a:rPr lang="sv-SE" dirty="0"/>
              <a:t> </a:t>
            </a:r>
            <a:r>
              <a:rPr lang="sv-SE" dirty="0" err="1"/>
              <a:t>how</a:t>
            </a:r>
            <a:r>
              <a:rPr lang="sv-SE" dirty="0"/>
              <a:t> the </a:t>
            </a:r>
            <a:r>
              <a:rPr lang="sv-SE" dirty="0" err="1"/>
              <a:t>likelihood</a:t>
            </a:r>
            <a:r>
              <a:rPr lang="sv-SE" dirty="0"/>
              <a:t> is </a:t>
            </a:r>
            <a:r>
              <a:rPr lang="sv-SE" dirty="0" err="1"/>
              <a:t>highest</a:t>
            </a:r>
            <a:r>
              <a:rPr lang="sv-SE" dirty="0"/>
              <a:t> at </a:t>
            </a:r>
            <a:r>
              <a:rPr lang="sv-SE" dirty="0" err="1"/>
              <a:t>our</a:t>
            </a:r>
            <a:r>
              <a:rPr lang="sv-SE" dirty="0"/>
              <a:t> best </a:t>
            </a:r>
            <a:r>
              <a:rPr lang="sv-SE" dirty="0" err="1"/>
              <a:t>guess</a:t>
            </a:r>
            <a:r>
              <a:rPr lang="sv-SE" dirty="0"/>
              <a:t> </a:t>
            </a:r>
            <a:r>
              <a:rPr lang="sv-SE" dirty="0" err="1"/>
              <a:t>of</a:t>
            </a:r>
            <a:r>
              <a:rPr lang="sv-SE" dirty="0"/>
              <a:t> the real </a:t>
            </a:r>
            <a:r>
              <a:rPr lang="sv-SE" dirty="0" err="1"/>
              <a:t>value</a:t>
            </a:r>
            <a:r>
              <a:rPr lang="sv-SE" dirty="0"/>
              <a:t> </a:t>
            </a:r>
            <a:r>
              <a:rPr lang="sv-SE" dirty="0" err="1"/>
              <a:t>of</a:t>
            </a:r>
            <a:r>
              <a:rPr lang="sv-SE" dirty="0"/>
              <a:t> the </a:t>
            </a:r>
            <a:r>
              <a:rPr lang="sv-SE" dirty="0" err="1"/>
              <a:t>measurement</a:t>
            </a:r>
            <a:r>
              <a:rPr lang="sv-SE" dirty="0"/>
              <a:t>, and goes down as </a:t>
            </a:r>
            <a:r>
              <a:rPr lang="sv-SE" dirty="0" err="1"/>
              <a:t>we</a:t>
            </a:r>
            <a:r>
              <a:rPr lang="sv-SE" dirty="0"/>
              <a:t> </a:t>
            </a:r>
            <a:r>
              <a:rPr lang="sv-SE" dirty="0" err="1"/>
              <a:t>move</a:t>
            </a:r>
            <a:r>
              <a:rPr lang="sv-SE" dirty="0"/>
              <a:t> </a:t>
            </a:r>
            <a:r>
              <a:rPr lang="sv-SE" dirty="0" err="1"/>
              <a:t>further</a:t>
            </a:r>
            <a:r>
              <a:rPr lang="sv-SE" dirty="0"/>
              <a:t> </a:t>
            </a:r>
            <a:r>
              <a:rPr lang="sv-SE" dirty="0" err="1"/>
              <a:t>away</a:t>
            </a:r>
            <a:r>
              <a:rPr lang="sv-SE" dirty="0"/>
              <a:t> from it.</a:t>
            </a:r>
          </a:p>
          <a:p>
            <a:r>
              <a:rPr lang="sv-SE" dirty="0" err="1"/>
              <a:t>This</a:t>
            </a:r>
            <a:r>
              <a:rPr lang="sv-SE" dirty="0"/>
              <a:t> </a:t>
            </a:r>
            <a:r>
              <a:rPr lang="sv-SE" dirty="0" err="1"/>
              <a:t>probability</a:t>
            </a:r>
            <a:r>
              <a:rPr lang="sv-SE" dirty="0"/>
              <a:t> distribution </a:t>
            </a:r>
            <a:r>
              <a:rPr lang="sv-SE" dirty="0" err="1"/>
              <a:t>was</a:t>
            </a:r>
            <a:r>
              <a:rPr lang="sv-SE" dirty="0"/>
              <a:t> not chosen </a:t>
            </a:r>
            <a:r>
              <a:rPr lang="sv-SE" dirty="0" err="1"/>
              <a:t>randomly</a:t>
            </a:r>
            <a:r>
              <a:rPr lang="sv-SE" dirty="0"/>
              <a:t>. It is a </a:t>
            </a:r>
            <a:r>
              <a:rPr lang="sv-SE" dirty="0" err="1"/>
              <a:t>very</a:t>
            </a:r>
            <a:r>
              <a:rPr lang="sv-SE" dirty="0"/>
              <a:t> </a:t>
            </a:r>
            <a:r>
              <a:rPr lang="sv-SE" dirty="0" err="1"/>
              <a:t>important</a:t>
            </a:r>
            <a:r>
              <a:rPr lang="sv-SE" dirty="0"/>
              <a:t> distribution, </a:t>
            </a:r>
            <a:r>
              <a:rPr lang="sv-SE" dirty="0" err="1"/>
              <a:t>mainly</a:t>
            </a:r>
            <a:r>
              <a:rPr lang="sv-SE" dirty="0"/>
              <a:t> </a:t>
            </a:r>
            <a:r>
              <a:rPr lang="sv-SE" dirty="0" err="1"/>
              <a:t>due</a:t>
            </a:r>
            <a:r>
              <a:rPr lang="sv-SE" dirty="0"/>
              <a:t> to the </a:t>
            </a:r>
            <a:r>
              <a:rPr lang="sv-SE" dirty="0" err="1"/>
              <a:t>consequence</a:t>
            </a:r>
            <a:r>
              <a:rPr lang="sv-SE" dirty="0"/>
              <a:t> </a:t>
            </a:r>
            <a:r>
              <a:rPr lang="sv-SE" dirty="0" err="1"/>
              <a:t>of</a:t>
            </a:r>
            <a:r>
              <a:rPr lang="sv-SE" dirty="0"/>
              <a:t> the central limit </a:t>
            </a:r>
            <a:r>
              <a:rPr lang="sv-SE" dirty="0" err="1"/>
              <a:t>theorem</a:t>
            </a:r>
            <a:r>
              <a:rPr lang="sv-SE" dirty="0"/>
              <a:t>.</a:t>
            </a:r>
          </a:p>
          <a:p>
            <a:r>
              <a:rPr lang="sv-SE" dirty="0"/>
              <a:t>The central limit </a:t>
            </a:r>
            <a:r>
              <a:rPr lang="sv-SE" dirty="0" err="1"/>
              <a:t>theorem</a:t>
            </a:r>
            <a:r>
              <a:rPr lang="sv-SE" dirty="0"/>
              <a:t> </a:t>
            </a:r>
            <a:r>
              <a:rPr lang="sv-SE" dirty="0" err="1"/>
              <a:t>states</a:t>
            </a:r>
            <a:r>
              <a:rPr lang="sv-SE" dirty="0"/>
              <a:t>, </a:t>
            </a:r>
            <a:r>
              <a:rPr lang="sv-SE" dirty="0" err="1"/>
              <a:t>that</a:t>
            </a:r>
            <a:r>
              <a:rPr lang="sv-SE" dirty="0"/>
              <a:t> </a:t>
            </a:r>
            <a:r>
              <a:rPr lang="sv-SE" dirty="0" err="1"/>
              <a:t>if</a:t>
            </a:r>
            <a:r>
              <a:rPr lang="sv-SE" dirty="0"/>
              <a:t> </a:t>
            </a:r>
            <a:r>
              <a:rPr lang="sv-SE" dirty="0" err="1"/>
              <a:t>you</a:t>
            </a:r>
            <a:r>
              <a:rPr lang="sv-SE" dirty="0"/>
              <a:t> </a:t>
            </a:r>
            <a:r>
              <a:rPr lang="sv-SE" dirty="0" err="1"/>
              <a:t>measure</a:t>
            </a:r>
            <a:r>
              <a:rPr lang="sv-SE" dirty="0"/>
              <a:t> a parameter </a:t>
            </a:r>
            <a:r>
              <a:rPr lang="sv-SE" dirty="0" err="1"/>
              <a:t>enough</a:t>
            </a:r>
            <a:r>
              <a:rPr lang="sv-SE" dirty="0"/>
              <a:t> </a:t>
            </a:r>
            <a:r>
              <a:rPr lang="sv-SE" dirty="0" err="1"/>
              <a:t>times</a:t>
            </a:r>
            <a:r>
              <a:rPr lang="sv-SE" dirty="0"/>
              <a:t> </a:t>
            </a:r>
            <a:r>
              <a:rPr lang="sv-SE" dirty="0" err="1"/>
              <a:t>independently</a:t>
            </a:r>
            <a:r>
              <a:rPr lang="sv-SE" dirty="0"/>
              <a:t>, the </a:t>
            </a:r>
            <a:r>
              <a:rPr lang="sv-SE" dirty="0" err="1"/>
              <a:t>average</a:t>
            </a:r>
            <a:r>
              <a:rPr lang="sv-SE" dirty="0"/>
              <a:t> </a:t>
            </a:r>
            <a:r>
              <a:rPr lang="sv-SE" dirty="0" err="1"/>
              <a:t>of</a:t>
            </a:r>
            <a:r>
              <a:rPr lang="sv-SE" dirty="0"/>
              <a:t> </a:t>
            </a:r>
            <a:r>
              <a:rPr lang="sv-SE" dirty="0" err="1"/>
              <a:t>those</a:t>
            </a:r>
            <a:r>
              <a:rPr lang="sv-SE" dirty="0"/>
              <a:t> </a:t>
            </a:r>
            <a:r>
              <a:rPr lang="sv-SE" dirty="0" err="1"/>
              <a:t>measurements</a:t>
            </a:r>
            <a:r>
              <a:rPr lang="sv-SE" dirty="0"/>
              <a:t> </a:t>
            </a:r>
            <a:r>
              <a:rPr lang="sv-SE" dirty="0" err="1"/>
              <a:t>will</a:t>
            </a:r>
            <a:r>
              <a:rPr lang="sv-SE" dirty="0"/>
              <a:t> </a:t>
            </a:r>
            <a:r>
              <a:rPr lang="sv-SE" dirty="0" err="1"/>
              <a:t>always</a:t>
            </a:r>
            <a:r>
              <a:rPr lang="sv-SE" dirty="0"/>
              <a:t> be </a:t>
            </a:r>
            <a:r>
              <a:rPr lang="sv-SE" dirty="0" err="1"/>
              <a:t>normally</a:t>
            </a:r>
            <a:r>
              <a:rPr lang="sv-SE" dirty="0"/>
              <a:t> </a:t>
            </a:r>
            <a:r>
              <a:rPr lang="sv-SE" dirty="0" err="1"/>
              <a:t>distributed</a:t>
            </a:r>
            <a:r>
              <a:rPr lang="sv-SE" dirty="0"/>
              <a:t> </a:t>
            </a:r>
            <a:r>
              <a:rPr lang="sv-SE" dirty="0" err="1"/>
              <a:t>around</a:t>
            </a:r>
            <a:r>
              <a:rPr lang="sv-SE" dirty="0"/>
              <a:t> the </a:t>
            </a:r>
            <a:r>
              <a:rPr lang="sv-SE" dirty="0" err="1"/>
              <a:t>true</a:t>
            </a:r>
            <a:r>
              <a:rPr lang="sv-SE" dirty="0"/>
              <a:t> </a:t>
            </a:r>
            <a:r>
              <a:rPr lang="sv-SE" dirty="0" err="1"/>
              <a:t>value</a:t>
            </a:r>
            <a:r>
              <a:rPr lang="sv-SE" dirty="0"/>
              <a:t>, </a:t>
            </a:r>
            <a:r>
              <a:rPr lang="sv-SE" dirty="0" err="1"/>
              <a:t>with</a:t>
            </a:r>
            <a:r>
              <a:rPr lang="sv-SE" dirty="0"/>
              <a:t> the parameters </a:t>
            </a:r>
            <a:r>
              <a:rPr lang="sv-SE" dirty="0" err="1"/>
              <a:t>underlying</a:t>
            </a:r>
            <a:r>
              <a:rPr lang="sv-SE" dirty="0"/>
              <a:t> </a:t>
            </a:r>
            <a:r>
              <a:rPr lang="sv-SE" dirty="0" err="1"/>
              <a:t>variance</a:t>
            </a:r>
            <a:r>
              <a:rPr lang="sv-SE" dirty="0"/>
              <a:t>.</a:t>
            </a:r>
          </a:p>
          <a:p>
            <a:r>
              <a:rPr lang="sv-SE" dirty="0"/>
              <a:t>So </a:t>
            </a:r>
            <a:r>
              <a:rPr lang="sv-SE" dirty="0" err="1"/>
              <a:t>returning</a:t>
            </a:r>
            <a:r>
              <a:rPr lang="sv-SE" dirty="0"/>
              <a:t> to </a:t>
            </a:r>
            <a:r>
              <a:rPr lang="sv-SE" dirty="0" err="1"/>
              <a:t>our</a:t>
            </a:r>
            <a:r>
              <a:rPr lang="sv-SE" dirty="0"/>
              <a:t> </a:t>
            </a:r>
            <a:r>
              <a:rPr lang="sv-SE" dirty="0" err="1"/>
              <a:t>ruler</a:t>
            </a:r>
            <a:r>
              <a:rPr lang="sv-SE" dirty="0"/>
              <a:t> </a:t>
            </a:r>
            <a:r>
              <a:rPr lang="sv-SE" dirty="0" err="1"/>
              <a:t>example</a:t>
            </a:r>
            <a:r>
              <a:rPr lang="sv-SE" dirty="0"/>
              <a:t>, </a:t>
            </a:r>
            <a:r>
              <a:rPr lang="sv-SE" dirty="0" err="1"/>
              <a:t>if</a:t>
            </a:r>
            <a:r>
              <a:rPr lang="sv-SE" dirty="0"/>
              <a:t> </a:t>
            </a:r>
            <a:r>
              <a:rPr lang="sv-SE" dirty="0" err="1"/>
              <a:t>we</a:t>
            </a:r>
            <a:r>
              <a:rPr lang="sv-SE" dirty="0"/>
              <a:t> </a:t>
            </a:r>
            <a:r>
              <a:rPr lang="sv-SE" dirty="0" err="1"/>
              <a:t>measure</a:t>
            </a:r>
            <a:r>
              <a:rPr lang="sv-SE" dirty="0"/>
              <a:t> the </a:t>
            </a:r>
            <a:r>
              <a:rPr lang="sv-SE" dirty="0" err="1"/>
              <a:t>length</a:t>
            </a:r>
            <a:r>
              <a:rPr lang="sv-SE" dirty="0"/>
              <a:t> 10 </a:t>
            </a:r>
            <a:r>
              <a:rPr lang="sv-SE" dirty="0" err="1"/>
              <a:t>times</a:t>
            </a:r>
            <a:r>
              <a:rPr lang="sv-SE" dirty="0"/>
              <a:t> and </a:t>
            </a:r>
            <a:r>
              <a:rPr lang="sv-SE" dirty="0" err="1"/>
              <a:t>take</a:t>
            </a:r>
            <a:r>
              <a:rPr lang="sv-SE" dirty="0"/>
              <a:t> the </a:t>
            </a:r>
            <a:r>
              <a:rPr lang="sv-SE" dirty="0" err="1"/>
              <a:t>average</a:t>
            </a:r>
            <a:r>
              <a:rPr lang="sv-SE" dirty="0"/>
              <a:t>, and do </a:t>
            </a:r>
            <a:r>
              <a:rPr lang="sv-SE" dirty="0" err="1"/>
              <a:t>this</a:t>
            </a:r>
            <a:r>
              <a:rPr lang="sv-SE" dirty="0"/>
              <a:t> </a:t>
            </a:r>
            <a:r>
              <a:rPr lang="sv-SE" dirty="0" err="1"/>
              <a:t>repeatedly</a:t>
            </a:r>
            <a:r>
              <a:rPr lang="sv-SE" dirty="0"/>
              <a:t> </a:t>
            </a:r>
            <a:r>
              <a:rPr lang="sv-SE" dirty="0" err="1"/>
              <a:t>many</a:t>
            </a:r>
            <a:r>
              <a:rPr lang="sv-SE" dirty="0"/>
              <a:t> </a:t>
            </a:r>
            <a:r>
              <a:rPr lang="sv-SE" dirty="0" err="1"/>
              <a:t>times</a:t>
            </a:r>
            <a:r>
              <a:rPr lang="sv-SE" dirty="0"/>
              <a:t>, all </a:t>
            </a:r>
            <a:r>
              <a:rPr lang="sv-SE" dirty="0" err="1"/>
              <a:t>these</a:t>
            </a:r>
            <a:r>
              <a:rPr lang="sv-SE" dirty="0"/>
              <a:t> </a:t>
            </a:r>
            <a:r>
              <a:rPr lang="sv-SE" dirty="0" err="1"/>
              <a:t>averages</a:t>
            </a:r>
            <a:r>
              <a:rPr lang="sv-SE" dirty="0"/>
              <a:t> </a:t>
            </a:r>
            <a:r>
              <a:rPr lang="sv-SE" dirty="0" err="1"/>
              <a:t>will</a:t>
            </a:r>
            <a:r>
              <a:rPr lang="sv-SE" dirty="0"/>
              <a:t> form a normal distribution </a:t>
            </a:r>
            <a:r>
              <a:rPr lang="sv-SE" dirty="0" err="1"/>
              <a:t>around</a:t>
            </a:r>
            <a:r>
              <a:rPr lang="sv-SE" dirty="0"/>
              <a:t> </a:t>
            </a:r>
            <a:r>
              <a:rPr lang="sv-SE" dirty="0" err="1"/>
              <a:t>our</a:t>
            </a:r>
            <a:r>
              <a:rPr lang="sv-SE" dirty="0"/>
              <a:t> best </a:t>
            </a:r>
            <a:r>
              <a:rPr lang="sv-SE" dirty="0" err="1"/>
              <a:t>guess</a:t>
            </a:r>
            <a:r>
              <a:rPr lang="sv-SE" dirty="0"/>
              <a:t>, </a:t>
            </a:r>
            <a:r>
              <a:rPr lang="sv-SE" dirty="0" err="1"/>
              <a:t>assuming</a:t>
            </a:r>
            <a:r>
              <a:rPr lang="sv-SE" dirty="0"/>
              <a:t> </a:t>
            </a:r>
            <a:r>
              <a:rPr lang="sv-SE" dirty="0" err="1"/>
              <a:t>our</a:t>
            </a:r>
            <a:r>
              <a:rPr lang="sv-SE" dirty="0"/>
              <a:t> </a:t>
            </a:r>
            <a:r>
              <a:rPr lang="sv-SE" dirty="0" err="1"/>
              <a:t>measurements</a:t>
            </a:r>
            <a:r>
              <a:rPr lang="sv-SE" dirty="0"/>
              <a:t> </a:t>
            </a:r>
            <a:r>
              <a:rPr lang="sv-SE" dirty="0" err="1"/>
              <a:t>are</a:t>
            </a:r>
            <a:r>
              <a:rPr lang="sv-SE" dirty="0"/>
              <a:t> independent </a:t>
            </a:r>
            <a:r>
              <a:rPr lang="sv-SE" dirty="0" err="1"/>
              <a:t>of</a:t>
            </a:r>
            <a:r>
              <a:rPr lang="sv-SE" dirty="0"/>
              <a:t> </a:t>
            </a:r>
            <a:r>
              <a:rPr lang="sv-SE" dirty="0" err="1"/>
              <a:t>each</a:t>
            </a:r>
            <a:r>
              <a:rPr lang="sv-SE" dirty="0"/>
              <a:t> </a:t>
            </a:r>
            <a:r>
              <a:rPr lang="sv-SE" dirty="0" err="1"/>
              <a:t>other</a:t>
            </a:r>
            <a:r>
              <a:rPr lang="sv-SE" dirty="0"/>
              <a:t>.</a:t>
            </a:r>
          </a:p>
          <a:p>
            <a:r>
              <a:rPr lang="sv-SE" dirty="0" err="1"/>
              <a:t>This</a:t>
            </a:r>
            <a:r>
              <a:rPr lang="sv-SE" dirty="0"/>
              <a:t> </a:t>
            </a:r>
            <a:r>
              <a:rPr lang="sv-SE" dirty="0" err="1"/>
              <a:t>might</a:t>
            </a:r>
            <a:r>
              <a:rPr lang="sv-SE" dirty="0"/>
              <a:t> sound a </a:t>
            </a:r>
            <a:r>
              <a:rPr lang="sv-SE" dirty="0" err="1"/>
              <a:t>little</a:t>
            </a:r>
            <a:r>
              <a:rPr lang="sv-SE" dirty="0"/>
              <a:t> </a:t>
            </a:r>
            <a:r>
              <a:rPr lang="sv-SE" dirty="0" err="1"/>
              <a:t>confusing</a:t>
            </a:r>
            <a:r>
              <a:rPr lang="sv-SE" dirty="0"/>
              <a:t>, </a:t>
            </a:r>
            <a:r>
              <a:rPr lang="sv-SE" dirty="0" err="1"/>
              <a:t>connived</a:t>
            </a:r>
            <a:r>
              <a:rPr lang="sv-SE" dirty="0"/>
              <a:t> and </a:t>
            </a:r>
            <a:r>
              <a:rPr lang="sv-SE" dirty="0" err="1"/>
              <a:t>unusable</a:t>
            </a:r>
            <a:r>
              <a:rPr lang="sv-SE" dirty="0"/>
              <a:t> at </a:t>
            </a:r>
            <a:r>
              <a:rPr lang="sv-SE" dirty="0" err="1"/>
              <a:t>first</a:t>
            </a:r>
            <a:r>
              <a:rPr lang="sv-SE" dirty="0"/>
              <a:t>, </a:t>
            </a:r>
            <a:r>
              <a:rPr lang="sv-SE" dirty="0" err="1"/>
              <a:t>but</a:t>
            </a:r>
            <a:r>
              <a:rPr lang="sv-SE" dirty="0"/>
              <a:t> </a:t>
            </a:r>
            <a:r>
              <a:rPr lang="sv-SE" dirty="0" err="1"/>
              <a:t>if</a:t>
            </a:r>
            <a:r>
              <a:rPr lang="sv-SE" dirty="0"/>
              <a:t> </a:t>
            </a:r>
            <a:r>
              <a:rPr lang="sv-SE" dirty="0" err="1"/>
              <a:t>you</a:t>
            </a:r>
            <a:r>
              <a:rPr lang="sv-SE" dirty="0"/>
              <a:t> </a:t>
            </a:r>
            <a:r>
              <a:rPr lang="sv-SE" dirty="0" err="1"/>
              <a:t>imagine</a:t>
            </a:r>
            <a:r>
              <a:rPr lang="sv-SE" dirty="0"/>
              <a:t> </a:t>
            </a:r>
            <a:r>
              <a:rPr lang="sv-SE" dirty="0" err="1"/>
              <a:t>that</a:t>
            </a:r>
            <a:r>
              <a:rPr lang="sv-SE" dirty="0"/>
              <a:t> </a:t>
            </a:r>
            <a:r>
              <a:rPr lang="sv-SE" dirty="0" err="1"/>
              <a:t>your</a:t>
            </a:r>
            <a:r>
              <a:rPr lang="sv-SE" dirty="0"/>
              <a:t> neutron </a:t>
            </a:r>
            <a:r>
              <a:rPr lang="sv-SE" dirty="0" err="1"/>
              <a:t>detectors</a:t>
            </a:r>
            <a:r>
              <a:rPr lang="sv-SE" dirty="0"/>
              <a:t> is </a:t>
            </a:r>
            <a:r>
              <a:rPr lang="sv-SE" dirty="0" err="1"/>
              <a:t>essentially</a:t>
            </a:r>
            <a:r>
              <a:rPr lang="sv-SE" dirty="0"/>
              <a:t> </a:t>
            </a:r>
            <a:r>
              <a:rPr lang="sv-SE" dirty="0" err="1"/>
              <a:t>performing</a:t>
            </a:r>
            <a:r>
              <a:rPr lang="sv-SE" dirty="0"/>
              <a:t> a ”</a:t>
            </a:r>
            <a:r>
              <a:rPr lang="sv-SE" dirty="0" err="1"/>
              <a:t>measurement</a:t>
            </a:r>
            <a:r>
              <a:rPr lang="sv-SE" dirty="0"/>
              <a:t>” </a:t>
            </a:r>
            <a:r>
              <a:rPr lang="sv-SE" dirty="0" err="1"/>
              <a:t>every</a:t>
            </a:r>
            <a:r>
              <a:rPr lang="sv-SE" dirty="0"/>
              <a:t> </a:t>
            </a:r>
            <a:r>
              <a:rPr lang="sv-SE" dirty="0" err="1"/>
              <a:t>few</a:t>
            </a:r>
            <a:r>
              <a:rPr lang="sv-SE" dirty="0"/>
              <a:t> </a:t>
            </a:r>
            <a:r>
              <a:rPr lang="sv-SE" dirty="0" err="1"/>
              <a:t>nanoseconds</a:t>
            </a:r>
            <a:r>
              <a:rPr lang="sv-SE" dirty="0"/>
              <a:t>, </a:t>
            </a:r>
            <a:r>
              <a:rPr lang="sv-SE" dirty="0" err="1"/>
              <a:t>that</a:t>
            </a:r>
            <a:r>
              <a:rPr lang="sv-SE" dirty="0"/>
              <a:t> </a:t>
            </a:r>
            <a:r>
              <a:rPr lang="sv-SE" dirty="0" err="1"/>
              <a:t>means</a:t>
            </a:r>
            <a:r>
              <a:rPr lang="sv-SE" dirty="0"/>
              <a:t> </a:t>
            </a:r>
            <a:r>
              <a:rPr lang="sv-SE" dirty="0" err="1"/>
              <a:t>that</a:t>
            </a:r>
            <a:r>
              <a:rPr lang="sv-SE" dirty="0"/>
              <a:t> </a:t>
            </a:r>
            <a:r>
              <a:rPr lang="sv-SE" dirty="0" err="1"/>
              <a:t>your</a:t>
            </a:r>
            <a:r>
              <a:rPr lang="sv-SE" dirty="0"/>
              <a:t> </a:t>
            </a:r>
            <a:r>
              <a:rPr lang="sv-SE" dirty="0" err="1"/>
              <a:t>detector</a:t>
            </a:r>
            <a:r>
              <a:rPr lang="sv-SE" dirty="0"/>
              <a:t> </a:t>
            </a:r>
            <a:r>
              <a:rPr lang="sv-SE" dirty="0" err="1"/>
              <a:t>counts</a:t>
            </a:r>
            <a:r>
              <a:rPr lang="sv-SE" dirty="0"/>
              <a:t> </a:t>
            </a:r>
            <a:r>
              <a:rPr lang="sv-SE" dirty="0" err="1"/>
              <a:t>will</a:t>
            </a:r>
            <a:r>
              <a:rPr lang="sv-SE" dirty="0"/>
              <a:t> be </a:t>
            </a:r>
            <a:r>
              <a:rPr lang="sv-SE" dirty="0" err="1"/>
              <a:t>normally</a:t>
            </a:r>
            <a:r>
              <a:rPr lang="sv-SE" dirty="0"/>
              <a:t> </a:t>
            </a:r>
            <a:r>
              <a:rPr lang="sv-SE" dirty="0" err="1"/>
              <a:t>distributed</a:t>
            </a:r>
            <a:r>
              <a:rPr lang="sv-SE" dirty="0"/>
              <a:t>, as </a:t>
            </a:r>
            <a:r>
              <a:rPr lang="sv-SE" dirty="0" err="1"/>
              <a:t>you</a:t>
            </a:r>
            <a:r>
              <a:rPr lang="sv-SE" dirty="0"/>
              <a:t> </a:t>
            </a:r>
            <a:r>
              <a:rPr lang="sv-SE" dirty="0" err="1"/>
              <a:t>will</a:t>
            </a:r>
            <a:r>
              <a:rPr lang="sv-SE" dirty="0"/>
              <a:t> </a:t>
            </a:r>
            <a:r>
              <a:rPr lang="sv-SE" dirty="0" err="1"/>
              <a:t>see</a:t>
            </a:r>
            <a:r>
              <a:rPr lang="sv-SE" dirty="0"/>
              <a:t> in a second.</a:t>
            </a:r>
          </a:p>
          <a:p>
            <a:r>
              <a:rPr lang="sv-SE" dirty="0"/>
              <a:t>So </a:t>
            </a:r>
            <a:r>
              <a:rPr lang="sv-SE" dirty="0" err="1"/>
              <a:t>when</a:t>
            </a:r>
            <a:r>
              <a:rPr lang="sv-SE" dirty="0"/>
              <a:t> </a:t>
            </a:r>
            <a:r>
              <a:rPr lang="sv-SE" dirty="0" err="1"/>
              <a:t>we</a:t>
            </a:r>
            <a:r>
              <a:rPr lang="sv-SE" dirty="0"/>
              <a:t> </a:t>
            </a:r>
            <a:r>
              <a:rPr lang="sv-SE" dirty="0" err="1"/>
              <a:t>write</a:t>
            </a:r>
            <a:r>
              <a:rPr lang="sv-SE" dirty="0"/>
              <a:t> </a:t>
            </a:r>
            <a:r>
              <a:rPr lang="sv-SE" dirty="0" err="1"/>
              <a:t>our</a:t>
            </a:r>
            <a:r>
              <a:rPr lang="sv-SE" dirty="0"/>
              <a:t> </a:t>
            </a:r>
            <a:r>
              <a:rPr lang="sv-SE" dirty="0" err="1"/>
              <a:t>uncertainty</a:t>
            </a:r>
            <a:r>
              <a:rPr lang="sv-SE" dirty="0"/>
              <a:t>, </a:t>
            </a:r>
            <a:r>
              <a:rPr lang="sv-SE" dirty="0" err="1"/>
              <a:t>what</a:t>
            </a:r>
            <a:r>
              <a:rPr lang="sv-SE" dirty="0"/>
              <a:t> </a:t>
            </a:r>
            <a:r>
              <a:rPr lang="sv-SE" dirty="0" err="1"/>
              <a:t>does</a:t>
            </a:r>
            <a:r>
              <a:rPr lang="sv-SE" dirty="0"/>
              <a:t> the plus/minus </a:t>
            </a:r>
            <a:r>
              <a:rPr lang="sv-SE" dirty="0" err="1"/>
              <a:t>sign</a:t>
            </a:r>
            <a:r>
              <a:rPr lang="sv-SE" dirty="0"/>
              <a:t> </a:t>
            </a:r>
            <a:r>
              <a:rPr lang="sv-SE" dirty="0" err="1"/>
              <a:t>mean</a:t>
            </a:r>
            <a:r>
              <a:rPr lang="sv-SE" dirty="0"/>
              <a:t> </a:t>
            </a:r>
            <a:r>
              <a:rPr lang="sv-SE" dirty="0" err="1"/>
              <a:t>now</a:t>
            </a:r>
            <a:r>
              <a:rPr lang="sv-SE" dirty="0"/>
              <a:t>, </a:t>
            </a:r>
            <a:r>
              <a:rPr lang="sv-SE" dirty="0" err="1"/>
              <a:t>that</a:t>
            </a:r>
            <a:r>
              <a:rPr lang="sv-SE" dirty="0"/>
              <a:t> </a:t>
            </a:r>
            <a:r>
              <a:rPr lang="sv-SE" dirty="0" err="1"/>
              <a:t>we</a:t>
            </a:r>
            <a:r>
              <a:rPr lang="sv-SE" dirty="0"/>
              <a:t> </a:t>
            </a:r>
            <a:r>
              <a:rPr lang="sv-SE" dirty="0" err="1"/>
              <a:t>use</a:t>
            </a:r>
            <a:r>
              <a:rPr lang="sv-SE" dirty="0"/>
              <a:t> a normal distribution? The distribution has no ”end” or ”start”, the </a:t>
            </a:r>
            <a:r>
              <a:rPr lang="sv-SE" dirty="0" err="1"/>
              <a:t>tails</a:t>
            </a:r>
            <a:r>
              <a:rPr lang="sv-SE" dirty="0"/>
              <a:t> </a:t>
            </a:r>
            <a:r>
              <a:rPr lang="sv-SE" dirty="0" err="1"/>
              <a:t>extend</a:t>
            </a:r>
            <a:r>
              <a:rPr lang="sv-SE" dirty="0"/>
              <a:t> to </a:t>
            </a:r>
            <a:r>
              <a:rPr lang="sv-SE" dirty="0" err="1"/>
              <a:t>infinity</a:t>
            </a:r>
            <a:r>
              <a:rPr lang="sv-SE" dirty="0"/>
              <a:t>.</a:t>
            </a:r>
          </a:p>
        </p:txBody>
      </p:sp>
      <p:sp>
        <p:nvSpPr>
          <p:cNvPr id="4" name="Slide Number Placeholder 3">
            <a:extLst>
              <a:ext uri="{FF2B5EF4-FFF2-40B4-BE49-F238E27FC236}">
                <a16:creationId xmlns:a16="http://schemas.microsoft.com/office/drawing/2014/main" id="{F16CEB51-7FE6-9A54-759A-525BE974E986}"/>
              </a:ext>
            </a:extLst>
          </p:cNvPr>
          <p:cNvSpPr>
            <a:spLocks noGrp="1"/>
          </p:cNvSpPr>
          <p:nvPr>
            <p:ph type="sldNum" sz="quarter" idx="5"/>
          </p:nvPr>
        </p:nvSpPr>
        <p:spPr/>
        <p:txBody>
          <a:bodyPr/>
          <a:lstStyle/>
          <a:p>
            <a:fld id="{3AE5A434-646A-2746-9BDC-885B2382B33E}" type="slidenum">
              <a:rPr lang="sv-SE" smtClean="0"/>
              <a:t>12</a:t>
            </a:fld>
            <a:endParaRPr lang="sv-SE"/>
          </a:p>
        </p:txBody>
      </p:sp>
    </p:spTree>
    <p:extLst>
      <p:ext uri="{BB962C8B-B14F-4D97-AF65-F5344CB8AC3E}">
        <p14:creationId xmlns:p14="http://schemas.microsoft.com/office/powerpoint/2010/main" val="529299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133B7-EF34-5BA6-D079-F20680DD8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B3632-F99E-2E97-6DFA-A1E75698C34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416A60D-E8CA-9D39-FB14-EF1F21BDC63C}"/>
              </a:ext>
            </a:extLst>
          </p:cNvPr>
          <p:cNvSpPr>
            <a:spLocks noGrp="1"/>
          </p:cNvSpPr>
          <p:nvPr>
            <p:ph type="body" idx="1"/>
          </p:nvPr>
        </p:nvSpPr>
        <p:spPr/>
        <p:txBody>
          <a:bodyPr/>
          <a:lstStyle/>
          <a:p>
            <a:r>
              <a:rPr lang="sv-SE" dirty="0" err="1"/>
              <a:t>Here</a:t>
            </a:r>
            <a:r>
              <a:rPr lang="sv-SE" dirty="0"/>
              <a:t> is the </a:t>
            </a:r>
            <a:r>
              <a:rPr lang="sv-SE" dirty="0" err="1"/>
              <a:t>formula</a:t>
            </a:r>
            <a:r>
              <a:rPr lang="sv-SE" dirty="0"/>
              <a:t> for the normal distribution, </a:t>
            </a:r>
            <a:r>
              <a:rPr lang="sv-SE" dirty="0" err="1"/>
              <a:t>which</a:t>
            </a:r>
            <a:r>
              <a:rPr lang="sv-SE" dirty="0"/>
              <a:t> gives the </a:t>
            </a:r>
            <a:r>
              <a:rPr lang="sv-SE" dirty="0" err="1"/>
              <a:t>likelihood</a:t>
            </a:r>
            <a:r>
              <a:rPr lang="sv-SE" dirty="0"/>
              <a:t> </a:t>
            </a:r>
            <a:r>
              <a:rPr lang="sv-SE" dirty="0" err="1"/>
              <a:t>of</a:t>
            </a:r>
            <a:r>
              <a:rPr lang="sv-SE" dirty="0"/>
              <a:t> </a:t>
            </a:r>
            <a:r>
              <a:rPr lang="sv-SE" dirty="0" err="1"/>
              <a:t>getting</a:t>
            </a:r>
            <a:r>
              <a:rPr lang="sv-SE" dirty="0"/>
              <a:t> a </a:t>
            </a:r>
            <a:r>
              <a:rPr lang="sv-SE" dirty="0" err="1"/>
              <a:t>specific</a:t>
            </a:r>
            <a:r>
              <a:rPr lang="sv-SE" dirty="0"/>
              <a:t> </a:t>
            </a:r>
            <a:r>
              <a:rPr lang="sv-SE" dirty="0" err="1"/>
              <a:t>measurement</a:t>
            </a:r>
            <a:r>
              <a:rPr lang="sv-SE" dirty="0"/>
              <a:t>. </a:t>
            </a:r>
          </a:p>
          <a:p>
            <a:r>
              <a:rPr lang="sv-SE" dirty="0"/>
              <a:t>When </a:t>
            </a:r>
            <a:r>
              <a:rPr lang="sv-SE" dirty="0" err="1"/>
              <a:t>we</a:t>
            </a:r>
            <a:r>
              <a:rPr lang="sv-SE" dirty="0"/>
              <a:t> </a:t>
            </a:r>
            <a:r>
              <a:rPr lang="sv-SE" dirty="0" err="1"/>
              <a:t>write</a:t>
            </a:r>
            <a:r>
              <a:rPr lang="sv-SE" dirty="0"/>
              <a:t> a </a:t>
            </a:r>
            <a:r>
              <a:rPr lang="sv-SE" dirty="0" err="1"/>
              <a:t>number</a:t>
            </a:r>
            <a:r>
              <a:rPr lang="sv-SE" dirty="0"/>
              <a:t>, </a:t>
            </a:r>
            <a:r>
              <a:rPr lang="sv-SE" dirty="0" err="1"/>
              <a:t>our</a:t>
            </a:r>
            <a:r>
              <a:rPr lang="sv-SE" dirty="0"/>
              <a:t> best </a:t>
            </a:r>
            <a:r>
              <a:rPr lang="sv-SE" dirty="0" err="1"/>
              <a:t>estimate</a:t>
            </a:r>
            <a:r>
              <a:rPr lang="sv-SE" dirty="0"/>
              <a:t> </a:t>
            </a:r>
            <a:r>
              <a:rPr lang="sv-SE" dirty="0" err="1"/>
              <a:t>of</a:t>
            </a:r>
            <a:r>
              <a:rPr lang="sv-SE" dirty="0"/>
              <a:t> </a:t>
            </a:r>
            <a:r>
              <a:rPr lang="sv-SE" dirty="0" err="1"/>
              <a:t>its</a:t>
            </a:r>
            <a:r>
              <a:rPr lang="sv-SE" dirty="0"/>
              <a:t> </a:t>
            </a:r>
            <a:r>
              <a:rPr lang="sv-SE" dirty="0" err="1"/>
              <a:t>value</a:t>
            </a:r>
            <a:r>
              <a:rPr lang="sv-SE" dirty="0"/>
              <a:t> is the </a:t>
            </a:r>
            <a:r>
              <a:rPr lang="sv-SE" dirty="0" err="1"/>
              <a:t>mean</a:t>
            </a:r>
            <a:r>
              <a:rPr lang="sv-SE" dirty="0"/>
              <a:t> </a:t>
            </a:r>
            <a:r>
              <a:rPr lang="sv-SE" dirty="0" err="1"/>
              <a:t>of</a:t>
            </a:r>
            <a:r>
              <a:rPr lang="sv-SE" dirty="0"/>
              <a:t> the normal distribution, given by mu and the </a:t>
            </a:r>
            <a:r>
              <a:rPr lang="sv-SE" dirty="0" err="1"/>
              <a:t>uncertainty</a:t>
            </a:r>
            <a:r>
              <a:rPr lang="sv-SE" dirty="0"/>
              <a:t> is the standard deviation, given by sigma </a:t>
            </a:r>
            <a:r>
              <a:rPr lang="sv-SE" dirty="0" err="1"/>
              <a:t>here</a:t>
            </a:r>
            <a:r>
              <a:rPr lang="sv-SE" dirty="0"/>
              <a:t>.</a:t>
            </a:r>
          </a:p>
          <a:p>
            <a:r>
              <a:rPr lang="sv-SE" dirty="0"/>
              <a:t>The </a:t>
            </a:r>
            <a:r>
              <a:rPr lang="sv-SE" dirty="0" err="1"/>
              <a:t>uncertainty</a:t>
            </a:r>
            <a:r>
              <a:rPr lang="sv-SE" dirty="0"/>
              <a:t> no </a:t>
            </a:r>
            <a:r>
              <a:rPr lang="sv-SE" dirty="0" err="1"/>
              <a:t>longer</a:t>
            </a:r>
            <a:r>
              <a:rPr lang="sv-SE" dirty="0"/>
              <a:t> </a:t>
            </a:r>
            <a:r>
              <a:rPr lang="sv-SE" dirty="0" err="1"/>
              <a:t>tells</a:t>
            </a:r>
            <a:r>
              <a:rPr lang="sv-SE" dirty="0"/>
              <a:t> </a:t>
            </a:r>
            <a:r>
              <a:rPr lang="sv-SE" dirty="0" err="1"/>
              <a:t>us</a:t>
            </a:r>
            <a:r>
              <a:rPr lang="sv-SE" dirty="0"/>
              <a:t> </a:t>
            </a:r>
            <a:r>
              <a:rPr lang="sv-SE" dirty="0" err="1"/>
              <a:t>that</a:t>
            </a:r>
            <a:r>
              <a:rPr lang="sv-SE" dirty="0"/>
              <a:t> </a:t>
            </a:r>
            <a:r>
              <a:rPr lang="sv-SE" dirty="0" err="1"/>
              <a:t>we</a:t>
            </a:r>
            <a:r>
              <a:rPr lang="sv-SE" dirty="0"/>
              <a:t> KNOW the </a:t>
            </a:r>
            <a:r>
              <a:rPr lang="sv-SE" dirty="0" err="1"/>
              <a:t>true</a:t>
            </a:r>
            <a:r>
              <a:rPr lang="sv-SE" dirty="0"/>
              <a:t> </a:t>
            </a:r>
            <a:r>
              <a:rPr lang="sv-SE" dirty="0" err="1"/>
              <a:t>value</a:t>
            </a:r>
            <a:r>
              <a:rPr lang="sv-SE" dirty="0"/>
              <a:t> is </a:t>
            </a:r>
            <a:r>
              <a:rPr lang="sv-SE" dirty="0" err="1"/>
              <a:t>within</a:t>
            </a:r>
            <a:r>
              <a:rPr lang="sv-SE" dirty="0"/>
              <a:t> plus minus </a:t>
            </a:r>
            <a:r>
              <a:rPr lang="sv-SE" dirty="0" err="1"/>
              <a:t>this</a:t>
            </a:r>
            <a:r>
              <a:rPr lang="sv-SE" dirty="0"/>
              <a:t> </a:t>
            </a:r>
            <a:r>
              <a:rPr lang="sv-SE" dirty="0" err="1"/>
              <a:t>value</a:t>
            </a:r>
            <a:r>
              <a:rPr lang="sv-SE" dirty="0"/>
              <a:t>, </a:t>
            </a:r>
            <a:r>
              <a:rPr lang="sv-SE" dirty="0" err="1"/>
              <a:t>instead</a:t>
            </a:r>
            <a:r>
              <a:rPr lang="sv-SE" dirty="0"/>
              <a:t> it </a:t>
            </a:r>
            <a:r>
              <a:rPr lang="sv-SE" dirty="0" err="1"/>
              <a:t>tells</a:t>
            </a:r>
            <a:r>
              <a:rPr lang="sv-SE" dirty="0"/>
              <a:t> </a:t>
            </a:r>
            <a:r>
              <a:rPr lang="sv-SE" dirty="0" err="1"/>
              <a:t>us</a:t>
            </a:r>
            <a:r>
              <a:rPr lang="sv-SE" dirty="0"/>
              <a:t> </a:t>
            </a:r>
            <a:r>
              <a:rPr lang="sv-SE" dirty="0" err="1"/>
              <a:t>that</a:t>
            </a:r>
            <a:r>
              <a:rPr lang="sv-SE" dirty="0"/>
              <a:t> </a:t>
            </a:r>
            <a:r>
              <a:rPr lang="sv-SE" dirty="0" err="1"/>
              <a:t>we</a:t>
            </a:r>
            <a:r>
              <a:rPr lang="sv-SE" dirty="0"/>
              <a:t> </a:t>
            </a:r>
            <a:r>
              <a:rPr lang="sv-SE" dirty="0" err="1"/>
              <a:t>are</a:t>
            </a:r>
            <a:r>
              <a:rPr lang="sv-SE" dirty="0"/>
              <a:t> 68% </a:t>
            </a:r>
            <a:r>
              <a:rPr lang="sv-SE" dirty="0" err="1"/>
              <a:t>certain</a:t>
            </a:r>
            <a:r>
              <a:rPr lang="sv-SE" dirty="0"/>
              <a:t> </a:t>
            </a:r>
            <a:r>
              <a:rPr lang="sv-SE" dirty="0" err="1"/>
              <a:t>of</a:t>
            </a:r>
            <a:r>
              <a:rPr lang="sv-SE" dirty="0"/>
              <a:t> it.</a:t>
            </a:r>
          </a:p>
        </p:txBody>
      </p:sp>
      <p:sp>
        <p:nvSpPr>
          <p:cNvPr id="4" name="Slide Number Placeholder 3">
            <a:extLst>
              <a:ext uri="{FF2B5EF4-FFF2-40B4-BE49-F238E27FC236}">
                <a16:creationId xmlns:a16="http://schemas.microsoft.com/office/drawing/2014/main" id="{FD68AACA-45C1-07CF-E474-4945B5B924F9}"/>
              </a:ext>
            </a:extLst>
          </p:cNvPr>
          <p:cNvSpPr>
            <a:spLocks noGrp="1"/>
          </p:cNvSpPr>
          <p:nvPr>
            <p:ph type="sldNum" sz="quarter" idx="5"/>
          </p:nvPr>
        </p:nvSpPr>
        <p:spPr/>
        <p:txBody>
          <a:bodyPr/>
          <a:lstStyle/>
          <a:p>
            <a:fld id="{3AE5A434-646A-2746-9BDC-885B2382B33E}" type="slidenum">
              <a:rPr lang="sv-SE" smtClean="0"/>
              <a:t>13</a:t>
            </a:fld>
            <a:endParaRPr lang="sv-SE"/>
          </a:p>
        </p:txBody>
      </p:sp>
    </p:spTree>
    <p:extLst>
      <p:ext uri="{BB962C8B-B14F-4D97-AF65-F5344CB8AC3E}">
        <p14:creationId xmlns:p14="http://schemas.microsoft.com/office/powerpoint/2010/main" val="293119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3CBC6-18BE-6FF8-559F-32596BC77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4CE45-2F59-E5D4-B639-AA29A2E7D69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BBF6EB5-753D-4D14-8C81-208CD0BFB5A0}"/>
              </a:ext>
            </a:extLst>
          </p:cNvPr>
          <p:cNvSpPr>
            <a:spLocks noGrp="1"/>
          </p:cNvSpPr>
          <p:nvPr>
            <p:ph type="body" idx="1"/>
          </p:nvPr>
        </p:nvSpPr>
        <p:spPr/>
        <p:txBody>
          <a:bodyPr/>
          <a:lstStyle/>
          <a:p>
            <a:r>
              <a:rPr lang="sv-SE" dirty="0"/>
              <a:t>As </a:t>
            </a:r>
            <a:r>
              <a:rPr lang="sv-SE" dirty="0" err="1"/>
              <a:t>seen</a:t>
            </a:r>
            <a:r>
              <a:rPr lang="sv-SE" dirty="0"/>
              <a:t> </a:t>
            </a:r>
            <a:r>
              <a:rPr lang="sv-SE" dirty="0" err="1"/>
              <a:t>here</a:t>
            </a:r>
            <a:r>
              <a:rPr lang="sv-SE" dirty="0"/>
              <a:t>, </a:t>
            </a:r>
            <a:r>
              <a:rPr lang="sv-SE" dirty="0" err="1"/>
              <a:t>if</a:t>
            </a:r>
            <a:r>
              <a:rPr lang="sv-SE" dirty="0"/>
              <a:t> </a:t>
            </a:r>
            <a:r>
              <a:rPr lang="sv-SE" dirty="0" err="1"/>
              <a:t>we</a:t>
            </a:r>
            <a:r>
              <a:rPr lang="sv-SE" dirty="0"/>
              <a:t> color </a:t>
            </a:r>
            <a:r>
              <a:rPr lang="sv-SE" dirty="0" err="1"/>
              <a:t>yellow</a:t>
            </a:r>
            <a:r>
              <a:rPr lang="sv-SE" dirty="0"/>
              <a:t> the </a:t>
            </a:r>
            <a:r>
              <a:rPr lang="sv-SE" dirty="0" err="1"/>
              <a:t>mean</a:t>
            </a:r>
            <a:r>
              <a:rPr lang="sv-SE" dirty="0"/>
              <a:t> plus minus 1 standard deviation, </a:t>
            </a:r>
            <a:r>
              <a:rPr lang="sv-SE" dirty="0" err="1"/>
              <a:t>we</a:t>
            </a:r>
            <a:r>
              <a:rPr lang="sv-SE" dirty="0"/>
              <a:t> cover </a:t>
            </a:r>
            <a:r>
              <a:rPr lang="sv-SE" dirty="0" err="1"/>
              <a:t>approximately</a:t>
            </a:r>
            <a:r>
              <a:rPr lang="sv-SE" dirty="0"/>
              <a:t> 68% </a:t>
            </a:r>
            <a:r>
              <a:rPr lang="sv-SE" dirty="0" err="1"/>
              <a:t>of</a:t>
            </a:r>
            <a:r>
              <a:rPr lang="sv-SE" dirty="0"/>
              <a:t> the full distribution.</a:t>
            </a:r>
          </a:p>
        </p:txBody>
      </p:sp>
      <p:sp>
        <p:nvSpPr>
          <p:cNvPr id="4" name="Slide Number Placeholder 3">
            <a:extLst>
              <a:ext uri="{FF2B5EF4-FFF2-40B4-BE49-F238E27FC236}">
                <a16:creationId xmlns:a16="http://schemas.microsoft.com/office/drawing/2014/main" id="{AA4495C9-0F76-5A34-DD5F-79AB17D6E748}"/>
              </a:ext>
            </a:extLst>
          </p:cNvPr>
          <p:cNvSpPr>
            <a:spLocks noGrp="1"/>
          </p:cNvSpPr>
          <p:nvPr>
            <p:ph type="sldNum" sz="quarter" idx="5"/>
          </p:nvPr>
        </p:nvSpPr>
        <p:spPr/>
        <p:txBody>
          <a:bodyPr/>
          <a:lstStyle/>
          <a:p>
            <a:fld id="{3AE5A434-646A-2746-9BDC-885B2382B33E}" type="slidenum">
              <a:rPr lang="sv-SE" smtClean="0"/>
              <a:t>14</a:t>
            </a:fld>
            <a:endParaRPr lang="sv-SE"/>
          </a:p>
        </p:txBody>
      </p:sp>
    </p:spTree>
    <p:extLst>
      <p:ext uri="{BB962C8B-B14F-4D97-AF65-F5344CB8AC3E}">
        <p14:creationId xmlns:p14="http://schemas.microsoft.com/office/powerpoint/2010/main" val="2539840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EA41-0849-FAA2-41F6-4E304FFED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46577-374A-A66B-7168-B92D9574DE4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F81D19C-AF66-2180-8D21-FECF33C33A4C}"/>
              </a:ext>
            </a:extLst>
          </p:cNvPr>
          <p:cNvSpPr>
            <a:spLocks noGrp="1"/>
          </p:cNvSpPr>
          <p:nvPr>
            <p:ph type="body" idx="1"/>
          </p:nvPr>
        </p:nvSpPr>
        <p:spPr/>
        <p:txBody>
          <a:bodyPr/>
          <a:lstStyle/>
          <a:p>
            <a:r>
              <a:rPr lang="sv-SE" dirty="0"/>
              <a:t>If </a:t>
            </a:r>
            <a:r>
              <a:rPr lang="sv-SE" dirty="0" err="1"/>
              <a:t>we</a:t>
            </a:r>
            <a:r>
              <a:rPr lang="sv-SE" dirty="0"/>
              <a:t> </a:t>
            </a:r>
            <a:r>
              <a:rPr lang="sv-SE" dirty="0" err="1"/>
              <a:t>consider</a:t>
            </a:r>
            <a:r>
              <a:rPr lang="sv-SE" dirty="0"/>
              <a:t> plus minus 2 standard deviations, </a:t>
            </a:r>
            <a:r>
              <a:rPr lang="sv-SE" dirty="0" err="1"/>
              <a:t>then</a:t>
            </a:r>
            <a:r>
              <a:rPr lang="sv-SE" dirty="0"/>
              <a:t> </a:t>
            </a:r>
            <a:r>
              <a:rPr lang="sv-SE" dirty="0" err="1"/>
              <a:t>we</a:t>
            </a:r>
            <a:r>
              <a:rPr lang="sv-SE" dirty="0"/>
              <a:t> </a:t>
            </a:r>
            <a:r>
              <a:rPr lang="sv-SE" dirty="0" err="1"/>
              <a:t>can</a:t>
            </a:r>
            <a:r>
              <a:rPr lang="sv-SE" dirty="0"/>
              <a:t> be 95% </a:t>
            </a:r>
            <a:r>
              <a:rPr lang="sv-SE" dirty="0" err="1"/>
              <a:t>certain</a:t>
            </a:r>
            <a:r>
              <a:rPr lang="sv-SE" dirty="0"/>
              <a:t> </a:t>
            </a:r>
            <a:r>
              <a:rPr lang="sv-SE" dirty="0" err="1"/>
              <a:t>that</a:t>
            </a:r>
            <a:r>
              <a:rPr lang="sv-SE" dirty="0"/>
              <a:t> </a:t>
            </a:r>
            <a:r>
              <a:rPr lang="sv-SE" dirty="0" err="1"/>
              <a:t>our</a:t>
            </a:r>
            <a:r>
              <a:rPr lang="sv-SE" dirty="0"/>
              <a:t> </a:t>
            </a:r>
            <a:r>
              <a:rPr lang="sv-SE" dirty="0" err="1"/>
              <a:t>interval</a:t>
            </a:r>
            <a:r>
              <a:rPr lang="sv-SE" dirty="0"/>
              <a:t> </a:t>
            </a:r>
            <a:r>
              <a:rPr lang="sv-SE" dirty="0" err="1"/>
              <a:t>encompasses</a:t>
            </a:r>
            <a:r>
              <a:rPr lang="sv-SE" dirty="0"/>
              <a:t> the </a:t>
            </a:r>
            <a:r>
              <a:rPr lang="sv-SE" dirty="0" err="1"/>
              <a:t>true</a:t>
            </a:r>
            <a:r>
              <a:rPr lang="sv-SE" dirty="0"/>
              <a:t> </a:t>
            </a:r>
            <a:r>
              <a:rPr lang="sv-SE" dirty="0" err="1"/>
              <a:t>value</a:t>
            </a:r>
            <a:r>
              <a:rPr lang="sv-SE" dirty="0"/>
              <a:t>.</a:t>
            </a:r>
          </a:p>
        </p:txBody>
      </p:sp>
      <p:sp>
        <p:nvSpPr>
          <p:cNvPr id="4" name="Slide Number Placeholder 3">
            <a:extLst>
              <a:ext uri="{FF2B5EF4-FFF2-40B4-BE49-F238E27FC236}">
                <a16:creationId xmlns:a16="http://schemas.microsoft.com/office/drawing/2014/main" id="{810281C1-C56F-B094-3CFC-81CFFD0D6F9F}"/>
              </a:ext>
            </a:extLst>
          </p:cNvPr>
          <p:cNvSpPr>
            <a:spLocks noGrp="1"/>
          </p:cNvSpPr>
          <p:nvPr>
            <p:ph type="sldNum" sz="quarter" idx="5"/>
          </p:nvPr>
        </p:nvSpPr>
        <p:spPr/>
        <p:txBody>
          <a:bodyPr/>
          <a:lstStyle/>
          <a:p>
            <a:fld id="{3AE5A434-646A-2746-9BDC-885B2382B33E}" type="slidenum">
              <a:rPr lang="sv-SE" smtClean="0"/>
              <a:t>15</a:t>
            </a:fld>
            <a:endParaRPr lang="sv-SE"/>
          </a:p>
        </p:txBody>
      </p:sp>
    </p:spTree>
    <p:extLst>
      <p:ext uri="{BB962C8B-B14F-4D97-AF65-F5344CB8AC3E}">
        <p14:creationId xmlns:p14="http://schemas.microsoft.com/office/powerpoint/2010/main" val="865135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FD6C0-D63D-64C6-2808-14E396F27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CDB65-6810-3CCC-72C2-6D32B35D9E9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6919F8C-48F3-5BDD-058A-1E1C2B9EA2C9}"/>
              </a:ext>
            </a:extLst>
          </p:cNvPr>
          <p:cNvSpPr>
            <a:spLocks noGrp="1"/>
          </p:cNvSpPr>
          <p:nvPr>
            <p:ph type="body" idx="1"/>
          </p:nvPr>
        </p:nvSpPr>
        <p:spPr/>
        <p:txBody>
          <a:bodyPr/>
          <a:lstStyle/>
          <a:p>
            <a:r>
              <a:rPr lang="sv-SE" dirty="0"/>
              <a:t>And </a:t>
            </a:r>
            <a:r>
              <a:rPr lang="sv-SE" dirty="0" err="1"/>
              <a:t>if</a:t>
            </a:r>
            <a:r>
              <a:rPr lang="sv-SE" dirty="0"/>
              <a:t> </a:t>
            </a:r>
            <a:r>
              <a:rPr lang="sv-SE" dirty="0" err="1"/>
              <a:t>we</a:t>
            </a:r>
            <a:r>
              <a:rPr lang="sv-SE" dirty="0"/>
              <a:t> </a:t>
            </a:r>
            <a:r>
              <a:rPr lang="sv-SE" dirty="0" err="1"/>
              <a:t>use</a:t>
            </a:r>
            <a:r>
              <a:rPr lang="sv-SE" dirty="0"/>
              <a:t> 3 standard deviations, </a:t>
            </a:r>
            <a:r>
              <a:rPr lang="sv-SE" dirty="0" err="1"/>
              <a:t>we</a:t>
            </a:r>
            <a:r>
              <a:rPr lang="sv-SE" dirty="0"/>
              <a:t> </a:t>
            </a:r>
            <a:r>
              <a:rPr lang="sv-SE" dirty="0" err="1"/>
              <a:t>can</a:t>
            </a:r>
            <a:r>
              <a:rPr lang="sv-SE" dirty="0"/>
              <a:t> be 99.7% </a:t>
            </a:r>
            <a:r>
              <a:rPr lang="sv-SE" dirty="0" err="1"/>
              <a:t>certain</a:t>
            </a:r>
            <a:r>
              <a:rPr lang="sv-SE" dirty="0"/>
              <a:t>. </a:t>
            </a:r>
            <a:r>
              <a:rPr lang="sv-SE" dirty="0" err="1"/>
              <a:t>But</a:t>
            </a:r>
            <a:r>
              <a:rPr lang="sv-SE" dirty="0"/>
              <a:t> </a:t>
            </a:r>
            <a:r>
              <a:rPr lang="sv-SE" dirty="0" err="1"/>
              <a:t>we</a:t>
            </a:r>
            <a:r>
              <a:rPr lang="sv-SE" dirty="0"/>
              <a:t> </a:t>
            </a:r>
            <a:r>
              <a:rPr lang="sv-SE" dirty="0" err="1"/>
              <a:t>write</a:t>
            </a:r>
            <a:r>
              <a:rPr lang="sv-SE" dirty="0"/>
              <a:t> plus minus 1 standard deviation </a:t>
            </a:r>
            <a:r>
              <a:rPr lang="sv-SE" dirty="0" err="1"/>
              <a:t>when</a:t>
            </a:r>
            <a:r>
              <a:rPr lang="sv-SE" dirty="0"/>
              <a:t> </a:t>
            </a:r>
            <a:r>
              <a:rPr lang="sv-SE" dirty="0" err="1"/>
              <a:t>we</a:t>
            </a:r>
            <a:r>
              <a:rPr lang="sv-SE" dirty="0"/>
              <a:t> </a:t>
            </a:r>
            <a:r>
              <a:rPr lang="sv-SE" dirty="0" err="1"/>
              <a:t>write</a:t>
            </a:r>
            <a:r>
              <a:rPr lang="sv-SE" dirty="0"/>
              <a:t> the </a:t>
            </a:r>
            <a:r>
              <a:rPr lang="sv-SE" dirty="0" err="1"/>
              <a:t>number</a:t>
            </a:r>
            <a:r>
              <a:rPr lang="sv-SE" dirty="0"/>
              <a:t>, </a:t>
            </a:r>
            <a:r>
              <a:rPr lang="sv-SE" dirty="0" err="1"/>
              <a:t>now</a:t>
            </a:r>
            <a:r>
              <a:rPr lang="sv-SE" dirty="0"/>
              <a:t> </a:t>
            </a:r>
            <a:r>
              <a:rPr lang="sv-SE" dirty="0" err="1"/>
              <a:t>having</a:t>
            </a:r>
            <a:r>
              <a:rPr lang="sv-SE" dirty="0"/>
              <a:t> the </a:t>
            </a:r>
            <a:r>
              <a:rPr lang="sv-SE" dirty="0" err="1"/>
              <a:t>understanding</a:t>
            </a:r>
            <a:r>
              <a:rPr lang="sv-SE" dirty="0"/>
              <a:t> </a:t>
            </a:r>
            <a:r>
              <a:rPr lang="sv-SE" dirty="0" err="1"/>
              <a:t>what</a:t>
            </a:r>
            <a:r>
              <a:rPr lang="sv-SE" dirty="0"/>
              <a:t> </a:t>
            </a:r>
            <a:r>
              <a:rPr lang="sv-SE" dirty="0" err="1"/>
              <a:t>exactly</a:t>
            </a:r>
            <a:r>
              <a:rPr lang="sv-SE" dirty="0"/>
              <a:t> </a:t>
            </a:r>
            <a:r>
              <a:rPr lang="sv-SE" dirty="0" err="1"/>
              <a:t>that</a:t>
            </a:r>
            <a:r>
              <a:rPr lang="sv-SE" dirty="0"/>
              <a:t> </a:t>
            </a:r>
            <a:r>
              <a:rPr lang="sv-SE" dirty="0" err="1"/>
              <a:t>means</a:t>
            </a:r>
            <a:r>
              <a:rPr lang="sv-SE" dirty="0"/>
              <a:t>.</a:t>
            </a:r>
          </a:p>
        </p:txBody>
      </p:sp>
      <p:sp>
        <p:nvSpPr>
          <p:cNvPr id="4" name="Slide Number Placeholder 3">
            <a:extLst>
              <a:ext uri="{FF2B5EF4-FFF2-40B4-BE49-F238E27FC236}">
                <a16:creationId xmlns:a16="http://schemas.microsoft.com/office/drawing/2014/main" id="{04E49D59-998E-5FE9-89EF-2D7B488B21D1}"/>
              </a:ext>
            </a:extLst>
          </p:cNvPr>
          <p:cNvSpPr>
            <a:spLocks noGrp="1"/>
          </p:cNvSpPr>
          <p:nvPr>
            <p:ph type="sldNum" sz="quarter" idx="5"/>
          </p:nvPr>
        </p:nvSpPr>
        <p:spPr/>
        <p:txBody>
          <a:bodyPr/>
          <a:lstStyle/>
          <a:p>
            <a:fld id="{3AE5A434-646A-2746-9BDC-885B2382B33E}" type="slidenum">
              <a:rPr lang="sv-SE" smtClean="0"/>
              <a:t>16</a:t>
            </a:fld>
            <a:endParaRPr lang="sv-SE"/>
          </a:p>
        </p:txBody>
      </p:sp>
    </p:spTree>
    <p:extLst>
      <p:ext uri="{BB962C8B-B14F-4D97-AF65-F5344CB8AC3E}">
        <p14:creationId xmlns:p14="http://schemas.microsoft.com/office/powerpoint/2010/main" val="34717658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C2BC6-8D2E-E356-6DD5-F89F767EF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2EC24-5765-1B96-381F-3C810824703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1FA7AB8-E5A9-3A55-822C-08AAACE96731}"/>
              </a:ext>
            </a:extLst>
          </p:cNvPr>
          <p:cNvSpPr>
            <a:spLocks noGrp="1"/>
          </p:cNvSpPr>
          <p:nvPr>
            <p:ph type="body" idx="1"/>
          </p:nvPr>
        </p:nvSpPr>
        <p:spPr/>
        <p:txBody>
          <a:bodyPr/>
          <a:lstStyle/>
          <a:p>
            <a:r>
              <a:rPr lang="en-GB" noProof="0" dirty="0"/>
              <a:t>Now, in this </a:t>
            </a:r>
            <a:r>
              <a:rPr lang="en-GB" noProof="0" dirty="0" err="1"/>
              <a:t>summerschool</a:t>
            </a:r>
            <a:r>
              <a:rPr lang="en-GB" noProof="0" dirty="0"/>
              <a:t> we’re not interested in ruler measurements, we’re interested in counting neutrons. </a:t>
            </a:r>
          </a:p>
          <a:p>
            <a:r>
              <a:rPr lang="en-GB" noProof="0" dirty="0"/>
              <a:t>Neutron counts are discrete, we either measure a neutron or we don’t. We can’t measure half a neutron. For a single detector timeframe, this is a binomial distribution with a certain probability. </a:t>
            </a:r>
          </a:p>
          <a:p>
            <a:r>
              <a:rPr lang="en-GB" noProof="0" dirty="0"/>
              <a:t>Which is the same as the probability distribution of a weighted coin flip. Adding up all the detector timeframe measurements, both those which had a neutron even and those that don’t, yields the discrete Poisson distribution due to the law of rare events.</a:t>
            </a:r>
          </a:p>
          <a:p>
            <a:r>
              <a:rPr lang="en-GB" noProof="0" dirty="0"/>
              <a:t>Therefore, neutron counts follow the discrete Poisson distribution, which gives the likelihood for measuring k neutrons, given that we expect to count lambda neutrons.</a:t>
            </a:r>
          </a:p>
          <a:p>
            <a:r>
              <a:rPr lang="en-GB" noProof="0" dirty="0"/>
              <a:t>This expectation is given by our count rate times the time we measured. Or if you measured it, it is simply your measurement value, your best guess at the real expected counts.</a:t>
            </a:r>
          </a:p>
          <a:p>
            <a:r>
              <a:rPr lang="en-GB" noProof="0" dirty="0"/>
              <a:t>Now, I mentioned the central limit theorem earlier, which was that the expected value/average will start to be normally distributed when measurements are high enough. This also holds for the discrete Poisson distribution.</a:t>
            </a:r>
          </a:p>
        </p:txBody>
      </p:sp>
      <p:sp>
        <p:nvSpPr>
          <p:cNvPr id="4" name="Slide Number Placeholder 3">
            <a:extLst>
              <a:ext uri="{FF2B5EF4-FFF2-40B4-BE49-F238E27FC236}">
                <a16:creationId xmlns:a16="http://schemas.microsoft.com/office/drawing/2014/main" id="{AA8675B4-634E-5FEA-E3D8-592D4B0F571A}"/>
              </a:ext>
            </a:extLst>
          </p:cNvPr>
          <p:cNvSpPr>
            <a:spLocks noGrp="1"/>
          </p:cNvSpPr>
          <p:nvPr>
            <p:ph type="sldNum" sz="quarter" idx="5"/>
          </p:nvPr>
        </p:nvSpPr>
        <p:spPr/>
        <p:txBody>
          <a:bodyPr/>
          <a:lstStyle/>
          <a:p>
            <a:fld id="{3AE5A434-646A-2746-9BDC-885B2382B33E}" type="slidenum">
              <a:rPr lang="sv-SE" smtClean="0"/>
              <a:t>17</a:t>
            </a:fld>
            <a:endParaRPr lang="sv-SE"/>
          </a:p>
        </p:txBody>
      </p:sp>
    </p:spTree>
    <p:extLst>
      <p:ext uri="{BB962C8B-B14F-4D97-AF65-F5344CB8AC3E}">
        <p14:creationId xmlns:p14="http://schemas.microsoft.com/office/powerpoint/2010/main" val="2650314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B2EFC-876F-BC6A-02B3-6454AFB28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64F51-1166-5BBE-FF92-85D56083A65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F1EBCDA-EE90-127A-A370-72CF02D6442E}"/>
              </a:ext>
            </a:extLst>
          </p:cNvPr>
          <p:cNvSpPr>
            <a:spLocks noGrp="1"/>
          </p:cNvSpPr>
          <p:nvPr>
            <p:ph type="body" idx="1"/>
          </p:nvPr>
        </p:nvSpPr>
        <p:spPr/>
        <p:txBody>
          <a:bodyPr/>
          <a:lstStyle/>
          <a:p>
            <a:r>
              <a:rPr lang="en-GB" noProof="0" dirty="0"/>
              <a:t>Technically there are 2 theorems at play here, the first is the law of rare events mentioned before, where at a high number of measurements, the Poisson distribution looks like the binomial distribution close to the expected value/average value.</a:t>
            </a:r>
          </a:p>
          <a:p>
            <a:r>
              <a:rPr lang="en-GB" noProof="0" dirty="0"/>
              <a:t>The other is the De Moivre-Laplace theorem, which is the special-case of the central-limit theorem stating that a binomial distribution becomes a normal distribution at high measurement counts.</a:t>
            </a:r>
          </a:p>
          <a:p>
            <a:r>
              <a:rPr lang="en-GB" noProof="0" dirty="0"/>
              <a:t>As you can see here, where the blue is the Poisson distribution and the yellow is the normal distribution, with the average value/expected value equal to the expected counts and the standard deviation equal to the square root of the expected counts.</a:t>
            </a:r>
          </a:p>
          <a:p>
            <a:r>
              <a:rPr lang="en-GB" noProof="0" dirty="0"/>
              <a:t>Already at 20 counts the central limit theorem holds, and we can use the normal distribution for our measured uncertainty.</a:t>
            </a:r>
          </a:p>
        </p:txBody>
      </p:sp>
      <p:sp>
        <p:nvSpPr>
          <p:cNvPr id="4" name="Slide Number Placeholder 3">
            <a:extLst>
              <a:ext uri="{FF2B5EF4-FFF2-40B4-BE49-F238E27FC236}">
                <a16:creationId xmlns:a16="http://schemas.microsoft.com/office/drawing/2014/main" id="{04FA983E-1580-2ADF-728B-96E095D43ACD}"/>
              </a:ext>
            </a:extLst>
          </p:cNvPr>
          <p:cNvSpPr>
            <a:spLocks noGrp="1"/>
          </p:cNvSpPr>
          <p:nvPr>
            <p:ph type="sldNum" sz="quarter" idx="5"/>
          </p:nvPr>
        </p:nvSpPr>
        <p:spPr/>
        <p:txBody>
          <a:bodyPr/>
          <a:lstStyle/>
          <a:p>
            <a:fld id="{3AE5A434-646A-2746-9BDC-885B2382B33E}" type="slidenum">
              <a:rPr lang="sv-SE" smtClean="0"/>
              <a:t>18</a:t>
            </a:fld>
            <a:endParaRPr lang="sv-SE"/>
          </a:p>
        </p:txBody>
      </p:sp>
    </p:spTree>
    <p:extLst>
      <p:ext uri="{BB962C8B-B14F-4D97-AF65-F5344CB8AC3E}">
        <p14:creationId xmlns:p14="http://schemas.microsoft.com/office/powerpoint/2010/main" val="8354102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A3F01-315F-0EF1-4642-5BB11AFC2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CB948-F674-09FE-16B9-C65E9416391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570322F-ED60-7E25-B0D1-3B4E29FFF8C8}"/>
              </a:ext>
            </a:extLst>
          </p:cNvPr>
          <p:cNvSpPr>
            <a:spLocks noGrp="1"/>
          </p:cNvSpPr>
          <p:nvPr>
            <p:ph type="body" idx="1"/>
          </p:nvPr>
        </p:nvSpPr>
        <p:spPr/>
        <p:txBody>
          <a:bodyPr/>
          <a:lstStyle/>
          <a:p>
            <a:r>
              <a:rPr lang="sv-SE" dirty="0"/>
              <a:t>So back to </a:t>
            </a:r>
            <a:r>
              <a:rPr lang="sv-SE" dirty="0" err="1"/>
              <a:t>our</a:t>
            </a:r>
            <a:r>
              <a:rPr lang="sv-SE" dirty="0"/>
              <a:t> </a:t>
            </a:r>
            <a:r>
              <a:rPr lang="sv-SE" dirty="0" err="1"/>
              <a:t>graph</a:t>
            </a:r>
            <a:r>
              <a:rPr lang="sv-SE" dirty="0"/>
              <a:t> </a:t>
            </a:r>
            <a:r>
              <a:rPr lang="sv-SE" dirty="0" err="1"/>
              <a:t>of</a:t>
            </a:r>
            <a:r>
              <a:rPr lang="sv-SE" dirty="0"/>
              <a:t> </a:t>
            </a:r>
            <a:r>
              <a:rPr lang="sv-SE" dirty="0" err="1"/>
              <a:t>measurements</a:t>
            </a:r>
            <a:r>
              <a:rPr lang="sv-SE" dirty="0"/>
              <a:t>, the </a:t>
            </a:r>
            <a:r>
              <a:rPr lang="sv-SE" dirty="0" err="1"/>
              <a:t>error</a:t>
            </a:r>
            <a:r>
              <a:rPr lang="sv-SE" dirty="0"/>
              <a:t> bars </a:t>
            </a:r>
            <a:r>
              <a:rPr lang="sv-SE" dirty="0" err="1"/>
              <a:t>you</a:t>
            </a:r>
            <a:r>
              <a:rPr lang="sv-SE" dirty="0"/>
              <a:t> </a:t>
            </a:r>
            <a:r>
              <a:rPr lang="sv-SE" dirty="0" err="1"/>
              <a:t>see</a:t>
            </a:r>
            <a:r>
              <a:rPr lang="sv-SE" dirty="0"/>
              <a:t> </a:t>
            </a:r>
            <a:r>
              <a:rPr lang="sv-SE" dirty="0" err="1"/>
              <a:t>here</a:t>
            </a:r>
            <a:r>
              <a:rPr lang="sv-SE" dirty="0"/>
              <a:t> </a:t>
            </a:r>
            <a:r>
              <a:rPr lang="sv-SE" dirty="0" err="1"/>
              <a:t>each</a:t>
            </a:r>
            <a:r>
              <a:rPr lang="sv-SE" dirty="0"/>
              <a:t> </a:t>
            </a:r>
            <a:r>
              <a:rPr lang="sv-SE" dirty="0" err="1"/>
              <a:t>corresponds</a:t>
            </a:r>
            <a:r>
              <a:rPr lang="sv-SE" dirty="0"/>
              <a:t> to 1 standard deviation </a:t>
            </a:r>
            <a:r>
              <a:rPr lang="sv-SE" dirty="0" err="1"/>
              <a:t>of</a:t>
            </a:r>
            <a:r>
              <a:rPr lang="sv-SE" dirty="0"/>
              <a:t> a normal distribution </a:t>
            </a:r>
            <a:r>
              <a:rPr lang="sv-SE" dirty="0" err="1"/>
              <a:t>with</a:t>
            </a:r>
            <a:r>
              <a:rPr lang="sv-SE" dirty="0"/>
              <a:t> the </a:t>
            </a:r>
            <a:r>
              <a:rPr lang="sv-SE" dirty="0" err="1"/>
              <a:t>measured</a:t>
            </a:r>
            <a:r>
              <a:rPr lang="sv-SE" dirty="0"/>
              <a:t> </a:t>
            </a:r>
            <a:r>
              <a:rPr lang="sv-SE" dirty="0" err="1"/>
              <a:t>value</a:t>
            </a:r>
            <a:r>
              <a:rPr lang="sv-SE" dirty="0"/>
              <a:t> </a:t>
            </a:r>
            <a:r>
              <a:rPr lang="sv-SE" dirty="0" err="1"/>
              <a:t>being</a:t>
            </a:r>
            <a:r>
              <a:rPr lang="sv-SE" dirty="0"/>
              <a:t> the </a:t>
            </a:r>
            <a:r>
              <a:rPr lang="sv-SE" dirty="0" err="1"/>
              <a:t>mean</a:t>
            </a:r>
            <a:r>
              <a:rPr lang="sv-SE" dirty="0"/>
              <a:t> </a:t>
            </a:r>
            <a:r>
              <a:rPr lang="sv-SE" dirty="0" err="1"/>
              <a:t>of</a:t>
            </a:r>
            <a:r>
              <a:rPr lang="sv-SE" dirty="0"/>
              <a:t> the distribution.</a:t>
            </a:r>
          </a:p>
        </p:txBody>
      </p:sp>
      <p:sp>
        <p:nvSpPr>
          <p:cNvPr id="4" name="Slide Number Placeholder 3">
            <a:extLst>
              <a:ext uri="{FF2B5EF4-FFF2-40B4-BE49-F238E27FC236}">
                <a16:creationId xmlns:a16="http://schemas.microsoft.com/office/drawing/2014/main" id="{FE783D81-8A9F-DD98-567A-64F8E23E1186}"/>
              </a:ext>
            </a:extLst>
          </p:cNvPr>
          <p:cNvSpPr>
            <a:spLocks noGrp="1"/>
          </p:cNvSpPr>
          <p:nvPr>
            <p:ph type="sldNum" sz="quarter" idx="5"/>
          </p:nvPr>
        </p:nvSpPr>
        <p:spPr/>
        <p:txBody>
          <a:bodyPr/>
          <a:lstStyle/>
          <a:p>
            <a:fld id="{3AE5A434-646A-2746-9BDC-885B2382B33E}" type="slidenum">
              <a:rPr lang="sv-SE" smtClean="0"/>
              <a:t>19</a:t>
            </a:fld>
            <a:endParaRPr lang="sv-SE"/>
          </a:p>
        </p:txBody>
      </p:sp>
    </p:spTree>
    <p:extLst>
      <p:ext uri="{BB962C8B-B14F-4D97-AF65-F5344CB8AC3E}">
        <p14:creationId xmlns:p14="http://schemas.microsoft.com/office/powerpoint/2010/main" val="3777495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A6809-B18A-E65F-F3E8-CFCEC95F6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0B5A1-B897-ED8F-BC10-96DEF13F237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B8249C5-9763-F22E-AC1B-5373ADC59D22}"/>
              </a:ext>
            </a:extLst>
          </p:cNvPr>
          <p:cNvSpPr>
            <a:spLocks noGrp="1"/>
          </p:cNvSpPr>
          <p:nvPr>
            <p:ph type="body" idx="1"/>
          </p:nvPr>
        </p:nvSpPr>
        <p:spPr/>
        <p:txBody>
          <a:bodyPr/>
          <a:lstStyle/>
          <a:p>
            <a:r>
              <a:rPr lang="sv-SE" dirty="0"/>
              <a:t>So </a:t>
            </a:r>
            <a:r>
              <a:rPr lang="sv-SE" dirty="0" err="1"/>
              <a:t>if</a:t>
            </a:r>
            <a:r>
              <a:rPr lang="sv-SE" dirty="0"/>
              <a:t> </a:t>
            </a:r>
            <a:r>
              <a:rPr lang="sv-SE" dirty="0" err="1"/>
              <a:t>you</a:t>
            </a:r>
            <a:r>
              <a:rPr lang="sv-SE" dirty="0"/>
              <a:t> </a:t>
            </a:r>
            <a:r>
              <a:rPr lang="sv-SE" dirty="0" err="1"/>
              <a:t>imagine</a:t>
            </a:r>
            <a:r>
              <a:rPr lang="sv-SE" dirty="0"/>
              <a:t> </a:t>
            </a:r>
            <a:r>
              <a:rPr lang="sv-SE" dirty="0" err="1"/>
              <a:t>that</a:t>
            </a:r>
            <a:r>
              <a:rPr lang="sv-SE" dirty="0"/>
              <a:t> </a:t>
            </a:r>
            <a:r>
              <a:rPr lang="sv-SE" dirty="0" err="1"/>
              <a:t>you</a:t>
            </a:r>
            <a:r>
              <a:rPr lang="sv-SE" dirty="0"/>
              <a:t> </a:t>
            </a:r>
            <a:r>
              <a:rPr lang="sv-SE" dirty="0" err="1"/>
              <a:t>sit</a:t>
            </a:r>
            <a:r>
              <a:rPr lang="sv-SE" dirty="0"/>
              <a:t> on the y-</a:t>
            </a:r>
            <a:r>
              <a:rPr lang="sv-SE" dirty="0" err="1"/>
              <a:t>axis</a:t>
            </a:r>
            <a:r>
              <a:rPr lang="sv-SE" dirty="0"/>
              <a:t> </a:t>
            </a:r>
            <a:r>
              <a:rPr lang="sv-SE" dirty="0" err="1"/>
              <a:t>here</a:t>
            </a:r>
            <a:r>
              <a:rPr lang="sv-SE" dirty="0"/>
              <a:t> and look down </a:t>
            </a:r>
            <a:r>
              <a:rPr lang="sv-SE" dirty="0" err="1"/>
              <a:t>along</a:t>
            </a:r>
            <a:r>
              <a:rPr lang="sv-SE" dirty="0"/>
              <a:t> the x-</a:t>
            </a:r>
            <a:r>
              <a:rPr lang="sv-SE" dirty="0" err="1"/>
              <a:t>axis</a:t>
            </a:r>
            <a:r>
              <a:rPr lang="sv-SE" dirty="0"/>
              <a:t>, </a:t>
            </a:r>
            <a:r>
              <a:rPr lang="sv-SE" dirty="0" err="1"/>
              <a:t>you</a:t>
            </a:r>
            <a:r>
              <a:rPr lang="sv-SE" dirty="0"/>
              <a:t> </a:t>
            </a:r>
            <a:r>
              <a:rPr lang="sv-SE" dirty="0" err="1"/>
              <a:t>would</a:t>
            </a:r>
            <a:r>
              <a:rPr lang="sv-SE" dirty="0"/>
              <a:t> </a:t>
            </a:r>
            <a:r>
              <a:rPr lang="sv-SE" dirty="0" err="1"/>
              <a:t>see</a:t>
            </a:r>
            <a:r>
              <a:rPr lang="sv-SE" dirty="0"/>
              <a:t> the normal distributions </a:t>
            </a:r>
            <a:r>
              <a:rPr lang="sv-SE" dirty="0" err="1"/>
              <a:t>of</a:t>
            </a:r>
            <a:r>
              <a:rPr lang="sv-SE" dirty="0"/>
              <a:t> all the </a:t>
            </a:r>
            <a:r>
              <a:rPr lang="sv-SE" dirty="0" err="1"/>
              <a:t>measurements</a:t>
            </a:r>
            <a:r>
              <a:rPr lang="sv-SE" dirty="0"/>
              <a:t> like </a:t>
            </a:r>
            <a:r>
              <a:rPr lang="sv-SE" dirty="0" err="1"/>
              <a:t>this</a:t>
            </a:r>
            <a:r>
              <a:rPr lang="sv-SE" dirty="0"/>
              <a:t>.</a:t>
            </a:r>
          </a:p>
        </p:txBody>
      </p:sp>
      <p:sp>
        <p:nvSpPr>
          <p:cNvPr id="4" name="Slide Number Placeholder 3">
            <a:extLst>
              <a:ext uri="{FF2B5EF4-FFF2-40B4-BE49-F238E27FC236}">
                <a16:creationId xmlns:a16="http://schemas.microsoft.com/office/drawing/2014/main" id="{6582C81F-A515-B2DB-8D9E-773E9337913C}"/>
              </a:ext>
            </a:extLst>
          </p:cNvPr>
          <p:cNvSpPr>
            <a:spLocks noGrp="1"/>
          </p:cNvSpPr>
          <p:nvPr>
            <p:ph type="sldNum" sz="quarter" idx="5"/>
          </p:nvPr>
        </p:nvSpPr>
        <p:spPr/>
        <p:txBody>
          <a:bodyPr/>
          <a:lstStyle/>
          <a:p>
            <a:fld id="{3AE5A434-646A-2746-9BDC-885B2382B33E}" type="slidenum">
              <a:rPr lang="sv-SE" smtClean="0"/>
              <a:t>20</a:t>
            </a:fld>
            <a:endParaRPr lang="sv-SE"/>
          </a:p>
        </p:txBody>
      </p:sp>
    </p:spTree>
    <p:extLst>
      <p:ext uri="{BB962C8B-B14F-4D97-AF65-F5344CB8AC3E}">
        <p14:creationId xmlns:p14="http://schemas.microsoft.com/office/powerpoint/2010/main" val="101878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61A88-FC05-C74C-5541-F73C80004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6CA73-0CCC-5588-9C7D-F89DA90F275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1DD18E3-8365-C30F-8719-58568542F475}"/>
              </a:ext>
            </a:extLst>
          </p:cNvPr>
          <p:cNvSpPr>
            <a:spLocks noGrp="1"/>
          </p:cNvSpPr>
          <p:nvPr>
            <p:ph type="body" idx="1"/>
          </p:nvPr>
        </p:nvSpPr>
        <p:spPr/>
        <p:txBody>
          <a:bodyPr/>
          <a:lstStyle/>
          <a:p>
            <a:r>
              <a:rPr lang="en-GB" noProof="0" dirty="0"/>
              <a:t>When we fit a model to a dataset, we essentially try to tune the model parameters to replicate the experimental dataset as best as possible. But how do we do that? </a:t>
            </a:r>
          </a:p>
          <a:p>
            <a:r>
              <a:rPr lang="en-GB" noProof="0" dirty="0"/>
              <a:t>Well, we actually try to maximize the likelihood on all the measurements simultaneously, or more often, minimize their negative likelihood.</a:t>
            </a:r>
          </a:p>
        </p:txBody>
      </p:sp>
      <p:sp>
        <p:nvSpPr>
          <p:cNvPr id="4" name="Slide Number Placeholder 3">
            <a:extLst>
              <a:ext uri="{FF2B5EF4-FFF2-40B4-BE49-F238E27FC236}">
                <a16:creationId xmlns:a16="http://schemas.microsoft.com/office/drawing/2014/main" id="{9D790C2A-2F3E-2247-FDB2-7D95BBF3867A}"/>
              </a:ext>
            </a:extLst>
          </p:cNvPr>
          <p:cNvSpPr>
            <a:spLocks noGrp="1"/>
          </p:cNvSpPr>
          <p:nvPr>
            <p:ph type="sldNum" sz="quarter" idx="5"/>
          </p:nvPr>
        </p:nvSpPr>
        <p:spPr/>
        <p:txBody>
          <a:bodyPr/>
          <a:lstStyle/>
          <a:p>
            <a:fld id="{3AE5A434-646A-2746-9BDC-885B2382B33E}" type="slidenum">
              <a:rPr lang="sv-SE" smtClean="0"/>
              <a:t>21</a:t>
            </a:fld>
            <a:endParaRPr lang="sv-SE"/>
          </a:p>
        </p:txBody>
      </p:sp>
    </p:spTree>
    <p:extLst>
      <p:ext uri="{BB962C8B-B14F-4D97-AF65-F5344CB8AC3E}">
        <p14:creationId xmlns:p14="http://schemas.microsoft.com/office/powerpoint/2010/main" val="3933647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C6799-2E83-6EFA-D86A-D23B913DD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15531-5E6D-00E7-59DC-8EACA79A6C7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D1361FD-46E6-483B-764C-539DE6067DF0}"/>
              </a:ext>
            </a:extLst>
          </p:cNvPr>
          <p:cNvSpPr>
            <a:spLocks noGrp="1"/>
          </p:cNvSpPr>
          <p:nvPr>
            <p:ph type="body" idx="1"/>
          </p:nvPr>
        </p:nvSpPr>
        <p:spPr/>
        <p:txBody>
          <a:bodyPr/>
          <a:lstStyle/>
          <a:p>
            <a:r>
              <a:rPr lang="sv-SE" dirty="0" err="1"/>
              <a:t>Of</a:t>
            </a:r>
            <a:r>
              <a:rPr lang="sv-SE" dirty="0"/>
              <a:t> </a:t>
            </a:r>
            <a:r>
              <a:rPr lang="sv-SE" dirty="0" err="1"/>
              <a:t>course</a:t>
            </a:r>
            <a:r>
              <a:rPr lang="sv-SE" dirty="0"/>
              <a:t>, the </a:t>
            </a:r>
            <a:r>
              <a:rPr lang="sv-SE" dirty="0" err="1"/>
              <a:t>highest</a:t>
            </a:r>
            <a:r>
              <a:rPr lang="sv-SE" dirty="0"/>
              <a:t> </a:t>
            </a:r>
            <a:r>
              <a:rPr lang="sv-SE" dirty="0" err="1"/>
              <a:t>likelihood</a:t>
            </a:r>
            <a:r>
              <a:rPr lang="sv-SE" dirty="0"/>
              <a:t> </a:t>
            </a:r>
            <a:r>
              <a:rPr lang="sv-SE" dirty="0" err="1"/>
              <a:t>would</a:t>
            </a:r>
            <a:r>
              <a:rPr lang="sv-SE" dirty="0"/>
              <a:t> be a </a:t>
            </a:r>
            <a:r>
              <a:rPr lang="sv-SE" dirty="0" err="1"/>
              <a:t>model</a:t>
            </a:r>
            <a:r>
              <a:rPr lang="sv-SE" dirty="0"/>
              <a:t> </a:t>
            </a:r>
            <a:r>
              <a:rPr lang="sv-SE" dirty="0" err="1"/>
              <a:t>which</a:t>
            </a:r>
            <a:r>
              <a:rPr lang="sv-SE" dirty="0"/>
              <a:t> sits </a:t>
            </a:r>
            <a:r>
              <a:rPr lang="sv-SE" dirty="0" err="1"/>
              <a:t>exactly</a:t>
            </a:r>
            <a:r>
              <a:rPr lang="sv-SE" dirty="0"/>
              <a:t> at the </a:t>
            </a:r>
            <a:r>
              <a:rPr lang="sv-SE" dirty="0" err="1"/>
              <a:t>top</a:t>
            </a:r>
            <a:r>
              <a:rPr lang="sv-SE" dirty="0"/>
              <a:t> </a:t>
            </a:r>
            <a:r>
              <a:rPr lang="sv-SE" dirty="0" err="1"/>
              <a:t>of</a:t>
            </a:r>
            <a:r>
              <a:rPr lang="sv-SE" dirty="0"/>
              <a:t> </a:t>
            </a:r>
            <a:r>
              <a:rPr lang="sv-SE" dirty="0" err="1"/>
              <a:t>each</a:t>
            </a:r>
            <a:r>
              <a:rPr lang="sv-SE" dirty="0"/>
              <a:t> </a:t>
            </a:r>
            <a:r>
              <a:rPr lang="sv-SE" dirty="0" err="1"/>
              <a:t>measurements</a:t>
            </a:r>
            <a:r>
              <a:rPr lang="sv-SE" dirty="0"/>
              <a:t> normal distribution.</a:t>
            </a:r>
          </a:p>
          <a:p>
            <a:r>
              <a:rPr lang="sv-SE" dirty="0" err="1"/>
              <a:t>But</a:t>
            </a:r>
            <a:r>
              <a:rPr lang="sv-SE" dirty="0"/>
              <a:t> </a:t>
            </a:r>
            <a:r>
              <a:rPr lang="sv-SE" dirty="0" err="1"/>
              <a:t>such</a:t>
            </a:r>
            <a:r>
              <a:rPr lang="sv-SE" dirty="0"/>
              <a:t> a fit is </a:t>
            </a:r>
            <a:r>
              <a:rPr lang="sv-SE" dirty="0" err="1"/>
              <a:t>rarely</a:t>
            </a:r>
            <a:r>
              <a:rPr lang="sv-SE" dirty="0"/>
              <a:t> </a:t>
            </a:r>
            <a:r>
              <a:rPr lang="sv-SE" dirty="0" err="1"/>
              <a:t>possible</a:t>
            </a:r>
            <a:r>
              <a:rPr lang="sv-SE" dirty="0"/>
              <a:t>, </a:t>
            </a:r>
            <a:r>
              <a:rPr lang="sv-SE" dirty="0" err="1"/>
              <a:t>most</a:t>
            </a:r>
            <a:r>
              <a:rPr lang="sv-SE" dirty="0"/>
              <a:t> </a:t>
            </a:r>
            <a:r>
              <a:rPr lang="sv-SE" dirty="0" err="1"/>
              <a:t>times</a:t>
            </a:r>
            <a:r>
              <a:rPr lang="sv-SE" dirty="0"/>
              <a:t>, </a:t>
            </a:r>
            <a:r>
              <a:rPr lang="sv-SE" dirty="0" err="1"/>
              <a:t>if</a:t>
            </a:r>
            <a:r>
              <a:rPr lang="sv-SE" dirty="0"/>
              <a:t> </a:t>
            </a:r>
            <a:r>
              <a:rPr lang="sv-SE" dirty="0" err="1"/>
              <a:t>you</a:t>
            </a:r>
            <a:r>
              <a:rPr lang="sv-SE" dirty="0"/>
              <a:t> get a </a:t>
            </a:r>
            <a:r>
              <a:rPr lang="sv-SE" dirty="0" err="1"/>
              <a:t>perfect</a:t>
            </a:r>
            <a:r>
              <a:rPr lang="sv-SE" dirty="0"/>
              <a:t> fit like </a:t>
            </a:r>
            <a:r>
              <a:rPr lang="sv-SE" dirty="0" err="1"/>
              <a:t>that</a:t>
            </a:r>
            <a:r>
              <a:rPr lang="sv-SE" dirty="0"/>
              <a:t>, </a:t>
            </a:r>
            <a:r>
              <a:rPr lang="sv-SE" dirty="0" err="1"/>
              <a:t>you</a:t>
            </a:r>
            <a:r>
              <a:rPr lang="sv-SE" dirty="0"/>
              <a:t> </a:t>
            </a:r>
            <a:r>
              <a:rPr lang="sv-SE" dirty="0" err="1"/>
              <a:t>probably</a:t>
            </a:r>
            <a:r>
              <a:rPr lang="sv-SE" dirty="0"/>
              <a:t> </a:t>
            </a:r>
            <a:r>
              <a:rPr lang="sv-SE" dirty="0" err="1"/>
              <a:t>overfitted</a:t>
            </a:r>
            <a:r>
              <a:rPr lang="sv-SE" dirty="0"/>
              <a:t> </a:t>
            </a:r>
            <a:r>
              <a:rPr lang="sv-SE" dirty="0" err="1"/>
              <a:t>your</a:t>
            </a:r>
            <a:r>
              <a:rPr lang="sv-SE" dirty="0"/>
              <a:t> </a:t>
            </a:r>
            <a:r>
              <a:rPr lang="sv-SE" dirty="0" err="1"/>
              <a:t>model</a:t>
            </a:r>
            <a:r>
              <a:rPr lang="sv-SE" dirty="0"/>
              <a:t>, </a:t>
            </a:r>
            <a:r>
              <a:rPr lang="sv-SE" dirty="0" err="1"/>
              <a:t>that</a:t>
            </a:r>
            <a:r>
              <a:rPr lang="sv-SE" dirty="0"/>
              <a:t> is, </a:t>
            </a:r>
            <a:r>
              <a:rPr lang="sv-SE" dirty="0" err="1"/>
              <a:t>you</a:t>
            </a:r>
            <a:r>
              <a:rPr lang="sv-SE" dirty="0"/>
              <a:t> </a:t>
            </a:r>
            <a:r>
              <a:rPr lang="sv-SE" dirty="0" err="1"/>
              <a:t>had</a:t>
            </a:r>
            <a:r>
              <a:rPr lang="sv-SE" dirty="0"/>
              <a:t> </a:t>
            </a:r>
            <a:r>
              <a:rPr lang="sv-SE" dirty="0" err="1"/>
              <a:t>too</a:t>
            </a:r>
            <a:r>
              <a:rPr lang="sv-SE" dirty="0"/>
              <a:t> </a:t>
            </a:r>
            <a:r>
              <a:rPr lang="sv-SE" dirty="0" err="1"/>
              <a:t>many</a:t>
            </a:r>
            <a:r>
              <a:rPr lang="sv-SE" dirty="0"/>
              <a:t> </a:t>
            </a:r>
            <a:r>
              <a:rPr lang="sv-SE" dirty="0" err="1"/>
              <a:t>tuning</a:t>
            </a:r>
            <a:r>
              <a:rPr lang="sv-SE" dirty="0"/>
              <a:t> parameters.</a:t>
            </a:r>
          </a:p>
          <a:p>
            <a:r>
              <a:rPr lang="sv-SE" dirty="0" err="1"/>
              <a:t>Now</a:t>
            </a:r>
            <a:r>
              <a:rPr lang="sv-SE" dirty="0"/>
              <a:t>, </a:t>
            </a:r>
            <a:r>
              <a:rPr lang="sv-SE" dirty="0" err="1"/>
              <a:t>there</a:t>
            </a:r>
            <a:r>
              <a:rPr lang="sv-SE" dirty="0"/>
              <a:t> </a:t>
            </a:r>
            <a:r>
              <a:rPr lang="sv-SE" dirty="0" err="1"/>
              <a:t>are</a:t>
            </a:r>
            <a:r>
              <a:rPr lang="sv-SE" dirty="0"/>
              <a:t> </a:t>
            </a:r>
            <a:r>
              <a:rPr lang="sv-SE" dirty="0" err="1"/>
              <a:t>many</a:t>
            </a:r>
            <a:r>
              <a:rPr lang="sv-SE" dirty="0"/>
              <a:t> programs </a:t>
            </a:r>
            <a:r>
              <a:rPr lang="sv-SE" dirty="0" err="1"/>
              <a:t>out</a:t>
            </a:r>
            <a:r>
              <a:rPr lang="sv-SE" dirty="0"/>
              <a:t> </a:t>
            </a:r>
            <a:r>
              <a:rPr lang="sv-SE" dirty="0" err="1"/>
              <a:t>there</a:t>
            </a:r>
            <a:r>
              <a:rPr lang="sv-SE" dirty="0"/>
              <a:t> </a:t>
            </a:r>
            <a:r>
              <a:rPr lang="sv-SE" dirty="0" err="1"/>
              <a:t>which</a:t>
            </a:r>
            <a:r>
              <a:rPr lang="sv-SE" dirty="0"/>
              <a:t> </a:t>
            </a:r>
            <a:r>
              <a:rPr lang="sv-SE" dirty="0" err="1"/>
              <a:t>you</a:t>
            </a:r>
            <a:r>
              <a:rPr lang="sv-SE" dirty="0"/>
              <a:t> </a:t>
            </a:r>
            <a:r>
              <a:rPr lang="sv-SE" dirty="0" err="1"/>
              <a:t>can</a:t>
            </a:r>
            <a:r>
              <a:rPr lang="sv-SE" dirty="0"/>
              <a:t> </a:t>
            </a:r>
            <a:r>
              <a:rPr lang="sv-SE" dirty="0" err="1"/>
              <a:t>use</a:t>
            </a:r>
            <a:r>
              <a:rPr lang="sv-SE" dirty="0"/>
              <a:t> to </a:t>
            </a:r>
            <a:r>
              <a:rPr lang="sv-SE" dirty="0" err="1"/>
              <a:t>maximize</a:t>
            </a:r>
            <a:r>
              <a:rPr lang="sv-SE" dirty="0"/>
              <a:t> </a:t>
            </a:r>
            <a:r>
              <a:rPr lang="sv-SE" dirty="0" err="1"/>
              <a:t>your</a:t>
            </a:r>
            <a:r>
              <a:rPr lang="sv-SE" dirty="0"/>
              <a:t> </a:t>
            </a:r>
            <a:r>
              <a:rPr lang="sv-SE" dirty="0" err="1"/>
              <a:t>models</a:t>
            </a:r>
            <a:r>
              <a:rPr lang="sv-SE" dirty="0"/>
              <a:t> </a:t>
            </a:r>
            <a:r>
              <a:rPr lang="sv-SE" dirty="0" err="1"/>
              <a:t>measurement</a:t>
            </a:r>
            <a:r>
              <a:rPr lang="sv-SE" dirty="0"/>
              <a:t> </a:t>
            </a:r>
            <a:r>
              <a:rPr lang="sv-SE" dirty="0" err="1"/>
              <a:t>likelihoods</a:t>
            </a:r>
            <a:r>
              <a:rPr lang="sv-SE" dirty="0"/>
              <a:t>, i.e. to fit </a:t>
            </a:r>
            <a:r>
              <a:rPr lang="sv-SE" dirty="0" err="1"/>
              <a:t>your</a:t>
            </a:r>
            <a:r>
              <a:rPr lang="sv-SE" dirty="0"/>
              <a:t> </a:t>
            </a:r>
            <a:r>
              <a:rPr lang="sv-SE" dirty="0" err="1"/>
              <a:t>model</a:t>
            </a:r>
            <a:r>
              <a:rPr lang="sv-SE" dirty="0"/>
              <a:t> to </a:t>
            </a:r>
            <a:r>
              <a:rPr lang="sv-SE" dirty="0" err="1"/>
              <a:t>your</a:t>
            </a:r>
            <a:r>
              <a:rPr lang="sv-SE" dirty="0"/>
              <a:t> data.</a:t>
            </a:r>
            <a:br>
              <a:rPr lang="sv-SE" dirty="0"/>
            </a:br>
            <a:endParaRPr lang="sv-SE" dirty="0"/>
          </a:p>
        </p:txBody>
      </p:sp>
      <p:sp>
        <p:nvSpPr>
          <p:cNvPr id="4" name="Slide Number Placeholder 3">
            <a:extLst>
              <a:ext uri="{FF2B5EF4-FFF2-40B4-BE49-F238E27FC236}">
                <a16:creationId xmlns:a16="http://schemas.microsoft.com/office/drawing/2014/main" id="{7432C974-FA43-FE06-E0CE-121F8F46215F}"/>
              </a:ext>
            </a:extLst>
          </p:cNvPr>
          <p:cNvSpPr>
            <a:spLocks noGrp="1"/>
          </p:cNvSpPr>
          <p:nvPr>
            <p:ph type="sldNum" sz="quarter" idx="5"/>
          </p:nvPr>
        </p:nvSpPr>
        <p:spPr/>
        <p:txBody>
          <a:bodyPr/>
          <a:lstStyle/>
          <a:p>
            <a:fld id="{3AE5A434-646A-2746-9BDC-885B2382B33E}" type="slidenum">
              <a:rPr lang="sv-SE" smtClean="0"/>
              <a:t>22</a:t>
            </a:fld>
            <a:endParaRPr lang="sv-SE"/>
          </a:p>
        </p:txBody>
      </p:sp>
    </p:spTree>
    <p:extLst>
      <p:ext uri="{BB962C8B-B14F-4D97-AF65-F5344CB8AC3E}">
        <p14:creationId xmlns:p14="http://schemas.microsoft.com/office/powerpoint/2010/main" val="18833451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Here at DMSC we have developed </a:t>
            </a:r>
            <a:r>
              <a:rPr lang="en-GB" noProof="0" dirty="0" err="1"/>
              <a:t>EasyScience</a:t>
            </a:r>
            <a:r>
              <a:rPr lang="en-GB" noProof="0" dirty="0"/>
              <a:t>, a Python Library and framework, which currently interfaces with 3 different 3rd party minimization libraries, allowing users like you to easily try out different algorithms while only having to learn a single library.</a:t>
            </a:r>
            <a:br>
              <a:rPr lang="en-GB" noProof="0" dirty="0"/>
            </a:br>
            <a:r>
              <a:rPr lang="en-GB" noProof="0" dirty="0" err="1"/>
              <a:t>EasyScience</a:t>
            </a:r>
            <a:r>
              <a:rPr lang="en-GB" noProof="0" dirty="0"/>
              <a:t> also has other fitting-related features such as dependent parameters and bounded parameters which you will explore in today's exercises.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Our in-house developed technique-specific libraries for imaging, reflectometry and QENS data-analysis all use </a:t>
            </a:r>
            <a:r>
              <a:rPr lang="en-GB" noProof="0" dirty="0" err="1"/>
              <a:t>easyscience</a:t>
            </a:r>
            <a:r>
              <a:rPr lang="en-GB" noProof="0" dirty="0"/>
              <a:t> as the fitting framework while providing technique-specific models and functionality.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You will see that </a:t>
            </a:r>
            <a:r>
              <a:rPr lang="en-GB" noProof="0" dirty="0" err="1"/>
              <a:t>EasyDiffraction</a:t>
            </a:r>
            <a:r>
              <a:rPr lang="en-GB" noProof="0" dirty="0"/>
              <a:t> currently does NOT use </a:t>
            </a:r>
            <a:r>
              <a:rPr lang="en-GB" noProof="0" dirty="0" err="1"/>
              <a:t>EasyScience</a:t>
            </a:r>
            <a:r>
              <a:rPr lang="en-GB" noProof="0" dirty="0"/>
              <a:t>, and you will also see that SANS is not listed here. For SANS we use SANS-fitter, a python library which interfaces with SASVIEW.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We also develop desktop applications for our technique libraries, with a reduced set of functionalities from the libraries, for users uncomfortable with Python.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These applications all share a similar look and feel because they’re based on a shared GUI framework which we also develop in-house. But for this summer school you guys will only work with the libraries.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If you finish the exercises early, feel free to check out the desktop applications and maybe repeat them in the GUIs to familiarize yourselves with them. Currently this is only possible for the diffraction track.</a:t>
            </a:r>
          </a:p>
        </p:txBody>
      </p:sp>
      <p:sp>
        <p:nvSpPr>
          <p:cNvPr id="4" name="Slide Number Placeholder 3"/>
          <p:cNvSpPr>
            <a:spLocks noGrp="1"/>
          </p:cNvSpPr>
          <p:nvPr>
            <p:ph type="sldNum" sz="quarter" idx="5"/>
          </p:nvPr>
        </p:nvSpPr>
        <p:spPr/>
        <p:txBody>
          <a:bodyPr/>
          <a:lstStyle/>
          <a:p>
            <a:fld id="{3AE5A434-646A-2746-9BDC-885B2382B33E}" type="slidenum">
              <a:rPr lang="sv-SE" smtClean="0"/>
              <a:t>23</a:t>
            </a:fld>
            <a:endParaRPr lang="sv-SE"/>
          </a:p>
        </p:txBody>
      </p:sp>
    </p:spTree>
    <p:extLst>
      <p:ext uri="{BB962C8B-B14F-4D97-AF65-F5344CB8AC3E}">
        <p14:creationId xmlns:p14="http://schemas.microsoft.com/office/powerpoint/2010/main" val="2859104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In neutron science, the models </a:t>
            </a:r>
            <a:r>
              <a:rPr lang="da-DK" dirty="0" err="1"/>
              <a:t>are</a:t>
            </a:r>
            <a:r>
              <a:rPr lang="da-DK" dirty="0"/>
              <a:t> a </a:t>
            </a:r>
            <a:r>
              <a:rPr lang="da-DK" dirty="0" err="1"/>
              <a:t>little</a:t>
            </a:r>
            <a:r>
              <a:rPr lang="da-DK" dirty="0"/>
              <a:t> bit more </a:t>
            </a:r>
            <a:r>
              <a:rPr lang="da-DK" dirty="0" err="1"/>
              <a:t>complex</a:t>
            </a:r>
            <a:r>
              <a:rPr lang="da-DK" dirty="0"/>
              <a:t> </a:t>
            </a:r>
            <a:r>
              <a:rPr lang="da-DK" dirty="0" err="1"/>
              <a:t>than</a:t>
            </a:r>
            <a:r>
              <a:rPr lang="da-DK" dirty="0"/>
              <a:t> a straight line, as </a:t>
            </a:r>
            <a:r>
              <a:rPr lang="da-DK" dirty="0" err="1"/>
              <a:t>you</a:t>
            </a:r>
            <a:r>
              <a:rPr lang="da-DK" dirty="0"/>
              <a:t> </a:t>
            </a:r>
            <a:r>
              <a:rPr lang="da-DK" dirty="0" err="1"/>
              <a:t>will</a:t>
            </a:r>
            <a:r>
              <a:rPr lang="da-DK" dirty="0"/>
              <a:t> </a:t>
            </a:r>
            <a:r>
              <a:rPr lang="da-DK" dirty="0" err="1"/>
              <a:t>see</a:t>
            </a:r>
            <a:r>
              <a:rPr lang="da-DK" dirty="0"/>
              <a:t> in </a:t>
            </a:r>
            <a:r>
              <a:rPr lang="da-DK" dirty="0" err="1"/>
              <a:t>todays</a:t>
            </a:r>
            <a:r>
              <a:rPr lang="da-DK" dirty="0"/>
              <a:t> </a:t>
            </a:r>
            <a:r>
              <a:rPr lang="da-DK" dirty="0" err="1"/>
              <a:t>exercises</a:t>
            </a:r>
            <a:r>
              <a:rPr lang="da-DK" dirty="0"/>
              <a:t>. </a:t>
            </a:r>
          </a:p>
          <a:p>
            <a:r>
              <a:rPr lang="da-DK" dirty="0"/>
              <a:t>For </a:t>
            </a:r>
            <a:r>
              <a:rPr lang="da-DK" dirty="0" err="1"/>
              <a:t>diffraction</a:t>
            </a:r>
            <a:r>
              <a:rPr lang="da-DK" dirty="0"/>
              <a:t> and </a:t>
            </a:r>
            <a:r>
              <a:rPr lang="da-DK" dirty="0" err="1"/>
              <a:t>Bragg-edge</a:t>
            </a:r>
            <a:r>
              <a:rPr lang="da-DK" dirty="0"/>
              <a:t> </a:t>
            </a:r>
            <a:r>
              <a:rPr lang="da-DK" dirty="0" err="1"/>
              <a:t>imaging</a:t>
            </a:r>
            <a:r>
              <a:rPr lang="da-DK" dirty="0"/>
              <a:t>, for </a:t>
            </a:r>
            <a:r>
              <a:rPr lang="da-DK" dirty="0" err="1"/>
              <a:t>example</a:t>
            </a:r>
            <a:r>
              <a:rPr lang="da-DK" dirty="0"/>
              <a:t>, the model is </a:t>
            </a:r>
            <a:r>
              <a:rPr lang="da-DK" dirty="0" err="1"/>
              <a:t>usually</a:t>
            </a:r>
            <a:r>
              <a:rPr lang="da-DK" dirty="0"/>
              <a:t> an </a:t>
            </a:r>
            <a:r>
              <a:rPr lang="da-DK" dirty="0" err="1"/>
              <a:t>atomic</a:t>
            </a:r>
            <a:r>
              <a:rPr lang="da-DK" dirty="0"/>
              <a:t> </a:t>
            </a:r>
            <a:r>
              <a:rPr lang="da-DK" dirty="0" err="1"/>
              <a:t>structure</a:t>
            </a:r>
            <a:r>
              <a:rPr lang="da-DK" dirty="0"/>
              <a:t> model.</a:t>
            </a:r>
          </a:p>
          <a:p>
            <a:r>
              <a:rPr lang="da-DK" dirty="0"/>
              <a:t>For </a:t>
            </a:r>
            <a:r>
              <a:rPr lang="da-DK" dirty="0" err="1"/>
              <a:t>reflectometry</a:t>
            </a:r>
            <a:r>
              <a:rPr lang="da-DK" dirty="0"/>
              <a:t> it is a </a:t>
            </a:r>
            <a:r>
              <a:rPr lang="da-DK" dirty="0" err="1"/>
              <a:t>stack</a:t>
            </a:r>
            <a:r>
              <a:rPr lang="da-DK" dirty="0"/>
              <a:t> of </a:t>
            </a:r>
            <a:r>
              <a:rPr lang="da-DK" dirty="0" err="1"/>
              <a:t>layers</a:t>
            </a:r>
            <a:r>
              <a:rPr lang="da-DK" dirty="0"/>
              <a:t> of lipids, </a:t>
            </a:r>
            <a:r>
              <a:rPr lang="da-DK" dirty="0" err="1"/>
              <a:t>membranes</a:t>
            </a:r>
            <a:r>
              <a:rPr lang="da-DK" dirty="0"/>
              <a:t> and </a:t>
            </a:r>
            <a:r>
              <a:rPr lang="da-DK" dirty="0" err="1"/>
              <a:t>liquids</a:t>
            </a:r>
            <a:r>
              <a:rPr lang="da-DK" dirty="0"/>
              <a:t>.</a:t>
            </a:r>
          </a:p>
          <a:p>
            <a:r>
              <a:rPr lang="da-DK" dirty="0"/>
              <a:t>For QENS it </a:t>
            </a:r>
            <a:r>
              <a:rPr lang="da-DK" dirty="0" err="1"/>
              <a:t>could</a:t>
            </a:r>
            <a:r>
              <a:rPr lang="da-DK" dirty="0"/>
              <a:t> </a:t>
            </a:r>
            <a:r>
              <a:rPr lang="da-DK" dirty="0" err="1"/>
              <a:t>be</a:t>
            </a:r>
            <a:r>
              <a:rPr lang="da-DK" dirty="0"/>
              <a:t> the a </a:t>
            </a:r>
            <a:r>
              <a:rPr lang="da-DK" dirty="0" err="1"/>
              <a:t>mathematical</a:t>
            </a:r>
            <a:r>
              <a:rPr lang="da-DK" dirty="0"/>
              <a:t> diffusion model.</a:t>
            </a:r>
          </a:p>
          <a:p>
            <a:r>
              <a:rPr lang="da-DK" dirty="0" err="1"/>
              <a:t>These</a:t>
            </a:r>
            <a:r>
              <a:rPr lang="da-DK" dirty="0"/>
              <a:t> models have MANY tuning parameters and most </a:t>
            </a:r>
            <a:r>
              <a:rPr lang="da-DK" dirty="0" err="1"/>
              <a:t>often</a:t>
            </a:r>
            <a:r>
              <a:rPr lang="da-DK" dirty="0"/>
              <a:t> </a:t>
            </a:r>
            <a:r>
              <a:rPr lang="da-DK" dirty="0" err="1"/>
              <a:t>you</a:t>
            </a:r>
            <a:r>
              <a:rPr lang="da-DK" dirty="0"/>
              <a:t> </a:t>
            </a:r>
            <a:r>
              <a:rPr lang="da-DK" dirty="0" err="1"/>
              <a:t>will</a:t>
            </a:r>
            <a:r>
              <a:rPr lang="da-DK" dirty="0"/>
              <a:t> fix most of </a:t>
            </a:r>
            <a:r>
              <a:rPr lang="da-DK" dirty="0" err="1"/>
              <a:t>them</a:t>
            </a:r>
            <a:r>
              <a:rPr lang="da-DK" dirty="0"/>
              <a:t> and </a:t>
            </a:r>
            <a:r>
              <a:rPr lang="da-DK" dirty="0" err="1"/>
              <a:t>only</a:t>
            </a:r>
            <a:r>
              <a:rPr lang="da-DK" dirty="0"/>
              <a:t> fit a </a:t>
            </a:r>
            <a:r>
              <a:rPr lang="da-DK" dirty="0" err="1"/>
              <a:t>couple</a:t>
            </a:r>
            <a:r>
              <a:rPr lang="da-DK" dirty="0"/>
              <a:t> of the model parameters to </a:t>
            </a:r>
            <a:r>
              <a:rPr lang="da-DK" dirty="0" err="1"/>
              <a:t>avoid</a:t>
            </a:r>
            <a:r>
              <a:rPr lang="da-DK" dirty="0"/>
              <a:t> overfitting the models.</a:t>
            </a:r>
          </a:p>
          <a:p>
            <a:endParaRPr lang="en-GB" dirty="0"/>
          </a:p>
        </p:txBody>
      </p:sp>
      <p:sp>
        <p:nvSpPr>
          <p:cNvPr id="4" name="Slide Number Placeholder 3"/>
          <p:cNvSpPr>
            <a:spLocks noGrp="1"/>
          </p:cNvSpPr>
          <p:nvPr>
            <p:ph type="sldNum" sz="quarter" idx="5"/>
          </p:nvPr>
        </p:nvSpPr>
        <p:spPr/>
        <p:txBody>
          <a:bodyPr/>
          <a:lstStyle/>
          <a:p>
            <a:fld id="{3AE5A434-646A-2746-9BDC-885B2382B33E}" type="slidenum">
              <a:rPr lang="sv-SE" smtClean="0"/>
              <a:t>24</a:t>
            </a:fld>
            <a:endParaRPr lang="sv-SE"/>
          </a:p>
        </p:txBody>
      </p:sp>
    </p:spTree>
    <p:extLst>
      <p:ext uri="{BB962C8B-B14F-4D97-AF65-F5344CB8AC3E}">
        <p14:creationId xmlns:p14="http://schemas.microsoft.com/office/powerpoint/2010/main" val="24965511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noProof="0" dirty="0"/>
              <a:t>So far, the analysis's you’ve all carried out, has all been in the classical, also called frequentist, school of thought, which is based heavily on the central limit theorem.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In other words, it requires many measurements, its conclusions are all based on large sample sizes and it breaks down when you need to analyse very small amounts of data or neutron counts</a:t>
            </a:r>
          </a:p>
          <a:p>
            <a:r>
              <a:rPr lang="en-GB" noProof="0" dirty="0"/>
              <a:t>Another competing, maybe more intuitive, school of thought, without this issue, is the Bayesian school.</a:t>
            </a:r>
            <a:br>
              <a:rPr lang="en-GB" noProof="0" dirty="0"/>
            </a:br>
            <a:endParaRPr lang="en-GB" noProof="0" dirty="0"/>
          </a:p>
          <a:p>
            <a:r>
              <a:rPr lang="en-GB" noProof="0" dirty="0"/>
              <a:t>In Bayesian statistics, a probability is a measure of how certain you are of an outcome, whereas in the frequentist school it is simply your frequency of occurrence, all probabilities are based on previous measurements.</a:t>
            </a:r>
          </a:p>
          <a:p>
            <a:r>
              <a:rPr lang="en-GB" noProof="0" dirty="0"/>
              <a:t>In Bayesian statistics, model parameters are random variables with their own probability distributions, whereas in the Frequentist school of thought, there exists a fixed source of truth, and we might just not have enough data yet to know it.</a:t>
            </a:r>
          </a:p>
          <a:p>
            <a:r>
              <a:rPr lang="en-GB" noProof="0" dirty="0"/>
              <a:t>This means that single-point estimates in Bayesian analysis are ambiguous, the chance to draw a specific number from a distribution is virtually zero, the best we can do is give an interval of certain probability, or give the single value with the highest probability, if one such exists.</a:t>
            </a:r>
          </a:p>
          <a:p>
            <a:r>
              <a:rPr lang="en-GB" noProof="0" dirty="0"/>
              <a:t>Another difference is that in Bayesian statistics, we can incorporate what we know about parameters in their probabilities, such as temperatures being non-negative etc.</a:t>
            </a:r>
          </a:p>
          <a:p>
            <a:r>
              <a:rPr lang="en-GB" noProof="0" dirty="0"/>
              <a:t>In Frequentist analysis we can’t do this, but we instead draw conclusions with minimal guesswork and thereby bias.</a:t>
            </a:r>
          </a:p>
        </p:txBody>
      </p:sp>
      <p:sp>
        <p:nvSpPr>
          <p:cNvPr id="4" name="Slide Number Placeholder 3"/>
          <p:cNvSpPr>
            <a:spLocks noGrp="1"/>
          </p:cNvSpPr>
          <p:nvPr>
            <p:ph type="sldNum" sz="quarter" idx="5"/>
          </p:nvPr>
        </p:nvSpPr>
        <p:spPr/>
        <p:txBody>
          <a:bodyPr/>
          <a:lstStyle/>
          <a:p>
            <a:fld id="{3AE5A434-646A-2746-9BDC-885B2382B33E}" type="slidenum">
              <a:rPr lang="sv-SE" smtClean="0"/>
              <a:t>26</a:t>
            </a:fld>
            <a:endParaRPr lang="sv-SE"/>
          </a:p>
        </p:txBody>
      </p:sp>
    </p:spTree>
    <p:extLst>
      <p:ext uri="{BB962C8B-B14F-4D97-AF65-F5344CB8AC3E}">
        <p14:creationId xmlns:p14="http://schemas.microsoft.com/office/powerpoint/2010/main" val="4839104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E105A-DF89-5750-25FF-DB516ED24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826E4-E92F-747A-258B-651B71AD6F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3741D6-390A-7AC1-76FE-EECEB25715A9}"/>
              </a:ext>
            </a:extLst>
          </p:cNvPr>
          <p:cNvSpPr>
            <a:spLocks noGrp="1"/>
          </p:cNvSpPr>
          <p:nvPr>
            <p:ph type="body" idx="1"/>
          </p:nvPr>
        </p:nvSpPr>
        <p:spPr/>
        <p:txBody>
          <a:bodyPr/>
          <a:lstStyle/>
          <a:p>
            <a:r>
              <a:rPr lang="en-GB" noProof="0" dirty="0"/>
              <a:t>Bayesian analysis also offers more intuitive conclusions than frequentist analysis. The conclusions you draw in frequentist analysis are finnicky and are therefore very often misinterpreted.</a:t>
            </a:r>
          </a:p>
          <a:p>
            <a:endParaRPr lang="en-GB" noProof="0" dirty="0"/>
          </a:p>
          <a:p>
            <a:r>
              <a:rPr lang="en-GB" noProof="0" dirty="0"/>
              <a:t>In Bayesian analysis, you estimate how likely a model is to be true, given the data. In frequentist analysis, you estimate how likely it is that your model does NOT fit the data.</a:t>
            </a:r>
            <a:br>
              <a:rPr lang="en-GB" noProof="0" dirty="0"/>
            </a:br>
            <a:r>
              <a:rPr lang="en-GB" noProof="0" dirty="0"/>
              <a:t>In other words, in the analysis you’ve done so far, you can say nothing about the certainty of your model, only that it doesn’t NOT fit the data. There might be other models out there that fits it better.</a:t>
            </a:r>
          </a:p>
          <a:p>
            <a:r>
              <a:rPr lang="en-GB" noProof="0" dirty="0"/>
              <a:t>The reduced chi-square from your fits is exactly this evaluation, a value under 1 suggests that you’ve overfitted your model, i.e. your model has too many parameters and degrees of freedom.</a:t>
            </a:r>
          </a:p>
          <a:p>
            <a:r>
              <a:rPr lang="en-GB" noProof="0" dirty="0"/>
              <a:t>A value close to one tells you that your model fits the data well, but it does not tell you that your model is correct, merely that it isn’t wrong.</a:t>
            </a:r>
          </a:p>
          <a:p>
            <a:endParaRPr lang="en-GB" noProof="0" dirty="0"/>
          </a:p>
          <a:p>
            <a:r>
              <a:rPr lang="en-GB" noProof="0" dirty="0"/>
              <a:t>Another example where Bayesian analysis is more intuitive is when you calculate model intervals. In Bayesian analysis they’re called “credible intervals” and tells you that there’s a 95% chance that the true parameter is in this interval.</a:t>
            </a:r>
          </a:p>
          <a:p>
            <a:r>
              <a:rPr lang="en-GB" noProof="0" dirty="0"/>
              <a:t>In frequentist analysis they’re called “confidence intervals” and they tell you that, if you had done your measurement many times and calculated the interval each time, the true parameter would be within 95% of those intervals.</a:t>
            </a:r>
          </a:p>
          <a:p>
            <a:r>
              <a:rPr lang="en-GB" noProof="0" dirty="0"/>
              <a:t>You see why this is a somewhat unsatisfactory conclusion? The reason for why it is like that, is again because frequentist analysis is based on the central limit theorem, which requires many measurements. Bayesian analysis does not have this restriction.</a:t>
            </a:r>
          </a:p>
          <a:p>
            <a:endParaRPr lang="en-GB" noProof="0" dirty="0"/>
          </a:p>
        </p:txBody>
      </p:sp>
      <p:sp>
        <p:nvSpPr>
          <p:cNvPr id="4" name="Slide Number Placeholder 3">
            <a:extLst>
              <a:ext uri="{FF2B5EF4-FFF2-40B4-BE49-F238E27FC236}">
                <a16:creationId xmlns:a16="http://schemas.microsoft.com/office/drawing/2014/main" id="{E06F4D77-DCCE-49D3-9694-4A2D0E57FCC8}"/>
              </a:ext>
            </a:extLst>
          </p:cNvPr>
          <p:cNvSpPr>
            <a:spLocks noGrp="1"/>
          </p:cNvSpPr>
          <p:nvPr>
            <p:ph type="sldNum" sz="quarter" idx="5"/>
          </p:nvPr>
        </p:nvSpPr>
        <p:spPr/>
        <p:txBody>
          <a:bodyPr/>
          <a:lstStyle/>
          <a:p>
            <a:fld id="{3AE5A434-646A-2746-9BDC-885B2382B33E}" type="slidenum">
              <a:rPr lang="sv-SE" smtClean="0"/>
              <a:t>27</a:t>
            </a:fld>
            <a:endParaRPr lang="sv-SE"/>
          </a:p>
        </p:txBody>
      </p:sp>
    </p:spTree>
    <p:extLst>
      <p:ext uri="{BB962C8B-B14F-4D97-AF65-F5344CB8AC3E}">
        <p14:creationId xmlns:p14="http://schemas.microsoft.com/office/powerpoint/2010/main" val="38292624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97F59-2F0A-8EFD-9F91-0A949B0B0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BB97F-5971-5DB5-0F4C-DAC9C352308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83C361D-3A97-EE07-EAA5-E62807B38633}"/>
              </a:ext>
            </a:extLst>
          </p:cNvPr>
          <p:cNvSpPr>
            <a:spLocks noGrp="1"/>
          </p:cNvSpPr>
          <p:nvPr>
            <p:ph type="body" idx="1"/>
          </p:nvPr>
        </p:nvSpPr>
        <p:spPr/>
        <p:txBody>
          <a:bodyPr/>
          <a:lstStyle/>
          <a:p>
            <a:r>
              <a:rPr lang="sv-SE" dirty="0" err="1"/>
              <a:t>Hopefully</a:t>
            </a:r>
            <a:r>
              <a:rPr lang="sv-SE" dirty="0"/>
              <a:t>, </a:t>
            </a:r>
            <a:r>
              <a:rPr lang="sv-SE" dirty="0" err="1"/>
              <a:t>I’ve</a:t>
            </a:r>
            <a:r>
              <a:rPr lang="sv-SE" dirty="0"/>
              <a:t> </a:t>
            </a:r>
            <a:r>
              <a:rPr lang="sv-SE" dirty="0" err="1"/>
              <a:t>convinced</a:t>
            </a:r>
            <a:r>
              <a:rPr lang="sv-SE" dirty="0"/>
              <a:t> </a:t>
            </a:r>
            <a:r>
              <a:rPr lang="sv-SE" dirty="0" err="1"/>
              <a:t>you</a:t>
            </a:r>
            <a:r>
              <a:rPr lang="sv-SE" dirty="0"/>
              <a:t> by </a:t>
            </a:r>
            <a:r>
              <a:rPr lang="sv-SE" dirty="0" err="1"/>
              <a:t>now</a:t>
            </a:r>
            <a:r>
              <a:rPr lang="sv-SE" dirty="0"/>
              <a:t> </a:t>
            </a:r>
            <a:r>
              <a:rPr lang="sv-SE" dirty="0" err="1"/>
              <a:t>that</a:t>
            </a:r>
            <a:r>
              <a:rPr lang="sv-SE" dirty="0"/>
              <a:t> </a:t>
            </a:r>
            <a:r>
              <a:rPr lang="sv-SE" dirty="0" err="1"/>
              <a:t>doing</a:t>
            </a:r>
            <a:r>
              <a:rPr lang="sv-SE" dirty="0"/>
              <a:t> </a:t>
            </a:r>
            <a:r>
              <a:rPr lang="sv-SE" dirty="0" err="1"/>
              <a:t>Bayesian</a:t>
            </a:r>
            <a:r>
              <a:rPr lang="sv-SE" dirty="0"/>
              <a:t> </a:t>
            </a:r>
            <a:r>
              <a:rPr lang="sv-SE" dirty="0" err="1"/>
              <a:t>analysis</a:t>
            </a:r>
            <a:r>
              <a:rPr lang="sv-SE" dirty="0"/>
              <a:t> is </a:t>
            </a:r>
            <a:r>
              <a:rPr lang="sv-SE" dirty="0" err="1"/>
              <a:t>worth</a:t>
            </a:r>
            <a:r>
              <a:rPr lang="sv-SE" dirty="0"/>
              <a:t> it. </a:t>
            </a:r>
            <a:r>
              <a:rPr lang="sv-SE" dirty="0" err="1"/>
              <a:t>Whereas</a:t>
            </a:r>
            <a:r>
              <a:rPr lang="sv-SE" dirty="0"/>
              <a:t> </a:t>
            </a:r>
            <a:r>
              <a:rPr lang="sv-SE" dirty="0" err="1"/>
              <a:t>frequentist</a:t>
            </a:r>
            <a:r>
              <a:rPr lang="sv-SE" dirty="0"/>
              <a:t> </a:t>
            </a:r>
            <a:r>
              <a:rPr lang="sv-SE" dirty="0" err="1"/>
              <a:t>analysis</a:t>
            </a:r>
            <a:r>
              <a:rPr lang="sv-SE" dirty="0"/>
              <a:t> </a:t>
            </a:r>
            <a:r>
              <a:rPr lang="sv-SE" dirty="0" err="1"/>
              <a:t>was</a:t>
            </a:r>
            <a:r>
              <a:rPr lang="sv-SE" dirty="0"/>
              <a:t> </a:t>
            </a:r>
            <a:r>
              <a:rPr lang="sv-SE" dirty="0" err="1"/>
              <a:t>based</a:t>
            </a:r>
            <a:r>
              <a:rPr lang="sv-SE" dirty="0"/>
              <a:t> on the central limit </a:t>
            </a:r>
            <a:r>
              <a:rPr lang="sv-SE" dirty="0" err="1"/>
              <a:t>theorem</a:t>
            </a:r>
            <a:r>
              <a:rPr lang="sv-SE" dirty="0"/>
              <a:t>, </a:t>
            </a:r>
            <a:r>
              <a:rPr lang="sv-SE" dirty="0" err="1"/>
              <a:t>Bayesian</a:t>
            </a:r>
            <a:r>
              <a:rPr lang="sv-SE" dirty="0"/>
              <a:t> </a:t>
            </a:r>
            <a:r>
              <a:rPr lang="sv-SE" dirty="0" err="1"/>
              <a:t>analysis</a:t>
            </a:r>
            <a:r>
              <a:rPr lang="sv-SE" dirty="0"/>
              <a:t> is </a:t>
            </a:r>
            <a:r>
              <a:rPr lang="sv-SE" dirty="0" err="1"/>
              <a:t>based</a:t>
            </a:r>
            <a:r>
              <a:rPr lang="sv-SE" dirty="0"/>
              <a:t> on </a:t>
            </a:r>
            <a:r>
              <a:rPr lang="sv-SE" dirty="0" err="1"/>
              <a:t>Bayes</a:t>
            </a:r>
            <a:r>
              <a:rPr lang="sv-SE" dirty="0"/>
              <a:t> </a:t>
            </a:r>
            <a:r>
              <a:rPr lang="sv-SE" dirty="0" err="1"/>
              <a:t>theorem</a:t>
            </a:r>
            <a:r>
              <a:rPr lang="sv-SE" dirty="0"/>
              <a:t>.</a:t>
            </a:r>
          </a:p>
          <a:p>
            <a:r>
              <a:rPr lang="sv-SE" dirty="0" err="1"/>
              <a:t>Here</a:t>
            </a:r>
            <a:r>
              <a:rPr lang="sv-SE" dirty="0"/>
              <a:t>, E is </a:t>
            </a:r>
            <a:r>
              <a:rPr lang="sv-SE" dirty="0" err="1"/>
              <a:t>called</a:t>
            </a:r>
            <a:r>
              <a:rPr lang="sv-SE" dirty="0"/>
              <a:t> the ”</a:t>
            </a:r>
            <a:r>
              <a:rPr lang="sv-SE" dirty="0" err="1"/>
              <a:t>evidence</a:t>
            </a:r>
            <a:r>
              <a:rPr lang="sv-SE" dirty="0"/>
              <a:t>”, </a:t>
            </a:r>
            <a:r>
              <a:rPr lang="sv-SE" dirty="0" err="1"/>
              <a:t>but</a:t>
            </a:r>
            <a:r>
              <a:rPr lang="sv-SE" dirty="0"/>
              <a:t> it </a:t>
            </a:r>
            <a:r>
              <a:rPr lang="sv-SE" dirty="0" err="1"/>
              <a:t>really</a:t>
            </a:r>
            <a:r>
              <a:rPr lang="sv-SE" dirty="0"/>
              <a:t> is just </a:t>
            </a:r>
            <a:r>
              <a:rPr lang="sv-SE" dirty="0" err="1"/>
              <a:t>your</a:t>
            </a:r>
            <a:r>
              <a:rPr lang="sv-SE" dirty="0"/>
              <a:t> data, H is </a:t>
            </a:r>
            <a:r>
              <a:rPr lang="sv-SE" dirty="0" err="1"/>
              <a:t>your</a:t>
            </a:r>
            <a:r>
              <a:rPr lang="sv-SE" dirty="0"/>
              <a:t> </a:t>
            </a:r>
            <a:r>
              <a:rPr lang="sv-SE" dirty="0" err="1"/>
              <a:t>hypothesis</a:t>
            </a:r>
            <a:r>
              <a:rPr lang="sv-SE" dirty="0"/>
              <a:t>, </a:t>
            </a:r>
            <a:r>
              <a:rPr lang="sv-SE" dirty="0" err="1"/>
              <a:t>which</a:t>
            </a:r>
            <a:r>
              <a:rPr lang="sv-SE" dirty="0"/>
              <a:t> is the parameters </a:t>
            </a:r>
            <a:r>
              <a:rPr lang="sv-SE" dirty="0" err="1"/>
              <a:t>of</a:t>
            </a:r>
            <a:r>
              <a:rPr lang="sv-SE" dirty="0"/>
              <a:t> the </a:t>
            </a:r>
            <a:r>
              <a:rPr lang="sv-SE" dirty="0" err="1"/>
              <a:t>model</a:t>
            </a:r>
            <a:r>
              <a:rPr lang="sv-SE" dirty="0"/>
              <a:t> </a:t>
            </a:r>
            <a:r>
              <a:rPr lang="sv-SE" dirty="0" err="1"/>
              <a:t>you’re</a:t>
            </a:r>
            <a:r>
              <a:rPr lang="sv-SE" dirty="0"/>
              <a:t> </a:t>
            </a:r>
            <a:r>
              <a:rPr lang="sv-SE" dirty="0" err="1"/>
              <a:t>trying</a:t>
            </a:r>
            <a:r>
              <a:rPr lang="sv-SE" dirty="0"/>
              <a:t> </a:t>
            </a:r>
            <a:r>
              <a:rPr lang="sv-SE" dirty="0" err="1"/>
              <a:t>out</a:t>
            </a:r>
            <a:r>
              <a:rPr lang="sv-SE" dirty="0"/>
              <a:t> and </a:t>
            </a:r>
            <a:r>
              <a:rPr lang="sv-SE" dirty="0" err="1"/>
              <a:t>this</a:t>
            </a:r>
            <a:r>
              <a:rPr lang="sv-SE" dirty="0"/>
              <a:t> term </a:t>
            </a:r>
            <a:r>
              <a:rPr lang="sv-SE" dirty="0" err="1"/>
              <a:t>here</a:t>
            </a:r>
            <a:r>
              <a:rPr lang="sv-SE" dirty="0"/>
              <a:t> on the </a:t>
            </a:r>
            <a:r>
              <a:rPr lang="sv-SE" dirty="0" err="1"/>
              <a:t>left</a:t>
            </a:r>
            <a:r>
              <a:rPr lang="sv-SE" dirty="0"/>
              <a:t> is </a:t>
            </a:r>
            <a:r>
              <a:rPr lang="sv-SE" dirty="0" err="1"/>
              <a:t>called</a:t>
            </a:r>
            <a:r>
              <a:rPr lang="sv-SE" dirty="0"/>
              <a:t> the ”</a:t>
            </a:r>
            <a:r>
              <a:rPr lang="sv-SE" dirty="0" err="1"/>
              <a:t>posterior</a:t>
            </a:r>
            <a:r>
              <a:rPr lang="sv-SE" dirty="0"/>
              <a:t> </a:t>
            </a:r>
            <a:r>
              <a:rPr lang="sv-SE" dirty="0" err="1"/>
              <a:t>probability</a:t>
            </a:r>
            <a:r>
              <a:rPr lang="sv-SE" dirty="0"/>
              <a:t>”.</a:t>
            </a:r>
            <a:br>
              <a:rPr lang="sv-SE" dirty="0"/>
            </a:br>
            <a:r>
              <a:rPr lang="sv-SE" dirty="0"/>
              <a:t>It is </a:t>
            </a:r>
            <a:r>
              <a:rPr lang="sv-SE" dirty="0" err="1"/>
              <a:t>essentially</a:t>
            </a:r>
            <a:r>
              <a:rPr lang="sv-SE" dirty="0"/>
              <a:t> the </a:t>
            </a:r>
            <a:r>
              <a:rPr lang="sv-SE" dirty="0" err="1"/>
              <a:t>likelihood</a:t>
            </a:r>
            <a:r>
              <a:rPr lang="sv-SE" dirty="0"/>
              <a:t> </a:t>
            </a:r>
            <a:r>
              <a:rPr lang="sv-SE" dirty="0" err="1"/>
              <a:t>of</a:t>
            </a:r>
            <a:r>
              <a:rPr lang="sv-SE" dirty="0"/>
              <a:t> </a:t>
            </a:r>
            <a:r>
              <a:rPr lang="sv-SE" dirty="0" err="1"/>
              <a:t>your</a:t>
            </a:r>
            <a:r>
              <a:rPr lang="sv-SE" dirty="0"/>
              <a:t> </a:t>
            </a:r>
            <a:r>
              <a:rPr lang="sv-SE" dirty="0" err="1"/>
              <a:t>model</a:t>
            </a:r>
            <a:r>
              <a:rPr lang="sv-SE" dirty="0"/>
              <a:t> parameters </a:t>
            </a:r>
            <a:r>
              <a:rPr lang="sv-SE" dirty="0" err="1"/>
              <a:t>being</a:t>
            </a:r>
            <a:r>
              <a:rPr lang="sv-SE" dirty="0"/>
              <a:t> </a:t>
            </a:r>
            <a:r>
              <a:rPr lang="sv-SE" dirty="0" err="1"/>
              <a:t>true</a:t>
            </a:r>
            <a:r>
              <a:rPr lang="sv-SE" dirty="0"/>
              <a:t>, given the data </a:t>
            </a:r>
            <a:r>
              <a:rPr lang="sv-SE" dirty="0" err="1"/>
              <a:t>you’ve</a:t>
            </a:r>
            <a:r>
              <a:rPr lang="sv-SE" dirty="0"/>
              <a:t> </a:t>
            </a:r>
            <a:r>
              <a:rPr lang="sv-SE" dirty="0" err="1"/>
              <a:t>observed</a:t>
            </a:r>
            <a:r>
              <a:rPr lang="sv-SE" dirty="0"/>
              <a:t>. Most </a:t>
            </a:r>
            <a:r>
              <a:rPr lang="sv-SE" dirty="0" err="1"/>
              <a:t>Bayesian</a:t>
            </a:r>
            <a:r>
              <a:rPr lang="sv-SE" dirty="0"/>
              <a:t> </a:t>
            </a:r>
            <a:r>
              <a:rPr lang="sv-SE" dirty="0" err="1"/>
              <a:t>analysis</a:t>
            </a:r>
            <a:r>
              <a:rPr lang="sv-SE" dirty="0"/>
              <a:t> is </a:t>
            </a:r>
            <a:r>
              <a:rPr lang="sv-SE" dirty="0" err="1"/>
              <a:t>simply</a:t>
            </a:r>
            <a:r>
              <a:rPr lang="sv-SE" dirty="0"/>
              <a:t> </a:t>
            </a:r>
            <a:r>
              <a:rPr lang="sv-SE" dirty="0" err="1"/>
              <a:t>about</a:t>
            </a:r>
            <a:r>
              <a:rPr lang="sv-SE" dirty="0"/>
              <a:t> </a:t>
            </a:r>
            <a:r>
              <a:rPr lang="sv-SE" dirty="0" err="1"/>
              <a:t>finding</a:t>
            </a:r>
            <a:r>
              <a:rPr lang="sv-SE" dirty="0"/>
              <a:t> the best </a:t>
            </a:r>
            <a:r>
              <a:rPr lang="sv-SE" dirty="0" err="1"/>
              <a:t>model</a:t>
            </a:r>
            <a:r>
              <a:rPr lang="sv-SE" dirty="0"/>
              <a:t> parameters </a:t>
            </a:r>
            <a:r>
              <a:rPr lang="sv-SE" dirty="0" err="1"/>
              <a:t>which</a:t>
            </a:r>
            <a:r>
              <a:rPr lang="sv-SE" dirty="0"/>
              <a:t> </a:t>
            </a:r>
            <a:r>
              <a:rPr lang="sv-SE" dirty="0" err="1"/>
              <a:t>maximizes</a:t>
            </a:r>
            <a:r>
              <a:rPr lang="sv-SE" dirty="0"/>
              <a:t> </a:t>
            </a:r>
            <a:r>
              <a:rPr lang="sv-SE" dirty="0" err="1"/>
              <a:t>this</a:t>
            </a:r>
            <a:r>
              <a:rPr lang="sv-SE" dirty="0"/>
              <a:t>.</a:t>
            </a:r>
          </a:p>
          <a:p>
            <a:r>
              <a:rPr lang="sv-SE" dirty="0" err="1"/>
              <a:t>This</a:t>
            </a:r>
            <a:r>
              <a:rPr lang="sv-SE" dirty="0"/>
              <a:t> term </a:t>
            </a:r>
            <a:r>
              <a:rPr lang="sv-SE" dirty="0" err="1"/>
              <a:t>here</a:t>
            </a:r>
            <a:r>
              <a:rPr lang="sv-SE" dirty="0"/>
              <a:t> is the </a:t>
            </a:r>
            <a:r>
              <a:rPr lang="sv-SE" dirty="0" err="1"/>
              <a:t>likelihood</a:t>
            </a:r>
            <a:r>
              <a:rPr lang="sv-SE" dirty="0"/>
              <a:t> </a:t>
            </a:r>
            <a:r>
              <a:rPr lang="sv-SE" dirty="0" err="1"/>
              <a:t>of</a:t>
            </a:r>
            <a:r>
              <a:rPr lang="sv-SE" dirty="0"/>
              <a:t> </a:t>
            </a:r>
            <a:r>
              <a:rPr lang="sv-SE" dirty="0" err="1"/>
              <a:t>observing</a:t>
            </a:r>
            <a:r>
              <a:rPr lang="sv-SE" dirty="0"/>
              <a:t> </a:t>
            </a:r>
            <a:r>
              <a:rPr lang="sv-SE" dirty="0" err="1"/>
              <a:t>your</a:t>
            </a:r>
            <a:r>
              <a:rPr lang="sv-SE" dirty="0"/>
              <a:t> data, </a:t>
            </a:r>
            <a:r>
              <a:rPr lang="sv-SE" dirty="0" err="1"/>
              <a:t>assuming</a:t>
            </a:r>
            <a:r>
              <a:rPr lang="sv-SE" dirty="0"/>
              <a:t> </a:t>
            </a:r>
            <a:r>
              <a:rPr lang="sv-SE" dirty="0" err="1"/>
              <a:t>your</a:t>
            </a:r>
            <a:r>
              <a:rPr lang="sv-SE" dirty="0"/>
              <a:t> </a:t>
            </a:r>
            <a:r>
              <a:rPr lang="sv-SE" dirty="0" err="1"/>
              <a:t>model</a:t>
            </a:r>
            <a:r>
              <a:rPr lang="sv-SE" dirty="0"/>
              <a:t> is </a:t>
            </a:r>
            <a:r>
              <a:rPr lang="sv-SE" dirty="0" err="1"/>
              <a:t>true</a:t>
            </a:r>
            <a:r>
              <a:rPr lang="sv-SE" dirty="0"/>
              <a:t>, it is the same </a:t>
            </a:r>
            <a:r>
              <a:rPr lang="sv-SE" dirty="0" err="1"/>
              <a:t>function</a:t>
            </a:r>
            <a:r>
              <a:rPr lang="sv-SE" dirty="0"/>
              <a:t> </a:t>
            </a:r>
            <a:r>
              <a:rPr lang="sv-SE" dirty="0" err="1"/>
              <a:t>which</a:t>
            </a:r>
            <a:r>
              <a:rPr lang="sv-SE" dirty="0"/>
              <a:t> </a:t>
            </a:r>
            <a:r>
              <a:rPr lang="sv-SE" dirty="0" err="1"/>
              <a:t>you</a:t>
            </a:r>
            <a:r>
              <a:rPr lang="sv-SE" dirty="0"/>
              <a:t> </a:t>
            </a:r>
            <a:r>
              <a:rPr lang="sv-SE" dirty="0" err="1"/>
              <a:t>maximized</a:t>
            </a:r>
            <a:r>
              <a:rPr lang="sv-SE" dirty="0"/>
              <a:t> in </a:t>
            </a:r>
            <a:r>
              <a:rPr lang="sv-SE" dirty="0" err="1"/>
              <a:t>your</a:t>
            </a:r>
            <a:r>
              <a:rPr lang="sv-SE" dirty="0"/>
              <a:t> </a:t>
            </a:r>
            <a:r>
              <a:rPr lang="sv-SE" dirty="0" err="1"/>
              <a:t>frequentist</a:t>
            </a:r>
            <a:r>
              <a:rPr lang="sv-SE" dirty="0"/>
              <a:t> </a:t>
            </a:r>
            <a:r>
              <a:rPr lang="sv-SE" dirty="0" err="1"/>
              <a:t>analysis</a:t>
            </a:r>
            <a:r>
              <a:rPr lang="sv-SE" dirty="0"/>
              <a:t> </a:t>
            </a:r>
            <a:r>
              <a:rPr lang="sv-SE" dirty="0" err="1"/>
              <a:t>until</a:t>
            </a:r>
            <a:r>
              <a:rPr lang="sv-SE" dirty="0"/>
              <a:t> </a:t>
            </a:r>
            <a:r>
              <a:rPr lang="sv-SE" dirty="0" err="1"/>
              <a:t>now</a:t>
            </a:r>
            <a:r>
              <a:rPr lang="sv-SE" dirty="0"/>
              <a:t>.</a:t>
            </a:r>
          </a:p>
          <a:p>
            <a:r>
              <a:rPr lang="sv-SE" dirty="0" err="1"/>
              <a:t>This</a:t>
            </a:r>
            <a:r>
              <a:rPr lang="sv-SE" dirty="0"/>
              <a:t> is </a:t>
            </a:r>
            <a:r>
              <a:rPr lang="sv-SE" dirty="0" err="1"/>
              <a:t>multiplied</a:t>
            </a:r>
            <a:r>
              <a:rPr lang="sv-SE" dirty="0"/>
              <a:t> by the prior, </a:t>
            </a:r>
            <a:r>
              <a:rPr lang="sv-SE" dirty="0" err="1"/>
              <a:t>which</a:t>
            </a:r>
            <a:r>
              <a:rPr lang="sv-SE" dirty="0"/>
              <a:t> is </a:t>
            </a:r>
            <a:r>
              <a:rPr lang="sv-SE" dirty="0" err="1"/>
              <a:t>where</a:t>
            </a:r>
            <a:r>
              <a:rPr lang="sv-SE" dirty="0"/>
              <a:t> </a:t>
            </a:r>
            <a:r>
              <a:rPr lang="sv-SE" dirty="0" err="1"/>
              <a:t>Bayesian</a:t>
            </a:r>
            <a:r>
              <a:rPr lang="sv-SE" dirty="0"/>
              <a:t> </a:t>
            </a:r>
            <a:r>
              <a:rPr lang="sv-SE" dirty="0" err="1"/>
              <a:t>analysis</a:t>
            </a:r>
            <a:r>
              <a:rPr lang="sv-SE" dirty="0"/>
              <a:t> gets </a:t>
            </a:r>
            <a:r>
              <a:rPr lang="sv-SE" dirty="0" err="1"/>
              <a:t>interesting</a:t>
            </a:r>
            <a:r>
              <a:rPr lang="sv-SE" dirty="0"/>
              <a:t>. As </a:t>
            </a:r>
            <a:r>
              <a:rPr lang="sv-SE" dirty="0" err="1"/>
              <a:t>you</a:t>
            </a:r>
            <a:r>
              <a:rPr lang="sv-SE" dirty="0"/>
              <a:t> </a:t>
            </a:r>
            <a:r>
              <a:rPr lang="sv-SE" dirty="0" err="1"/>
              <a:t>see</a:t>
            </a:r>
            <a:r>
              <a:rPr lang="sv-SE" dirty="0"/>
              <a:t>, the prior </a:t>
            </a:r>
            <a:r>
              <a:rPr lang="sv-SE" dirty="0" err="1"/>
              <a:t>does</a:t>
            </a:r>
            <a:r>
              <a:rPr lang="sv-SE" dirty="0"/>
              <a:t> not </a:t>
            </a:r>
            <a:r>
              <a:rPr lang="sv-SE" dirty="0" err="1"/>
              <a:t>depend</a:t>
            </a:r>
            <a:r>
              <a:rPr lang="sv-SE" dirty="0"/>
              <a:t> on </a:t>
            </a:r>
            <a:r>
              <a:rPr lang="sv-SE" dirty="0" err="1"/>
              <a:t>your</a:t>
            </a:r>
            <a:r>
              <a:rPr lang="sv-SE" dirty="0"/>
              <a:t> </a:t>
            </a:r>
            <a:r>
              <a:rPr lang="sv-SE" dirty="0" err="1"/>
              <a:t>observed</a:t>
            </a:r>
            <a:r>
              <a:rPr lang="sv-SE" dirty="0"/>
              <a:t> data. It is </a:t>
            </a:r>
            <a:r>
              <a:rPr lang="sv-SE" dirty="0" err="1"/>
              <a:t>your</a:t>
            </a:r>
            <a:r>
              <a:rPr lang="sv-SE" dirty="0"/>
              <a:t> best </a:t>
            </a:r>
            <a:r>
              <a:rPr lang="sv-SE" dirty="0" err="1"/>
              <a:t>guess</a:t>
            </a:r>
            <a:r>
              <a:rPr lang="sv-SE" dirty="0"/>
              <a:t> </a:t>
            </a:r>
            <a:r>
              <a:rPr lang="sv-SE" dirty="0" err="1"/>
              <a:t>of</a:t>
            </a:r>
            <a:r>
              <a:rPr lang="sv-SE" dirty="0"/>
              <a:t> </a:t>
            </a:r>
            <a:r>
              <a:rPr lang="sv-SE" dirty="0" err="1"/>
              <a:t>how</a:t>
            </a:r>
            <a:r>
              <a:rPr lang="sv-SE" dirty="0"/>
              <a:t> </a:t>
            </a:r>
            <a:r>
              <a:rPr lang="sv-SE" dirty="0" err="1"/>
              <a:t>likely</a:t>
            </a:r>
            <a:r>
              <a:rPr lang="sv-SE" dirty="0"/>
              <a:t> </a:t>
            </a:r>
            <a:r>
              <a:rPr lang="sv-SE" dirty="0" err="1"/>
              <a:t>your</a:t>
            </a:r>
            <a:r>
              <a:rPr lang="sv-SE" dirty="0"/>
              <a:t> </a:t>
            </a:r>
            <a:r>
              <a:rPr lang="sv-SE" dirty="0" err="1"/>
              <a:t>model</a:t>
            </a:r>
            <a:r>
              <a:rPr lang="sv-SE" dirty="0"/>
              <a:t> parameter </a:t>
            </a:r>
            <a:r>
              <a:rPr lang="sv-SE" dirty="0" err="1"/>
              <a:t>values</a:t>
            </a:r>
            <a:r>
              <a:rPr lang="sv-SE" dirty="0"/>
              <a:t> is to be </a:t>
            </a:r>
            <a:r>
              <a:rPr lang="sv-SE" dirty="0" err="1"/>
              <a:t>true</a:t>
            </a:r>
            <a:r>
              <a:rPr lang="sv-SE" dirty="0"/>
              <a:t>.</a:t>
            </a:r>
          </a:p>
          <a:p>
            <a:r>
              <a:rPr lang="sv-SE" dirty="0"/>
              <a:t>For </a:t>
            </a:r>
            <a:r>
              <a:rPr lang="sv-SE" dirty="0" err="1"/>
              <a:t>example</a:t>
            </a:r>
            <a:r>
              <a:rPr lang="sv-SE" dirty="0"/>
              <a:t>, </a:t>
            </a:r>
            <a:r>
              <a:rPr lang="sv-SE" dirty="0" err="1"/>
              <a:t>if</a:t>
            </a:r>
            <a:r>
              <a:rPr lang="sv-SE" dirty="0"/>
              <a:t> a parameter is a </a:t>
            </a:r>
            <a:r>
              <a:rPr lang="sv-SE" dirty="0" err="1"/>
              <a:t>temperature</a:t>
            </a:r>
            <a:r>
              <a:rPr lang="sv-SE" dirty="0"/>
              <a:t>, </a:t>
            </a:r>
            <a:r>
              <a:rPr lang="sv-SE" dirty="0" err="1"/>
              <a:t>you</a:t>
            </a:r>
            <a:r>
              <a:rPr lang="sv-SE" dirty="0"/>
              <a:t> </a:t>
            </a:r>
            <a:r>
              <a:rPr lang="sv-SE" dirty="0" err="1"/>
              <a:t>could</a:t>
            </a:r>
            <a:r>
              <a:rPr lang="sv-SE" dirty="0"/>
              <a:t> </a:t>
            </a:r>
            <a:r>
              <a:rPr lang="sv-SE" dirty="0" err="1"/>
              <a:t>use</a:t>
            </a:r>
            <a:r>
              <a:rPr lang="sv-SE" dirty="0"/>
              <a:t> a </a:t>
            </a:r>
            <a:r>
              <a:rPr lang="sv-SE" dirty="0" err="1"/>
              <a:t>function</a:t>
            </a:r>
            <a:r>
              <a:rPr lang="sv-SE" dirty="0"/>
              <a:t> </a:t>
            </a:r>
            <a:r>
              <a:rPr lang="sv-SE" dirty="0" err="1"/>
              <a:t>here</a:t>
            </a:r>
            <a:r>
              <a:rPr lang="sv-SE" dirty="0"/>
              <a:t> </a:t>
            </a:r>
            <a:r>
              <a:rPr lang="sv-SE" dirty="0" err="1"/>
              <a:t>which</a:t>
            </a:r>
            <a:r>
              <a:rPr lang="sv-SE" dirty="0"/>
              <a:t> </a:t>
            </a:r>
            <a:r>
              <a:rPr lang="sv-SE" dirty="0" err="1"/>
              <a:t>can’t</a:t>
            </a:r>
            <a:r>
              <a:rPr lang="sv-SE" dirty="0"/>
              <a:t> be negative, </a:t>
            </a:r>
            <a:r>
              <a:rPr lang="sv-SE" dirty="0" err="1"/>
              <a:t>since</a:t>
            </a:r>
            <a:r>
              <a:rPr lang="sv-SE" dirty="0"/>
              <a:t> a </a:t>
            </a:r>
            <a:r>
              <a:rPr lang="sv-SE" dirty="0" err="1"/>
              <a:t>temperature</a:t>
            </a:r>
            <a:r>
              <a:rPr lang="sv-SE" dirty="0"/>
              <a:t> in Kelvin </a:t>
            </a:r>
            <a:r>
              <a:rPr lang="sv-SE" dirty="0" err="1"/>
              <a:t>can’t</a:t>
            </a:r>
            <a:r>
              <a:rPr lang="sv-SE" dirty="0"/>
              <a:t> be negative. </a:t>
            </a:r>
          </a:p>
          <a:p>
            <a:r>
              <a:rPr lang="sv-SE" dirty="0"/>
              <a:t>The last term is the </a:t>
            </a:r>
            <a:r>
              <a:rPr lang="sv-SE" dirty="0" err="1"/>
              <a:t>evidence</a:t>
            </a:r>
            <a:r>
              <a:rPr lang="sv-SE" dirty="0"/>
              <a:t> term. It </a:t>
            </a:r>
            <a:r>
              <a:rPr lang="sv-SE" dirty="0" err="1"/>
              <a:t>only</a:t>
            </a:r>
            <a:r>
              <a:rPr lang="sv-SE" dirty="0"/>
              <a:t> </a:t>
            </a:r>
            <a:r>
              <a:rPr lang="sv-SE" dirty="0" err="1"/>
              <a:t>depends</a:t>
            </a:r>
            <a:r>
              <a:rPr lang="sv-SE" dirty="0"/>
              <a:t> on </a:t>
            </a:r>
            <a:r>
              <a:rPr lang="sv-SE" dirty="0" err="1"/>
              <a:t>your</a:t>
            </a:r>
            <a:r>
              <a:rPr lang="sv-SE" dirty="0"/>
              <a:t> data, and not </a:t>
            </a:r>
            <a:r>
              <a:rPr lang="sv-SE" dirty="0" err="1"/>
              <a:t>your</a:t>
            </a:r>
            <a:r>
              <a:rPr lang="sv-SE" dirty="0"/>
              <a:t> </a:t>
            </a:r>
            <a:r>
              <a:rPr lang="sv-SE" dirty="0" err="1"/>
              <a:t>model</a:t>
            </a:r>
            <a:r>
              <a:rPr lang="sv-SE" dirty="0"/>
              <a:t> parameters, and it is </a:t>
            </a:r>
            <a:r>
              <a:rPr lang="sv-SE" dirty="0" err="1"/>
              <a:t>therefore</a:t>
            </a:r>
            <a:r>
              <a:rPr lang="sv-SE" dirty="0"/>
              <a:t> </a:t>
            </a:r>
            <a:r>
              <a:rPr lang="sv-SE" dirty="0" err="1"/>
              <a:t>often</a:t>
            </a:r>
            <a:r>
              <a:rPr lang="sv-SE" dirty="0"/>
              <a:t> </a:t>
            </a:r>
            <a:r>
              <a:rPr lang="sv-SE" dirty="0" err="1"/>
              <a:t>ignored</a:t>
            </a:r>
            <a:r>
              <a:rPr lang="sv-SE" dirty="0"/>
              <a:t>.</a:t>
            </a:r>
          </a:p>
          <a:p>
            <a:r>
              <a:rPr lang="sv-SE" dirty="0" err="1"/>
              <a:t>Now</a:t>
            </a:r>
            <a:r>
              <a:rPr lang="sv-SE" dirty="0"/>
              <a:t>, </a:t>
            </a:r>
            <a:r>
              <a:rPr lang="sv-SE" dirty="0" err="1"/>
              <a:t>maximizing</a:t>
            </a:r>
            <a:r>
              <a:rPr lang="sv-SE" dirty="0"/>
              <a:t> the </a:t>
            </a:r>
            <a:r>
              <a:rPr lang="sv-SE" dirty="0" err="1"/>
              <a:t>posterior</a:t>
            </a:r>
            <a:r>
              <a:rPr lang="sv-SE" dirty="0"/>
              <a:t> </a:t>
            </a:r>
            <a:r>
              <a:rPr lang="sv-SE" dirty="0" err="1"/>
              <a:t>here</a:t>
            </a:r>
            <a:r>
              <a:rPr lang="sv-SE" dirty="0"/>
              <a:t>, is </a:t>
            </a:r>
            <a:r>
              <a:rPr lang="sv-SE" dirty="0" err="1"/>
              <a:t>actually</a:t>
            </a:r>
            <a:r>
              <a:rPr lang="sv-SE" dirty="0"/>
              <a:t> </a:t>
            </a:r>
            <a:r>
              <a:rPr lang="sv-SE" dirty="0" err="1"/>
              <a:t>equivalent</a:t>
            </a:r>
            <a:r>
              <a:rPr lang="sv-SE" dirty="0"/>
              <a:t> to the </a:t>
            </a:r>
            <a:r>
              <a:rPr lang="sv-SE" dirty="0" err="1"/>
              <a:t>fiting</a:t>
            </a:r>
            <a:r>
              <a:rPr lang="sv-SE" dirty="0"/>
              <a:t> </a:t>
            </a:r>
            <a:r>
              <a:rPr lang="sv-SE" dirty="0" err="1"/>
              <a:t>you’ve</a:t>
            </a:r>
            <a:r>
              <a:rPr lang="sv-SE" dirty="0"/>
              <a:t> </a:t>
            </a:r>
            <a:r>
              <a:rPr lang="sv-SE" dirty="0" err="1"/>
              <a:t>done</a:t>
            </a:r>
            <a:r>
              <a:rPr lang="sv-SE" dirty="0"/>
              <a:t> so far, </a:t>
            </a:r>
            <a:r>
              <a:rPr lang="sv-SE" dirty="0" err="1"/>
              <a:t>if</a:t>
            </a:r>
            <a:r>
              <a:rPr lang="sv-SE" dirty="0"/>
              <a:t> </a:t>
            </a:r>
            <a:r>
              <a:rPr lang="sv-SE" dirty="0" err="1"/>
              <a:t>you</a:t>
            </a:r>
            <a:r>
              <a:rPr lang="sv-SE" dirty="0"/>
              <a:t> </a:t>
            </a:r>
            <a:r>
              <a:rPr lang="sv-SE" dirty="0" err="1"/>
              <a:t>simply</a:t>
            </a:r>
            <a:r>
              <a:rPr lang="sv-SE" dirty="0"/>
              <a:t> </a:t>
            </a:r>
            <a:r>
              <a:rPr lang="sv-SE" dirty="0" err="1"/>
              <a:t>use</a:t>
            </a:r>
            <a:r>
              <a:rPr lang="sv-SE" dirty="0"/>
              <a:t> a uniform prior distribution </a:t>
            </a:r>
            <a:r>
              <a:rPr lang="sv-SE" dirty="0" err="1"/>
              <a:t>here</a:t>
            </a:r>
            <a:r>
              <a:rPr lang="sv-SE" dirty="0"/>
              <a:t>, as all parameters </a:t>
            </a:r>
            <a:r>
              <a:rPr lang="sv-SE" dirty="0" err="1"/>
              <a:t>are</a:t>
            </a:r>
            <a:r>
              <a:rPr lang="sv-SE" dirty="0"/>
              <a:t> </a:t>
            </a:r>
            <a:r>
              <a:rPr lang="sv-SE" dirty="0" err="1"/>
              <a:t>then</a:t>
            </a:r>
            <a:r>
              <a:rPr lang="sv-SE" dirty="0"/>
              <a:t> </a:t>
            </a:r>
            <a:r>
              <a:rPr lang="sv-SE" dirty="0" err="1"/>
              <a:t>weighted</a:t>
            </a:r>
            <a:r>
              <a:rPr lang="sv-SE" dirty="0"/>
              <a:t> </a:t>
            </a:r>
            <a:r>
              <a:rPr lang="sv-SE" dirty="0" err="1"/>
              <a:t>equally</a:t>
            </a:r>
            <a:r>
              <a:rPr lang="sv-SE" dirty="0"/>
              <a:t>. </a:t>
            </a:r>
            <a:br>
              <a:rPr lang="sv-SE" dirty="0"/>
            </a:br>
            <a:r>
              <a:rPr lang="sv-SE" dirty="0"/>
              <a:t>To </a:t>
            </a:r>
            <a:r>
              <a:rPr lang="sv-SE" dirty="0" err="1"/>
              <a:t>really</a:t>
            </a:r>
            <a:r>
              <a:rPr lang="sv-SE" dirty="0"/>
              <a:t> make </a:t>
            </a:r>
            <a:r>
              <a:rPr lang="sv-SE" dirty="0" err="1"/>
              <a:t>use</a:t>
            </a:r>
            <a:r>
              <a:rPr lang="sv-SE" dirty="0"/>
              <a:t> </a:t>
            </a:r>
            <a:r>
              <a:rPr lang="sv-SE" dirty="0" err="1"/>
              <a:t>of</a:t>
            </a:r>
            <a:r>
              <a:rPr lang="sv-SE" dirty="0"/>
              <a:t> </a:t>
            </a:r>
            <a:r>
              <a:rPr lang="sv-SE" dirty="0" err="1"/>
              <a:t>Bayesian</a:t>
            </a:r>
            <a:r>
              <a:rPr lang="sv-SE" dirty="0"/>
              <a:t> </a:t>
            </a:r>
            <a:r>
              <a:rPr lang="sv-SE" dirty="0" err="1"/>
              <a:t>analysis</a:t>
            </a:r>
            <a:r>
              <a:rPr lang="sv-SE" dirty="0"/>
              <a:t>, it is </a:t>
            </a:r>
            <a:r>
              <a:rPr lang="sv-SE" dirty="0" err="1"/>
              <a:t>therefore</a:t>
            </a:r>
            <a:r>
              <a:rPr lang="sv-SE" dirty="0"/>
              <a:t> </a:t>
            </a:r>
            <a:r>
              <a:rPr lang="sv-SE" dirty="0" err="1"/>
              <a:t>necessary</a:t>
            </a:r>
            <a:r>
              <a:rPr lang="sv-SE" dirty="0"/>
              <a:t> to </a:t>
            </a:r>
            <a:r>
              <a:rPr lang="sv-SE" dirty="0" err="1"/>
              <a:t>use</a:t>
            </a:r>
            <a:r>
              <a:rPr lang="sv-SE" dirty="0"/>
              <a:t> </a:t>
            </a:r>
            <a:r>
              <a:rPr lang="sv-SE" dirty="0" err="1"/>
              <a:t>better</a:t>
            </a:r>
            <a:r>
              <a:rPr lang="sv-SE" dirty="0"/>
              <a:t> prior distributions. </a:t>
            </a:r>
            <a:r>
              <a:rPr lang="sv-SE" dirty="0" err="1"/>
              <a:t>Now</a:t>
            </a:r>
            <a:r>
              <a:rPr lang="sv-SE" dirty="0"/>
              <a:t> </a:t>
            </a:r>
            <a:r>
              <a:rPr lang="sv-SE" dirty="0" err="1"/>
              <a:t>evaluating</a:t>
            </a:r>
            <a:r>
              <a:rPr lang="sv-SE" dirty="0"/>
              <a:t> </a:t>
            </a:r>
            <a:r>
              <a:rPr lang="sv-SE" dirty="0" err="1"/>
              <a:t>this</a:t>
            </a:r>
            <a:r>
              <a:rPr lang="sv-SE" dirty="0"/>
              <a:t> </a:t>
            </a:r>
            <a:r>
              <a:rPr lang="sv-SE" dirty="0" err="1"/>
              <a:t>equation</a:t>
            </a:r>
            <a:r>
              <a:rPr lang="sv-SE" dirty="0"/>
              <a:t> </a:t>
            </a:r>
            <a:r>
              <a:rPr lang="sv-SE" dirty="0" err="1"/>
              <a:t>seem</a:t>
            </a:r>
            <a:r>
              <a:rPr lang="sv-SE" dirty="0"/>
              <a:t> </a:t>
            </a:r>
            <a:r>
              <a:rPr lang="sv-SE" dirty="0" err="1"/>
              <a:t>easy</a:t>
            </a:r>
            <a:r>
              <a:rPr lang="sv-SE" dirty="0"/>
              <a:t> </a:t>
            </a:r>
            <a:r>
              <a:rPr lang="sv-SE" dirty="0" err="1"/>
              <a:t>enough</a:t>
            </a:r>
            <a:r>
              <a:rPr lang="sv-SE" dirty="0"/>
              <a:t>, </a:t>
            </a:r>
            <a:r>
              <a:rPr lang="sv-SE" dirty="0" err="1"/>
              <a:t>but</a:t>
            </a:r>
            <a:r>
              <a:rPr lang="sv-SE" dirty="0"/>
              <a:t> it is </a:t>
            </a:r>
            <a:r>
              <a:rPr lang="sv-SE" dirty="0" err="1"/>
              <a:t>actually</a:t>
            </a:r>
            <a:r>
              <a:rPr lang="sv-SE" dirty="0"/>
              <a:t> </a:t>
            </a:r>
            <a:r>
              <a:rPr lang="sv-SE" dirty="0" err="1"/>
              <a:t>quite</a:t>
            </a:r>
            <a:r>
              <a:rPr lang="sv-SE" dirty="0"/>
              <a:t> hard, </a:t>
            </a:r>
            <a:r>
              <a:rPr lang="sv-SE" dirty="0" err="1"/>
              <a:t>which</a:t>
            </a:r>
            <a:r>
              <a:rPr lang="sv-SE" dirty="0"/>
              <a:t> is </a:t>
            </a:r>
            <a:r>
              <a:rPr lang="sv-SE" dirty="0" err="1"/>
              <a:t>why</a:t>
            </a:r>
            <a:r>
              <a:rPr lang="sv-SE" dirty="0"/>
              <a:t> </a:t>
            </a:r>
            <a:r>
              <a:rPr lang="sv-SE" dirty="0" err="1"/>
              <a:t>we</a:t>
            </a:r>
            <a:r>
              <a:rPr lang="sv-SE" dirty="0"/>
              <a:t> </a:t>
            </a:r>
            <a:r>
              <a:rPr lang="sv-SE" dirty="0" err="1"/>
              <a:t>will</a:t>
            </a:r>
            <a:r>
              <a:rPr lang="sv-SE" dirty="0"/>
              <a:t> </a:t>
            </a:r>
            <a:r>
              <a:rPr lang="sv-SE" dirty="0" err="1"/>
              <a:t>resort</a:t>
            </a:r>
            <a:r>
              <a:rPr lang="sv-SE" dirty="0"/>
              <a:t> to </a:t>
            </a:r>
            <a:r>
              <a:rPr lang="sv-SE" dirty="0" err="1"/>
              <a:t>numerical</a:t>
            </a:r>
            <a:r>
              <a:rPr lang="sv-SE" dirty="0"/>
              <a:t> </a:t>
            </a:r>
            <a:r>
              <a:rPr lang="sv-SE" dirty="0" err="1"/>
              <a:t>statistical</a:t>
            </a:r>
            <a:r>
              <a:rPr lang="sv-SE" dirty="0"/>
              <a:t> </a:t>
            </a:r>
            <a:r>
              <a:rPr lang="sv-SE" dirty="0" err="1"/>
              <a:t>methods</a:t>
            </a:r>
            <a:r>
              <a:rPr lang="sv-SE" dirty="0"/>
              <a:t>.</a:t>
            </a:r>
            <a:br>
              <a:rPr lang="sv-SE" dirty="0"/>
            </a:br>
            <a:r>
              <a:rPr lang="sv-SE" dirty="0" err="1"/>
              <a:t>Specifically</a:t>
            </a:r>
            <a:r>
              <a:rPr lang="sv-SE" dirty="0"/>
              <a:t> </a:t>
            </a:r>
            <a:r>
              <a:rPr lang="sv-SE" dirty="0" err="1"/>
              <a:t>we</a:t>
            </a:r>
            <a:r>
              <a:rPr lang="sv-SE" dirty="0"/>
              <a:t> </a:t>
            </a:r>
            <a:r>
              <a:rPr lang="sv-SE" dirty="0" err="1"/>
              <a:t>will</a:t>
            </a:r>
            <a:r>
              <a:rPr lang="sv-SE" dirty="0"/>
              <a:t> </a:t>
            </a:r>
            <a:r>
              <a:rPr lang="sv-SE" dirty="0" err="1"/>
              <a:t>use</a:t>
            </a:r>
            <a:r>
              <a:rPr lang="sv-SE" dirty="0"/>
              <a:t> </a:t>
            </a:r>
            <a:r>
              <a:rPr lang="sv-SE" dirty="0" err="1"/>
              <a:t>Markow</a:t>
            </a:r>
            <a:r>
              <a:rPr lang="sv-SE" dirty="0"/>
              <a:t> </a:t>
            </a:r>
            <a:r>
              <a:rPr lang="sv-SE" dirty="0" err="1"/>
              <a:t>chain</a:t>
            </a:r>
            <a:r>
              <a:rPr lang="sv-SE" dirty="0"/>
              <a:t> Monte Carlo, </a:t>
            </a:r>
            <a:r>
              <a:rPr lang="sv-SE" dirty="0" err="1"/>
              <a:t>which</a:t>
            </a:r>
            <a:r>
              <a:rPr lang="sv-SE" dirty="0"/>
              <a:t> is a Monte Carlo </a:t>
            </a:r>
            <a:r>
              <a:rPr lang="sv-SE" dirty="0" err="1"/>
              <a:t>method</a:t>
            </a:r>
            <a:r>
              <a:rPr lang="sv-SE" dirty="0"/>
              <a:t>, like the </a:t>
            </a:r>
            <a:r>
              <a:rPr lang="sv-SE" dirty="0" err="1"/>
              <a:t>one</a:t>
            </a:r>
            <a:r>
              <a:rPr lang="sv-SE" dirty="0"/>
              <a:t> </a:t>
            </a:r>
            <a:r>
              <a:rPr lang="sv-SE" dirty="0" err="1"/>
              <a:t>you’ve</a:t>
            </a:r>
            <a:r>
              <a:rPr lang="sv-SE" dirty="0"/>
              <a:t> </a:t>
            </a:r>
            <a:r>
              <a:rPr lang="sv-SE" dirty="0" err="1"/>
              <a:t>used</a:t>
            </a:r>
            <a:r>
              <a:rPr lang="sv-SE" dirty="0"/>
              <a:t> to </a:t>
            </a:r>
            <a:r>
              <a:rPr lang="sv-SE" dirty="0" err="1"/>
              <a:t>simulate</a:t>
            </a:r>
            <a:r>
              <a:rPr lang="sv-SE" dirty="0"/>
              <a:t> </a:t>
            </a:r>
            <a:r>
              <a:rPr lang="sv-SE" dirty="0" err="1"/>
              <a:t>your</a:t>
            </a:r>
            <a:r>
              <a:rPr lang="sv-SE" dirty="0"/>
              <a:t> neutron data. There </a:t>
            </a:r>
            <a:r>
              <a:rPr lang="sv-SE" dirty="0" err="1"/>
              <a:t>are</a:t>
            </a:r>
            <a:r>
              <a:rPr lang="sv-SE" dirty="0"/>
              <a:t> </a:t>
            </a:r>
            <a:r>
              <a:rPr lang="sv-SE" dirty="0" err="1"/>
              <a:t>some</a:t>
            </a:r>
            <a:r>
              <a:rPr lang="sv-SE" dirty="0"/>
              <a:t> </a:t>
            </a:r>
            <a:r>
              <a:rPr lang="sv-SE" dirty="0" err="1"/>
              <a:t>significant</a:t>
            </a:r>
            <a:r>
              <a:rPr lang="sv-SE" dirty="0"/>
              <a:t> </a:t>
            </a:r>
            <a:r>
              <a:rPr lang="sv-SE" dirty="0" err="1"/>
              <a:t>differences</a:t>
            </a:r>
            <a:r>
              <a:rPr lang="sv-SE" dirty="0"/>
              <a:t>, </a:t>
            </a:r>
            <a:r>
              <a:rPr lang="sv-SE" dirty="0" err="1"/>
              <a:t>but</a:t>
            </a:r>
            <a:r>
              <a:rPr lang="sv-SE" dirty="0"/>
              <a:t> </a:t>
            </a:r>
            <a:r>
              <a:rPr lang="sv-SE" dirty="0" err="1"/>
              <a:t>that</a:t>
            </a:r>
            <a:r>
              <a:rPr lang="sv-SE" dirty="0"/>
              <a:t> is not </a:t>
            </a:r>
            <a:r>
              <a:rPr lang="sv-SE" dirty="0" err="1"/>
              <a:t>analysis</a:t>
            </a:r>
            <a:r>
              <a:rPr lang="sv-SE" dirty="0"/>
              <a:t> so </a:t>
            </a:r>
            <a:r>
              <a:rPr lang="sv-SE" dirty="0" err="1"/>
              <a:t>we</a:t>
            </a:r>
            <a:r>
              <a:rPr lang="sv-SE" dirty="0"/>
              <a:t> </a:t>
            </a:r>
            <a:r>
              <a:rPr lang="sv-SE" dirty="0" err="1"/>
              <a:t>don’t</a:t>
            </a:r>
            <a:r>
              <a:rPr lang="sv-SE" dirty="0"/>
              <a:t> </a:t>
            </a:r>
            <a:r>
              <a:rPr lang="sv-SE" dirty="0" err="1"/>
              <a:t>care</a:t>
            </a:r>
            <a:r>
              <a:rPr lang="sv-SE" dirty="0"/>
              <a:t> </a:t>
            </a:r>
            <a:r>
              <a:rPr lang="sv-SE" dirty="0" err="1"/>
              <a:t>today</a:t>
            </a:r>
            <a:r>
              <a:rPr lang="sv-SE" dirty="0"/>
              <a:t>, </a:t>
            </a:r>
            <a:r>
              <a:rPr lang="sv-SE" dirty="0" err="1"/>
              <a:t>you</a:t>
            </a:r>
            <a:r>
              <a:rPr lang="sv-SE" dirty="0"/>
              <a:t> just </a:t>
            </a:r>
            <a:r>
              <a:rPr lang="sv-SE" dirty="0" err="1"/>
              <a:t>use</a:t>
            </a:r>
            <a:r>
              <a:rPr lang="sv-SE" dirty="0"/>
              <a:t> it.</a:t>
            </a:r>
          </a:p>
        </p:txBody>
      </p:sp>
      <p:sp>
        <p:nvSpPr>
          <p:cNvPr id="4" name="Slide Number Placeholder 3">
            <a:extLst>
              <a:ext uri="{FF2B5EF4-FFF2-40B4-BE49-F238E27FC236}">
                <a16:creationId xmlns:a16="http://schemas.microsoft.com/office/drawing/2014/main" id="{4D738E27-4BFF-B612-EB4A-49DFC98EB8B0}"/>
              </a:ext>
            </a:extLst>
          </p:cNvPr>
          <p:cNvSpPr>
            <a:spLocks noGrp="1"/>
          </p:cNvSpPr>
          <p:nvPr>
            <p:ph type="sldNum" sz="quarter" idx="5"/>
          </p:nvPr>
        </p:nvSpPr>
        <p:spPr/>
        <p:txBody>
          <a:bodyPr/>
          <a:lstStyle/>
          <a:p>
            <a:fld id="{3AE5A434-646A-2746-9BDC-885B2382B33E}" type="slidenum">
              <a:rPr lang="sv-SE" smtClean="0"/>
              <a:t>28</a:t>
            </a:fld>
            <a:endParaRPr lang="sv-SE"/>
          </a:p>
        </p:txBody>
      </p:sp>
    </p:spTree>
    <p:extLst>
      <p:ext uri="{BB962C8B-B14F-4D97-AF65-F5344CB8AC3E}">
        <p14:creationId xmlns:p14="http://schemas.microsoft.com/office/powerpoint/2010/main" val="31186890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ABA2B-8AEE-66E4-3282-C1C99D19C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BD732C-9EB7-064B-DF0E-D5C532E7E53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4FA19AD-6A5E-4B59-2E65-A4C03617A2C4}"/>
              </a:ext>
            </a:extLst>
          </p:cNvPr>
          <p:cNvSpPr>
            <a:spLocks noGrp="1"/>
          </p:cNvSpPr>
          <p:nvPr>
            <p:ph type="body" idx="1"/>
          </p:nvPr>
        </p:nvSpPr>
        <p:spPr/>
        <p:txBody>
          <a:bodyPr/>
          <a:lstStyle/>
          <a:p>
            <a:r>
              <a:rPr lang="sv-SE" dirty="0" err="1"/>
              <a:t>Now</a:t>
            </a:r>
            <a:r>
              <a:rPr lang="sv-SE" dirty="0"/>
              <a:t> </a:t>
            </a:r>
            <a:r>
              <a:rPr lang="sv-SE" dirty="0" err="1"/>
              <a:t>I’ve</a:t>
            </a:r>
            <a:r>
              <a:rPr lang="sv-SE" dirty="0"/>
              <a:t> </a:t>
            </a:r>
            <a:r>
              <a:rPr lang="sv-SE" dirty="0" err="1"/>
              <a:t>told</a:t>
            </a:r>
            <a:r>
              <a:rPr lang="sv-SE" dirty="0"/>
              <a:t> </a:t>
            </a:r>
            <a:r>
              <a:rPr lang="sv-SE" dirty="0" err="1"/>
              <a:t>you</a:t>
            </a:r>
            <a:r>
              <a:rPr lang="sv-SE" dirty="0"/>
              <a:t> </a:t>
            </a:r>
            <a:r>
              <a:rPr lang="sv-SE" dirty="0" err="1"/>
              <a:t>that</a:t>
            </a:r>
            <a:r>
              <a:rPr lang="sv-SE" dirty="0"/>
              <a:t> in </a:t>
            </a:r>
            <a:r>
              <a:rPr lang="sv-SE" dirty="0" err="1"/>
              <a:t>Bayesian</a:t>
            </a:r>
            <a:r>
              <a:rPr lang="sv-SE" dirty="0"/>
              <a:t> </a:t>
            </a:r>
            <a:r>
              <a:rPr lang="sv-SE" dirty="0" err="1"/>
              <a:t>analysis</a:t>
            </a:r>
            <a:r>
              <a:rPr lang="sv-SE" dirty="0"/>
              <a:t> </a:t>
            </a:r>
            <a:r>
              <a:rPr lang="sv-SE" dirty="0" err="1"/>
              <a:t>you</a:t>
            </a:r>
            <a:r>
              <a:rPr lang="sv-SE" dirty="0"/>
              <a:t> </a:t>
            </a:r>
            <a:r>
              <a:rPr lang="sv-SE" dirty="0" err="1"/>
              <a:t>don’t</a:t>
            </a:r>
            <a:r>
              <a:rPr lang="sv-SE" dirty="0"/>
              <a:t> get a </a:t>
            </a:r>
            <a:r>
              <a:rPr lang="sv-SE" dirty="0" err="1"/>
              <a:t>single</a:t>
            </a:r>
            <a:r>
              <a:rPr lang="sv-SE" dirty="0"/>
              <a:t> best </a:t>
            </a:r>
            <a:r>
              <a:rPr lang="sv-SE" dirty="0" err="1"/>
              <a:t>number</a:t>
            </a:r>
            <a:r>
              <a:rPr lang="sv-SE" dirty="0"/>
              <a:t> for </a:t>
            </a:r>
            <a:r>
              <a:rPr lang="sv-SE" dirty="0" err="1"/>
              <a:t>your</a:t>
            </a:r>
            <a:r>
              <a:rPr lang="sv-SE" dirty="0"/>
              <a:t> </a:t>
            </a:r>
            <a:r>
              <a:rPr lang="sv-SE" dirty="0" err="1"/>
              <a:t>model</a:t>
            </a:r>
            <a:r>
              <a:rPr lang="sv-SE" dirty="0"/>
              <a:t> parameters, </a:t>
            </a:r>
            <a:r>
              <a:rPr lang="sv-SE" dirty="0" err="1"/>
              <a:t>you</a:t>
            </a:r>
            <a:r>
              <a:rPr lang="sv-SE" dirty="0"/>
              <a:t> get a </a:t>
            </a:r>
            <a:r>
              <a:rPr lang="sv-SE" dirty="0" err="1"/>
              <a:t>probability</a:t>
            </a:r>
            <a:r>
              <a:rPr lang="sv-SE" dirty="0"/>
              <a:t> distribution. </a:t>
            </a:r>
            <a:r>
              <a:rPr lang="sv-SE" dirty="0" err="1"/>
              <a:t>Hence</a:t>
            </a:r>
            <a:r>
              <a:rPr lang="sv-SE" dirty="0"/>
              <a:t> </a:t>
            </a:r>
            <a:r>
              <a:rPr lang="sv-SE" dirty="0" err="1"/>
              <a:t>Bayesian</a:t>
            </a:r>
            <a:r>
              <a:rPr lang="sv-SE" dirty="0"/>
              <a:t> </a:t>
            </a:r>
            <a:r>
              <a:rPr lang="sv-SE" dirty="0" err="1"/>
              <a:t>analysis</a:t>
            </a:r>
            <a:r>
              <a:rPr lang="sv-SE" dirty="0"/>
              <a:t> </a:t>
            </a:r>
            <a:r>
              <a:rPr lang="sv-SE" dirty="0" err="1"/>
              <a:t>results</a:t>
            </a:r>
            <a:r>
              <a:rPr lang="sv-SE" dirty="0"/>
              <a:t> </a:t>
            </a:r>
            <a:r>
              <a:rPr lang="sv-SE" dirty="0" err="1"/>
              <a:t>are</a:t>
            </a:r>
            <a:r>
              <a:rPr lang="sv-SE" dirty="0"/>
              <a:t> </a:t>
            </a:r>
            <a:r>
              <a:rPr lang="sv-SE" dirty="0" err="1"/>
              <a:t>often</a:t>
            </a:r>
            <a:r>
              <a:rPr lang="sv-SE" dirty="0"/>
              <a:t> </a:t>
            </a:r>
            <a:r>
              <a:rPr lang="sv-SE" dirty="0" err="1"/>
              <a:t>displayed</a:t>
            </a:r>
            <a:r>
              <a:rPr lang="sv-SE" dirty="0"/>
              <a:t> </a:t>
            </a:r>
            <a:r>
              <a:rPr lang="sv-SE" dirty="0" err="1"/>
              <a:t>with</a:t>
            </a:r>
            <a:r>
              <a:rPr lang="sv-SE" dirty="0"/>
              <a:t> corner </a:t>
            </a:r>
            <a:r>
              <a:rPr lang="sv-SE" dirty="0" err="1"/>
              <a:t>plots</a:t>
            </a:r>
            <a:r>
              <a:rPr lang="sv-SE" dirty="0"/>
              <a:t> like </a:t>
            </a:r>
            <a:r>
              <a:rPr lang="sv-SE" dirty="0" err="1"/>
              <a:t>this</a:t>
            </a:r>
            <a:r>
              <a:rPr lang="sv-SE" dirty="0"/>
              <a:t>.</a:t>
            </a:r>
          </a:p>
          <a:p>
            <a:r>
              <a:rPr lang="sv-SE" dirty="0"/>
              <a:t>In the diagonal </a:t>
            </a:r>
            <a:r>
              <a:rPr lang="sv-SE" dirty="0" err="1"/>
              <a:t>here</a:t>
            </a:r>
            <a:r>
              <a:rPr lang="sv-SE" dirty="0"/>
              <a:t> </a:t>
            </a:r>
            <a:r>
              <a:rPr lang="sv-SE" dirty="0" err="1"/>
              <a:t>you</a:t>
            </a:r>
            <a:r>
              <a:rPr lang="sv-SE" dirty="0"/>
              <a:t> </a:t>
            </a:r>
            <a:r>
              <a:rPr lang="sv-SE" dirty="0" err="1"/>
              <a:t>see</a:t>
            </a:r>
            <a:r>
              <a:rPr lang="sv-SE" dirty="0"/>
              <a:t> the </a:t>
            </a:r>
            <a:r>
              <a:rPr lang="sv-SE" dirty="0" err="1"/>
              <a:t>individual</a:t>
            </a:r>
            <a:r>
              <a:rPr lang="sv-SE" dirty="0"/>
              <a:t> </a:t>
            </a:r>
            <a:r>
              <a:rPr lang="sv-SE" dirty="0" err="1"/>
              <a:t>probability</a:t>
            </a:r>
            <a:r>
              <a:rPr lang="sv-SE" dirty="0"/>
              <a:t> distributions for </a:t>
            </a:r>
            <a:r>
              <a:rPr lang="sv-SE" dirty="0" err="1"/>
              <a:t>your</a:t>
            </a:r>
            <a:r>
              <a:rPr lang="sv-SE" dirty="0"/>
              <a:t> parameters. </a:t>
            </a:r>
            <a:r>
              <a:rPr lang="sv-SE" dirty="0" err="1"/>
              <a:t>Sometimes</a:t>
            </a:r>
            <a:r>
              <a:rPr lang="sv-SE" dirty="0"/>
              <a:t> it is </a:t>
            </a:r>
            <a:r>
              <a:rPr lang="sv-SE" dirty="0" err="1"/>
              <a:t>easy</a:t>
            </a:r>
            <a:r>
              <a:rPr lang="sv-SE" dirty="0"/>
              <a:t> to </a:t>
            </a:r>
            <a:r>
              <a:rPr lang="sv-SE" dirty="0" err="1"/>
              <a:t>see</a:t>
            </a:r>
            <a:r>
              <a:rPr lang="sv-SE" dirty="0"/>
              <a:t> the </a:t>
            </a:r>
            <a:r>
              <a:rPr lang="sv-SE" dirty="0" err="1"/>
              <a:t>most</a:t>
            </a:r>
            <a:r>
              <a:rPr lang="sv-SE" dirty="0"/>
              <a:t> probable parameter </a:t>
            </a:r>
            <a:r>
              <a:rPr lang="sv-SE" dirty="0" err="1"/>
              <a:t>values</a:t>
            </a:r>
            <a:r>
              <a:rPr lang="sv-SE" dirty="0"/>
              <a:t>, like in </a:t>
            </a:r>
            <a:r>
              <a:rPr lang="sv-SE" dirty="0" err="1"/>
              <a:t>these</a:t>
            </a:r>
            <a:r>
              <a:rPr lang="sv-SE" dirty="0"/>
              <a:t>, </a:t>
            </a:r>
            <a:r>
              <a:rPr lang="sv-SE" dirty="0" err="1"/>
              <a:t>but</a:t>
            </a:r>
            <a:r>
              <a:rPr lang="sv-SE" dirty="0"/>
              <a:t> </a:t>
            </a:r>
            <a:r>
              <a:rPr lang="sv-SE" dirty="0" err="1"/>
              <a:t>you</a:t>
            </a:r>
            <a:r>
              <a:rPr lang="sv-SE" dirty="0"/>
              <a:t> </a:t>
            </a:r>
            <a:r>
              <a:rPr lang="sv-SE" dirty="0" err="1"/>
              <a:t>could</a:t>
            </a:r>
            <a:r>
              <a:rPr lang="sv-SE" dirty="0"/>
              <a:t> </a:t>
            </a:r>
            <a:r>
              <a:rPr lang="sv-SE" dirty="0" err="1"/>
              <a:t>also</a:t>
            </a:r>
            <a:r>
              <a:rPr lang="sv-SE" dirty="0"/>
              <a:t> get distribution </a:t>
            </a:r>
            <a:r>
              <a:rPr lang="sv-SE" dirty="0" err="1"/>
              <a:t>that</a:t>
            </a:r>
            <a:r>
              <a:rPr lang="sv-SE" dirty="0"/>
              <a:t> </a:t>
            </a:r>
            <a:r>
              <a:rPr lang="sv-SE" dirty="0" err="1"/>
              <a:t>are</a:t>
            </a:r>
            <a:r>
              <a:rPr lang="sv-SE" dirty="0"/>
              <a:t> </a:t>
            </a:r>
            <a:r>
              <a:rPr lang="sv-SE" dirty="0" err="1"/>
              <a:t>more</a:t>
            </a:r>
            <a:r>
              <a:rPr lang="sv-SE" dirty="0"/>
              <a:t> flat or </a:t>
            </a:r>
            <a:r>
              <a:rPr lang="sv-SE" dirty="0" err="1"/>
              <a:t>maybe</a:t>
            </a:r>
            <a:r>
              <a:rPr lang="sv-SE" dirty="0"/>
              <a:t> </a:t>
            </a:r>
            <a:r>
              <a:rPr lang="sv-SE" dirty="0" err="1"/>
              <a:t>have</a:t>
            </a:r>
            <a:r>
              <a:rPr lang="sv-SE" dirty="0"/>
              <a:t> </a:t>
            </a:r>
            <a:r>
              <a:rPr lang="sv-SE" dirty="0" err="1"/>
              <a:t>multiple</a:t>
            </a:r>
            <a:r>
              <a:rPr lang="sv-SE" dirty="0"/>
              <a:t> </a:t>
            </a:r>
            <a:r>
              <a:rPr lang="sv-SE" dirty="0" err="1"/>
              <a:t>peaks</a:t>
            </a:r>
            <a:r>
              <a:rPr lang="sv-SE" dirty="0"/>
              <a:t>.</a:t>
            </a:r>
          </a:p>
          <a:p>
            <a:r>
              <a:rPr lang="sv-SE" dirty="0"/>
              <a:t>The off-diagonal </a:t>
            </a:r>
            <a:r>
              <a:rPr lang="sv-SE" dirty="0" err="1"/>
              <a:t>plots</a:t>
            </a:r>
            <a:r>
              <a:rPr lang="sv-SE" dirty="0"/>
              <a:t> </a:t>
            </a:r>
            <a:r>
              <a:rPr lang="sv-SE" dirty="0" err="1"/>
              <a:t>here</a:t>
            </a:r>
            <a:r>
              <a:rPr lang="sv-SE" dirty="0"/>
              <a:t> </a:t>
            </a:r>
            <a:r>
              <a:rPr lang="sv-SE" dirty="0" err="1"/>
              <a:t>are</a:t>
            </a:r>
            <a:r>
              <a:rPr lang="sv-SE" dirty="0"/>
              <a:t> </a:t>
            </a:r>
            <a:r>
              <a:rPr lang="sv-SE" dirty="0" err="1"/>
              <a:t>correlation</a:t>
            </a:r>
            <a:r>
              <a:rPr lang="sv-SE" dirty="0"/>
              <a:t> </a:t>
            </a:r>
            <a:r>
              <a:rPr lang="sv-SE" dirty="0" err="1"/>
              <a:t>plots</a:t>
            </a:r>
            <a:r>
              <a:rPr lang="sv-SE" dirty="0"/>
              <a:t>. </a:t>
            </a:r>
            <a:r>
              <a:rPr lang="sv-SE" dirty="0" err="1"/>
              <a:t>They</a:t>
            </a:r>
            <a:r>
              <a:rPr lang="sv-SE" dirty="0"/>
              <a:t> </a:t>
            </a:r>
            <a:r>
              <a:rPr lang="sv-SE" dirty="0" err="1"/>
              <a:t>tell</a:t>
            </a:r>
            <a:r>
              <a:rPr lang="sv-SE" dirty="0"/>
              <a:t> </a:t>
            </a:r>
            <a:r>
              <a:rPr lang="sv-SE" dirty="0" err="1"/>
              <a:t>you</a:t>
            </a:r>
            <a:r>
              <a:rPr lang="sv-SE" dirty="0"/>
              <a:t> </a:t>
            </a:r>
            <a:r>
              <a:rPr lang="sv-SE" dirty="0" err="1"/>
              <a:t>if</a:t>
            </a:r>
            <a:r>
              <a:rPr lang="sv-SE" dirty="0"/>
              <a:t> and </a:t>
            </a:r>
            <a:r>
              <a:rPr lang="sv-SE" dirty="0" err="1"/>
              <a:t>how</a:t>
            </a:r>
            <a:r>
              <a:rPr lang="sv-SE" dirty="0"/>
              <a:t> </a:t>
            </a:r>
            <a:r>
              <a:rPr lang="sv-SE" dirty="0" err="1"/>
              <a:t>your</a:t>
            </a:r>
            <a:r>
              <a:rPr lang="sv-SE" dirty="0"/>
              <a:t> parameters </a:t>
            </a:r>
            <a:r>
              <a:rPr lang="sv-SE" dirty="0" err="1"/>
              <a:t>are</a:t>
            </a:r>
            <a:r>
              <a:rPr lang="sv-SE" dirty="0"/>
              <a:t> </a:t>
            </a:r>
            <a:r>
              <a:rPr lang="sv-SE" dirty="0" err="1"/>
              <a:t>correlated</a:t>
            </a:r>
            <a:r>
              <a:rPr lang="sv-SE" dirty="0"/>
              <a:t>. If </a:t>
            </a:r>
            <a:r>
              <a:rPr lang="sv-SE" dirty="0" err="1"/>
              <a:t>you</a:t>
            </a:r>
            <a:r>
              <a:rPr lang="sv-SE" dirty="0"/>
              <a:t> </a:t>
            </a:r>
            <a:r>
              <a:rPr lang="sv-SE" dirty="0" err="1"/>
              <a:t>see</a:t>
            </a:r>
            <a:r>
              <a:rPr lang="sv-SE" dirty="0"/>
              <a:t> round </a:t>
            </a:r>
            <a:r>
              <a:rPr lang="sv-SE" dirty="0" err="1"/>
              <a:t>circles</a:t>
            </a:r>
            <a:r>
              <a:rPr lang="sv-SE" dirty="0"/>
              <a:t>, </a:t>
            </a:r>
            <a:r>
              <a:rPr lang="sv-SE" dirty="0" err="1"/>
              <a:t>they’re</a:t>
            </a:r>
            <a:r>
              <a:rPr lang="sv-SE" dirty="0"/>
              <a:t> </a:t>
            </a:r>
            <a:r>
              <a:rPr lang="sv-SE" dirty="0" err="1"/>
              <a:t>uncorrelated</a:t>
            </a:r>
            <a:r>
              <a:rPr lang="sv-SE" dirty="0"/>
              <a:t>, </a:t>
            </a:r>
            <a:r>
              <a:rPr lang="sv-SE" dirty="0" err="1"/>
              <a:t>if</a:t>
            </a:r>
            <a:r>
              <a:rPr lang="sv-SE" dirty="0"/>
              <a:t> </a:t>
            </a:r>
            <a:r>
              <a:rPr lang="sv-SE" dirty="0" err="1"/>
              <a:t>you</a:t>
            </a:r>
            <a:r>
              <a:rPr lang="sv-SE" dirty="0"/>
              <a:t> </a:t>
            </a:r>
            <a:r>
              <a:rPr lang="sv-SE" dirty="0" err="1"/>
              <a:t>see</a:t>
            </a:r>
            <a:r>
              <a:rPr lang="sv-SE" dirty="0"/>
              <a:t> </a:t>
            </a:r>
            <a:r>
              <a:rPr lang="sv-SE" dirty="0" err="1"/>
              <a:t>skewed</a:t>
            </a:r>
            <a:r>
              <a:rPr lang="sv-SE" dirty="0"/>
              <a:t> </a:t>
            </a:r>
            <a:r>
              <a:rPr lang="sv-SE" dirty="0" err="1"/>
              <a:t>circles</a:t>
            </a:r>
            <a:r>
              <a:rPr lang="sv-SE" dirty="0"/>
              <a:t> like </a:t>
            </a:r>
            <a:r>
              <a:rPr lang="sv-SE" dirty="0" err="1"/>
              <a:t>these</a:t>
            </a:r>
            <a:r>
              <a:rPr lang="sv-SE" dirty="0"/>
              <a:t>, </a:t>
            </a:r>
            <a:r>
              <a:rPr lang="sv-SE" dirty="0" err="1"/>
              <a:t>they’re</a:t>
            </a:r>
            <a:r>
              <a:rPr lang="sv-SE" dirty="0"/>
              <a:t> </a:t>
            </a:r>
            <a:r>
              <a:rPr lang="sv-SE" dirty="0" err="1"/>
              <a:t>either</a:t>
            </a:r>
            <a:r>
              <a:rPr lang="sv-SE" dirty="0"/>
              <a:t> </a:t>
            </a:r>
            <a:r>
              <a:rPr lang="sv-SE" dirty="0" err="1"/>
              <a:t>positively</a:t>
            </a:r>
            <a:r>
              <a:rPr lang="sv-SE" dirty="0"/>
              <a:t> or </a:t>
            </a:r>
            <a:r>
              <a:rPr lang="sv-SE" dirty="0" err="1"/>
              <a:t>negatively</a:t>
            </a:r>
            <a:r>
              <a:rPr lang="sv-SE" dirty="0"/>
              <a:t> </a:t>
            </a:r>
            <a:r>
              <a:rPr lang="sv-SE" dirty="0" err="1"/>
              <a:t>correlated</a:t>
            </a:r>
            <a:r>
              <a:rPr lang="sv-SE" dirty="0"/>
              <a:t>.</a:t>
            </a:r>
            <a:br>
              <a:rPr lang="sv-SE" dirty="0"/>
            </a:br>
            <a:r>
              <a:rPr lang="sv-SE" dirty="0" err="1"/>
              <a:t>Which</a:t>
            </a:r>
            <a:r>
              <a:rPr lang="sv-SE" dirty="0"/>
              <a:t> is a major </a:t>
            </a:r>
            <a:r>
              <a:rPr lang="sv-SE" dirty="0" err="1"/>
              <a:t>Bayesian</a:t>
            </a:r>
            <a:r>
              <a:rPr lang="sv-SE" dirty="0"/>
              <a:t> </a:t>
            </a:r>
            <a:r>
              <a:rPr lang="sv-SE" dirty="0" err="1"/>
              <a:t>analysis</a:t>
            </a:r>
            <a:r>
              <a:rPr lang="sv-SE" dirty="0"/>
              <a:t> </a:t>
            </a:r>
            <a:r>
              <a:rPr lang="sv-SE" dirty="0" err="1"/>
              <a:t>conclusion</a:t>
            </a:r>
            <a:r>
              <a:rPr lang="sv-SE" dirty="0"/>
              <a:t>.</a:t>
            </a:r>
          </a:p>
          <a:p>
            <a:r>
              <a:rPr lang="sv-SE" dirty="0" err="1"/>
              <a:t>Now</a:t>
            </a:r>
            <a:r>
              <a:rPr lang="sv-SE" dirty="0"/>
              <a:t> I just </a:t>
            </a:r>
            <a:r>
              <a:rPr lang="sv-SE" dirty="0" err="1"/>
              <a:t>wanted</a:t>
            </a:r>
            <a:r>
              <a:rPr lang="sv-SE" dirty="0"/>
              <a:t> to </a:t>
            </a:r>
            <a:r>
              <a:rPr lang="sv-SE" dirty="0" err="1"/>
              <a:t>quickly</a:t>
            </a:r>
            <a:r>
              <a:rPr lang="sv-SE" dirty="0"/>
              <a:t> </a:t>
            </a:r>
            <a:r>
              <a:rPr lang="sv-SE" dirty="0" err="1"/>
              <a:t>tell</a:t>
            </a:r>
            <a:r>
              <a:rPr lang="sv-SE" dirty="0"/>
              <a:t> </a:t>
            </a:r>
            <a:r>
              <a:rPr lang="sv-SE" dirty="0" err="1"/>
              <a:t>you</a:t>
            </a:r>
            <a:r>
              <a:rPr lang="sv-SE" dirty="0"/>
              <a:t> </a:t>
            </a:r>
            <a:r>
              <a:rPr lang="sv-SE" dirty="0" err="1"/>
              <a:t>how</a:t>
            </a:r>
            <a:r>
              <a:rPr lang="sv-SE" dirty="0"/>
              <a:t> </a:t>
            </a:r>
            <a:r>
              <a:rPr lang="sv-SE" dirty="0" err="1"/>
              <a:t>Bayesian</a:t>
            </a:r>
            <a:r>
              <a:rPr lang="sv-SE" dirty="0"/>
              <a:t> </a:t>
            </a:r>
            <a:r>
              <a:rPr lang="sv-SE" dirty="0" err="1"/>
              <a:t>analysis</a:t>
            </a:r>
            <a:r>
              <a:rPr lang="sv-SE" dirty="0"/>
              <a:t> </a:t>
            </a:r>
            <a:r>
              <a:rPr lang="sv-SE" dirty="0" err="1"/>
              <a:t>results</a:t>
            </a:r>
            <a:r>
              <a:rPr lang="sv-SE" dirty="0"/>
              <a:t> </a:t>
            </a:r>
            <a:r>
              <a:rPr lang="sv-SE" dirty="0" err="1"/>
              <a:t>were</a:t>
            </a:r>
            <a:r>
              <a:rPr lang="sv-SE" dirty="0"/>
              <a:t> </a:t>
            </a:r>
            <a:r>
              <a:rPr lang="sv-SE" dirty="0" err="1"/>
              <a:t>interpreted</a:t>
            </a:r>
            <a:r>
              <a:rPr lang="sv-SE" dirty="0"/>
              <a:t>, </a:t>
            </a:r>
            <a:r>
              <a:rPr lang="sv-SE" dirty="0" err="1"/>
              <a:t>time</a:t>
            </a:r>
            <a:r>
              <a:rPr lang="sv-SE" dirty="0"/>
              <a:t> to try it </a:t>
            </a:r>
            <a:r>
              <a:rPr lang="sv-SE" dirty="0" err="1"/>
              <a:t>out</a:t>
            </a:r>
            <a:r>
              <a:rPr lang="sv-SE" dirty="0"/>
              <a:t> for </a:t>
            </a:r>
            <a:r>
              <a:rPr lang="sv-SE" dirty="0" err="1"/>
              <a:t>yourself</a:t>
            </a:r>
            <a:r>
              <a:rPr lang="sv-SE" dirty="0"/>
              <a:t>!</a:t>
            </a:r>
          </a:p>
        </p:txBody>
      </p:sp>
      <p:sp>
        <p:nvSpPr>
          <p:cNvPr id="4" name="Slide Number Placeholder 3">
            <a:extLst>
              <a:ext uri="{FF2B5EF4-FFF2-40B4-BE49-F238E27FC236}">
                <a16:creationId xmlns:a16="http://schemas.microsoft.com/office/drawing/2014/main" id="{9DF9F1A2-9161-07C7-14D9-09644BCB5684}"/>
              </a:ext>
            </a:extLst>
          </p:cNvPr>
          <p:cNvSpPr>
            <a:spLocks noGrp="1"/>
          </p:cNvSpPr>
          <p:nvPr>
            <p:ph type="sldNum" sz="quarter" idx="5"/>
          </p:nvPr>
        </p:nvSpPr>
        <p:spPr/>
        <p:txBody>
          <a:bodyPr/>
          <a:lstStyle/>
          <a:p>
            <a:fld id="{3AE5A434-646A-2746-9BDC-885B2382B33E}" type="slidenum">
              <a:rPr lang="sv-SE" smtClean="0"/>
              <a:t>29</a:t>
            </a:fld>
            <a:endParaRPr lang="sv-SE"/>
          </a:p>
        </p:txBody>
      </p:sp>
    </p:spTree>
    <p:extLst>
      <p:ext uri="{BB962C8B-B14F-4D97-AF65-F5344CB8AC3E}">
        <p14:creationId xmlns:p14="http://schemas.microsoft.com/office/powerpoint/2010/main" val="984527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85A59-A671-4FCD-9A45-ABBDAB8EE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52226-4894-65D6-C7CB-DFDE758798B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107C44A-0278-4F8E-DCA7-E3A8B5250632}"/>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E2421D90-CD8E-B74B-F7B9-9DF4533D4659}"/>
              </a:ext>
            </a:extLst>
          </p:cNvPr>
          <p:cNvSpPr>
            <a:spLocks noGrp="1"/>
          </p:cNvSpPr>
          <p:nvPr>
            <p:ph type="sldNum" sz="quarter" idx="5"/>
          </p:nvPr>
        </p:nvSpPr>
        <p:spPr/>
        <p:txBody>
          <a:bodyPr/>
          <a:lstStyle/>
          <a:p>
            <a:fld id="{3AE5A434-646A-2746-9BDC-885B2382B33E}" type="slidenum">
              <a:rPr lang="sv-SE" smtClean="0"/>
              <a:t>30</a:t>
            </a:fld>
            <a:endParaRPr lang="sv-SE"/>
          </a:p>
        </p:txBody>
      </p:sp>
    </p:spTree>
    <p:extLst>
      <p:ext uri="{BB962C8B-B14F-4D97-AF65-F5344CB8AC3E}">
        <p14:creationId xmlns:p14="http://schemas.microsoft.com/office/powerpoint/2010/main" val="36531728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First slide">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5105BBA5-0B01-43EB-96EC-725AF28E5A8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ktangel 5">
            <a:extLst>
              <a:ext uri="{FF2B5EF4-FFF2-40B4-BE49-F238E27FC236}">
                <a16:creationId xmlns:a16="http://schemas.microsoft.com/office/drawing/2014/main" id="{BB3141B3-566C-47FF-8C29-67289995D2FA}"/>
              </a:ext>
            </a:extLst>
          </p:cNvPr>
          <p:cNvSpPr/>
          <p:nvPr userDrawn="1"/>
        </p:nvSpPr>
        <p:spPr>
          <a:xfrm>
            <a:off x="0" y="447675"/>
            <a:ext cx="292101" cy="6410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 name="Bildobjekt 6">
            <a:extLst>
              <a:ext uri="{FF2B5EF4-FFF2-40B4-BE49-F238E27FC236}">
                <a16:creationId xmlns:a16="http://schemas.microsoft.com/office/drawing/2014/main" id="{B965145F-CDA4-4965-A7C5-ACBA59393460}"/>
              </a:ext>
            </a:extLst>
          </p:cNvPr>
          <p:cNvPicPr>
            <a:picLocks noChangeAspect="1"/>
          </p:cNvPicPr>
          <p:nvPr userDrawn="1"/>
        </p:nvPicPr>
        <p:blipFill>
          <a:blip r:embed="rId2"/>
          <a:stretch>
            <a:fillRect/>
          </a:stretch>
        </p:blipFill>
        <p:spPr>
          <a:xfrm>
            <a:off x="1703069" y="1048935"/>
            <a:ext cx="8872165" cy="4760129"/>
          </a:xfrm>
          <a:prstGeom prst="rect">
            <a:avLst/>
          </a:prstGeom>
        </p:spPr>
      </p:pic>
    </p:spTree>
    <p:extLst>
      <p:ext uri="{BB962C8B-B14F-4D97-AF65-F5344CB8AC3E}">
        <p14:creationId xmlns:p14="http://schemas.microsoft.com/office/powerpoint/2010/main" val="1287485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BE7B1DDB-F4AA-4E8D-BD07-905FE45A5555}"/>
              </a:ext>
            </a:extLst>
          </p:cNvPr>
          <p:cNvSpPr/>
          <p:nvPr userDrawn="1"/>
        </p:nvSpPr>
        <p:spPr>
          <a:xfrm>
            <a:off x="-2"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Rubrik 1">
            <a:extLst>
              <a:ext uri="{FF2B5EF4-FFF2-40B4-BE49-F238E27FC236}">
                <a16:creationId xmlns:a16="http://schemas.microsoft.com/office/drawing/2014/main" id="{34780BC8-191C-6D4B-93F3-54A06FD4FE76}"/>
              </a:ext>
            </a:extLst>
          </p:cNvPr>
          <p:cNvSpPr>
            <a:spLocks noGrp="1"/>
          </p:cNvSpPr>
          <p:nvPr>
            <p:ph type="ctrTitle"/>
          </p:nvPr>
        </p:nvSpPr>
        <p:spPr>
          <a:xfrm>
            <a:off x="1930395" y="1153621"/>
            <a:ext cx="8640000" cy="2387600"/>
          </a:xfrm>
        </p:spPr>
        <p:txBody>
          <a:bodyPr anchor="b">
            <a:noAutofit/>
          </a:bodyPr>
          <a:lstStyle>
            <a:lvl1pPr algn="l">
              <a:lnSpc>
                <a:spcPct val="100000"/>
              </a:lnSpc>
              <a:defRPr sz="4200">
                <a:solidFill>
                  <a:schemeClr val="bg1"/>
                </a:solidFill>
                <a:latin typeface="Segoe UI Semibold" panose="020B0702040204020203" pitchFamily="34" charset="0"/>
                <a:cs typeface="Segoe UI Semibold" panose="020B0702040204020203" pitchFamily="34" charset="0"/>
              </a:defRPr>
            </a:lvl1pPr>
          </a:lstStyle>
          <a:p>
            <a:r>
              <a:rPr lang="en-GB"/>
              <a:t>Click to edit Master title style</a:t>
            </a:r>
            <a:endParaRPr lang="sv-SE" dirty="0"/>
          </a:p>
        </p:txBody>
      </p:sp>
      <p:sp>
        <p:nvSpPr>
          <p:cNvPr id="3" name="Underrubrik 2">
            <a:extLst>
              <a:ext uri="{FF2B5EF4-FFF2-40B4-BE49-F238E27FC236}">
                <a16:creationId xmlns:a16="http://schemas.microsoft.com/office/drawing/2014/main" id="{81DF3056-F3A8-2949-876C-528413E342C4}"/>
              </a:ext>
            </a:extLst>
          </p:cNvPr>
          <p:cNvSpPr>
            <a:spLocks noGrp="1"/>
          </p:cNvSpPr>
          <p:nvPr>
            <p:ph type="subTitle" idx="1"/>
          </p:nvPr>
        </p:nvSpPr>
        <p:spPr>
          <a:xfrm>
            <a:off x="1930395" y="3883393"/>
            <a:ext cx="8640000" cy="921363"/>
          </a:xfrm>
          <a:prstGeom prst="rect">
            <a:avLst/>
          </a:prstGeom>
        </p:spPr>
        <p:txBody>
          <a:bodyPr lIns="90000">
            <a:noAutofit/>
          </a:bodyPr>
          <a:lstStyle>
            <a:lvl1pPr marL="0" indent="0" algn="l">
              <a:lnSpc>
                <a:spcPct val="100000"/>
              </a:lnSpc>
              <a:spcBef>
                <a:spcPts val="0"/>
              </a:spcBef>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sv-SE" dirty="0"/>
          </a:p>
        </p:txBody>
      </p:sp>
      <p:sp>
        <p:nvSpPr>
          <p:cNvPr id="8" name="Rektangel 7">
            <a:extLst>
              <a:ext uri="{FF2B5EF4-FFF2-40B4-BE49-F238E27FC236}">
                <a16:creationId xmlns:a16="http://schemas.microsoft.com/office/drawing/2014/main" id="{EC66F586-F662-4573-A59B-7D4EDD05A153}"/>
              </a:ext>
            </a:extLst>
          </p:cNvPr>
          <p:cNvSpPr/>
          <p:nvPr userDrawn="1"/>
        </p:nvSpPr>
        <p:spPr>
          <a:xfrm>
            <a:off x="-2" y="447675"/>
            <a:ext cx="292101" cy="6410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Bildobjekt 8">
            <a:extLst>
              <a:ext uri="{FF2B5EF4-FFF2-40B4-BE49-F238E27FC236}">
                <a16:creationId xmlns:a16="http://schemas.microsoft.com/office/drawing/2014/main" id="{3193CED5-E020-4279-918D-055F43A9188C}"/>
              </a:ext>
            </a:extLst>
          </p:cNvPr>
          <p:cNvPicPr>
            <a:picLocks noChangeAspect="1"/>
          </p:cNvPicPr>
          <p:nvPr userDrawn="1"/>
        </p:nvPicPr>
        <p:blipFill>
          <a:blip r:embed="rId2"/>
          <a:stretch>
            <a:fillRect/>
          </a:stretch>
        </p:blipFill>
        <p:spPr>
          <a:xfrm>
            <a:off x="10924611" y="417443"/>
            <a:ext cx="826395" cy="800100"/>
          </a:xfrm>
          <a:prstGeom prst="rect">
            <a:avLst/>
          </a:prstGeom>
        </p:spPr>
      </p:pic>
      <p:sp>
        <p:nvSpPr>
          <p:cNvPr id="15" name="Platshållare för text 14">
            <a:extLst>
              <a:ext uri="{FF2B5EF4-FFF2-40B4-BE49-F238E27FC236}">
                <a16:creationId xmlns:a16="http://schemas.microsoft.com/office/drawing/2014/main" id="{EA5DA2EE-60AD-41D0-96B0-DDF02E0AE545}"/>
              </a:ext>
            </a:extLst>
          </p:cNvPr>
          <p:cNvSpPr>
            <a:spLocks noGrp="1"/>
          </p:cNvSpPr>
          <p:nvPr>
            <p:ph type="body" sz="quarter" idx="10" hasCustomPrompt="1"/>
          </p:nvPr>
        </p:nvSpPr>
        <p:spPr>
          <a:xfrm>
            <a:off x="1930395" y="5605695"/>
            <a:ext cx="6290892" cy="459883"/>
          </a:xfrm>
          <a:prstGeom prst="rect">
            <a:avLst/>
          </a:prstGeom>
        </p:spPr>
        <p:txBody>
          <a:bodyPr lIns="90000" tIns="18000" bIns="36000" anchor="b" anchorCtr="0">
            <a:noAutofit/>
          </a:bodyPr>
          <a:lstStyle>
            <a:lvl1pPr marL="0" indent="0">
              <a:lnSpc>
                <a:spcPct val="100000"/>
              </a:lnSpc>
              <a:spcBef>
                <a:spcPts val="0"/>
              </a:spcBef>
              <a:buFontTx/>
              <a:buNone/>
              <a:defRPr sz="1200" b="1" strike="noStrike" cap="all" spc="120" baseline="0">
                <a:solidFill>
                  <a:schemeClr val="bg1"/>
                </a:solidFill>
              </a:defRPr>
            </a:lvl1pPr>
          </a:lstStyle>
          <a:p>
            <a:pPr lvl="0"/>
            <a:r>
              <a:rPr lang="sv-SE"/>
              <a:t>presented by &lt;name nameson&gt;</a:t>
            </a:r>
          </a:p>
        </p:txBody>
      </p:sp>
      <p:sp>
        <p:nvSpPr>
          <p:cNvPr id="10" name="Platshållare för datum 3">
            <a:extLst>
              <a:ext uri="{FF2B5EF4-FFF2-40B4-BE49-F238E27FC236}">
                <a16:creationId xmlns:a16="http://schemas.microsoft.com/office/drawing/2014/main" id="{5CE429DE-35D4-F144-9881-2C3DD8ABB666}"/>
              </a:ext>
            </a:extLst>
          </p:cNvPr>
          <p:cNvSpPr>
            <a:spLocks noGrp="1"/>
          </p:cNvSpPr>
          <p:nvPr>
            <p:ph type="dt" sz="half" idx="10"/>
          </p:nvPr>
        </p:nvSpPr>
        <p:spPr>
          <a:xfrm>
            <a:off x="1930395" y="6096663"/>
            <a:ext cx="1241068" cy="365125"/>
          </a:xfrm>
        </p:spPr>
        <p:txBody>
          <a:bodyPr/>
          <a:lstStyle>
            <a:lvl1pPr>
              <a:defRPr sz="1200"/>
            </a:lvl1pPr>
          </a:lstStyle>
          <a:p>
            <a:fld id="{18896B66-0B3A-474C-9C9C-E4F07B1F5DAD}" type="datetime1">
              <a:rPr lang="sv-SE" smtClean="0"/>
              <a:pPr/>
              <a:t>2026-08-26</a:t>
            </a:fld>
            <a:endParaRPr lang="sv-SE" dirty="0"/>
          </a:p>
        </p:txBody>
      </p:sp>
    </p:spTree>
    <p:extLst>
      <p:ext uri="{BB962C8B-B14F-4D97-AF65-F5344CB8AC3E}">
        <p14:creationId xmlns:p14="http://schemas.microsoft.com/office/powerpoint/2010/main" val="1401384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9" name="Rektangel 8">
            <a:extLst>
              <a:ext uri="{FF2B5EF4-FFF2-40B4-BE49-F238E27FC236}">
                <a16:creationId xmlns:a16="http://schemas.microsoft.com/office/drawing/2014/main" id="{9BCCEAFE-E21B-43CF-80C4-FF01C3F9D479}"/>
              </a:ext>
            </a:extLst>
          </p:cNvPr>
          <p:cNvSpPr/>
          <p:nvPr userDrawn="1"/>
        </p:nvSpPr>
        <p:spPr>
          <a:xfrm>
            <a:off x="0" y="16274"/>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Rubrik 1">
            <a:extLst>
              <a:ext uri="{FF2B5EF4-FFF2-40B4-BE49-F238E27FC236}">
                <a16:creationId xmlns:a16="http://schemas.microsoft.com/office/drawing/2014/main" id="{74C1ADE6-C058-9C40-B135-034EB97B437C}"/>
              </a:ext>
            </a:extLst>
          </p:cNvPr>
          <p:cNvSpPr>
            <a:spLocks noGrp="1"/>
          </p:cNvSpPr>
          <p:nvPr>
            <p:ph type="title" hasCustomPrompt="1"/>
          </p:nvPr>
        </p:nvSpPr>
        <p:spPr>
          <a:xfrm>
            <a:off x="1103709" y="265373"/>
            <a:ext cx="9360000" cy="657339"/>
          </a:xfrm>
        </p:spPr>
        <p:txBody>
          <a:bodyPr lIns="90000" bIns="18000"/>
          <a:lstStyle>
            <a:lvl1pPr>
              <a:defRPr>
                <a:solidFill>
                  <a:schemeClr val="bg1"/>
                </a:solidFill>
              </a:defRPr>
            </a:lvl1pPr>
          </a:lstStyle>
          <a:p>
            <a:r>
              <a:rPr lang="sv-SE"/>
              <a:t>Headline</a:t>
            </a:r>
          </a:p>
        </p:txBody>
      </p:sp>
      <p:sp>
        <p:nvSpPr>
          <p:cNvPr id="5" name="Platshållare för sidfot 4">
            <a:extLst>
              <a:ext uri="{FF2B5EF4-FFF2-40B4-BE49-F238E27FC236}">
                <a16:creationId xmlns:a16="http://schemas.microsoft.com/office/drawing/2014/main" id="{3A0D4D5C-5B1B-1441-A13B-8613512E59E2}"/>
              </a:ext>
            </a:extLst>
          </p:cNvPr>
          <p:cNvSpPr>
            <a:spLocks noGrp="1"/>
          </p:cNvSpPr>
          <p:nvPr>
            <p:ph type="ftr" sz="quarter" idx="11"/>
          </p:nvPr>
        </p:nvSpPr>
        <p:spPr>
          <a:xfrm>
            <a:off x="2053244" y="6475270"/>
            <a:ext cx="4320448" cy="365125"/>
          </a:xfrm>
        </p:spPr>
        <p:txBody>
          <a:bodyPr/>
          <a:lstStyle>
            <a:lvl1pPr>
              <a:defRPr>
                <a:solidFill>
                  <a:schemeClr val="bg1"/>
                </a:solidFill>
              </a:defRPr>
            </a:lvl1pPr>
          </a:lstStyle>
          <a:p>
            <a:r>
              <a:rPr lang="sv-SE" dirty="0"/>
              <a:t>PRESENTATION </a:t>
            </a:r>
            <a:r>
              <a:rPr lang="sv-SE" dirty="0" err="1"/>
              <a:t>TITLe</a:t>
            </a:r>
            <a:r>
              <a:rPr lang="sv-SE" dirty="0"/>
              <a:t>/ FOOTER</a:t>
            </a:r>
          </a:p>
        </p:txBody>
      </p:sp>
      <p:sp>
        <p:nvSpPr>
          <p:cNvPr id="6" name="Platshållare för bildnummer 5">
            <a:extLst>
              <a:ext uri="{FF2B5EF4-FFF2-40B4-BE49-F238E27FC236}">
                <a16:creationId xmlns:a16="http://schemas.microsoft.com/office/drawing/2014/main" id="{184FAE50-4669-D540-A55E-354FF0C59458}"/>
              </a:ext>
            </a:extLst>
          </p:cNvPr>
          <p:cNvSpPr>
            <a:spLocks noGrp="1"/>
          </p:cNvSpPr>
          <p:nvPr>
            <p:ph type="sldNum" sz="quarter" idx="12"/>
          </p:nvPr>
        </p:nvSpPr>
        <p:spPr>
          <a:xfrm>
            <a:off x="8735292" y="6475270"/>
            <a:ext cx="2743200" cy="365125"/>
          </a:xfrm>
        </p:spPr>
        <p:txBody>
          <a:bodyPr/>
          <a:lstStyle>
            <a:lvl1pPr>
              <a:defRPr>
                <a:solidFill>
                  <a:schemeClr val="bg1"/>
                </a:solidFill>
              </a:defRPr>
            </a:lvl1pPr>
          </a:lstStyle>
          <a:p>
            <a:fld id="{F7283078-D760-1647-8B80-66BA8B52336D}" type="slidenum">
              <a:rPr lang="sv-SE" smtClean="0"/>
              <a:pPr/>
              <a:t>‹#›</a:t>
            </a:fld>
            <a:endParaRPr lang="sv-SE"/>
          </a:p>
        </p:txBody>
      </p:sp>
      <p:sp>
        <p:nvSpPr>
          <p:cNvPr id="10" name="Rektangel 9">
            <a:extLst>
              <a:ext uri="{FF2B5EF4-FFF2-40B4-BE49-F238E27FC236}">
                <a16:creationId xmlns:a16="http://schemas.microsoft.com/office/drawing/2014/main" id="{A5E954D6-E4D2-47AD-A504-7408EC606D35}"/>
              </a:ext>
            </a:extLst>
          </p:cNvPr>
          <p:cNvSpPr/>
          <p:nvPr userDrawn="1"/>
        </p:nvSpPr>
        <p:spPr>
          <a:xfrm>
            <a:off x="0" y="447675"/>
            <a:ext cx="292101" cy="6410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2" name="Bildobjekt 11">
            <a:extLst>
              <a:ext uri="{FF2B5EF4-FFF2-40B4-BE49-F238E27FC236}">
                <a16:creationId xmlns:a16="http://schemas.microsoft.com/office/drawing/2014/main" id="{6426DF26-09C3-4DAE-B43E-0C11D6A63538}"/>
              </a:ext>
            </a:extLst>
          </p:cNvPr>
          <p:cNvPicPr>
            <a:picLocks noChangeAspect="1"/>
          </p:cNvPicPr>
          <p:nvPr userDrawn="1"/>
        </p:nvPicPr>
        <p:blipFill>
          <a:blip r:embed="rId2"/>
          <a:stretch>
            <a:fillRect/>
          </a:stretch>
        </p:blipFill>
        <p:spPr>
          <a:xfrm>
            <a:off x="10924611" y="417443"/>
            <a:ext cx="826395" cy="800100"/>
          </a:xfrm>
          <a:prstGeom prst="rect">
            <a:avLst/>
          </a:prstGeom>
        </p:spPr>
      </p:pic>
      <p:sp>
        <p:nvSpPr>
          <p:cNvPr id="11" name="Platshållare för text 10">
            <a:extLst>
              <a:ext uri="{FF2B5EF4-FFF2-40B4-BE49-F238E27FC236}">
                <a16:creationId xmlns:a16="http://schemas.microsoft.com/office/drawing/2014/main" id="{5C48DF05-1B09-4DA6-AC56-07304871CCD2}"/>
              </a:ext>
            </a:extLst>
          </p:cNvPr>
          <p:cNvSpPr>
            <a:spLocks noGrp="1"/>
          </p:cNvSpPr>
          <p:nvPr>
            <p:ph type="body" sz="quarter" idx="13"/>
          </p:nvPr>
        </p:nvSpPr>
        <p:spPr>
          <a:xfrm>
            <a:off x="1195647" y="1640719"/>
            <a:ext cx="10042073" cy="4375520"/>
          </a:xfrm>
        </p:spPr>
        <p:txBody>
          <a:bodyPr>
            <a:noAutofit/>
          </a:bodyPr>
          <a:lstStyle>
            <a:lvl1pPr marL="457200" indent="-457200">
              <a:buClr>
                <a:schemeClr val="bg1"/>
              </a:buClr>
              <a:buFont typeface="+mj-lt"/>
              <a:buAutoNum type="arabicPeriod"/>
              <a:defRPr>
                <a:solidFill>
                  <a:schemeClr val="bg1"/>
                </a:solidFill>
              </a:defRPr>
            </a:lvl1pPr>
            <a:lvl2pPr marL="82550" indent="0">
              <a:buNone/>
              <a:defRPr/>
            </a:lvl2pPr>
          </a:lstStyle>
          <a:p>
            <a:pPr lvl="0"/>
            <a:r>
              <a:rPr lang="en-GB"/>
              <a:t>Click to edit Master text styles</a:t>
            </a:r>
          </a:p>
        </p:txBody>
      </p:sp>
      <p:sp>
        <p:nvSpPr>
          <p:cNvPr id="14" name="Platshållare för datum 3">
            <a:extLst>
              <a:ext uri="{FF2B5EF4-FFF2-40B4-BE49-F238E27FC236}">
                <a16:creationId xmlns:a16="http://schemas.microsoft.com/office/drawing/2014/main" id="{04D3287D-3E21-D845-8766-C307E6765306}"/>
              </a:ext>
            </a:extLst>
          </p:cNvPr>
          <p:cNvSpPr>
            <a:spLocks noGrp="1"/>
          </p:cNvSpPr>
          <p:nvPr>
            <p:ph type="dt" sz="half" idx="10"/>
          </p:nvPr>
        </p:nvSpPr>
        <p:spPr>
          <a:xfrm>
            <a:off x="1195647" y="6475270"/>
            <a:ext cx="832658" cy="365125"/>
          </a:xfrm>
        </p:spPr>
        <p:txBody>
          <a:bodyPr/>
          <a:lstStyle/>
          <a:p>
            <a:fld id="{18896B66-0B3A-474C-9C9C-E4F07B1F5DAD}" type="datetime1">
              <a:rPr lang="sv-SE" smtClean="0"/>
              <a:t>2026-08-26</a:t>
            </a:fld>
            <a:endParaRPr lang="sv-SE" dirty="0"/>
          </a:p>
        </p:txBody>
      </p:sp>
    </p:spTree>
    <p:extLst>
      <p:ext uri="{BB962C8B-B14F-4D97-AF65-F5344CB8AC3E}">
        <p14:creationId xmlns:p14="http://schemas.microsoft.com/office/powerpoint/2010/main" val="153988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breaker slide">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250D024A-8F85-4618-9506-0F493B263A92}"/>
              </a:ext>
            </a:extLst>
          </p:cNvPr>
          <p:cNvSpPr/>
          <p:nvPr userDrawn="1"/>
        </p:nvSpPr>
        <p:spPr>
          <a:xfrm>
            <a:off x="0" y="0"/>
            <a:ext cx="647771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ktangel 7">
            <a:extLst>
              <a:ext uri="{FF2B5EF4-FFF2-40B4-BE49-F238E27FC236}">
                <a16:creationId xmlns:a16="http://schemas.microsoft.com/office/drawing/2014/main" id="{628E18C2-A66E-436E-89DA-1C5D481CB4B4}"/>
              </a:ext>
            </a:extLst>
          </p:cNvPr>
          <p:cNvSpPr/>
          <p:nvPr userDrawn="1"/>
        </p:nvSpPr>
        <p:spPr>
          <a:xfrm>
            <a:off x="0" y="447675"/>
            <a:ext cx="292101" cy="6410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latshållare för bild 12">
            <a:extLst>
              <a:ext uri="{FF2B5EF4-FFF2-40B4-BE49-F238E27FC236}">
                <a16:creationId xmlns:a16="http://schemas.microsoft.com/office/drawing/2014/main" id="{4FD00856-A3E1-48A7-B9CD-D7B89BD6A06C}"/>
              </a:ext>
            </a:extLst>
          </p:cNvPr>
          <p:cNvSpPr>
            <a:spLocks noGrp="1"/>
          </p:cNvSpPr>
          <p:nvPr>
            <p:ph type="pic" sz="quarter" idx="12" hasCustomPrompt="1"/>
          </p:nvPr>
        </p:nvSpPr>
        <p:spPr>
          <a:xfrm>
            <a:off x="6477712" y="0"/>
            <a:ext cx="5714288" cy="6858000"/>
          </a:xfrm>
          <a:solidFill>
            <a:srgbClr val="ECECEC"/>
          </a:solidFill>
        </p:spPr>
        <p:txBody>
          <a:bodyPr>
            <a:normAutofit/>
          </a:bodyPr>
          <a:lstStyle>
            <a:lvl1pPr algn="ctr">
              <a:defRPr sz="800"/>
            </a:lvl1pPr>
          </a:lstStyle>
          <a:p>
            <a:r>
              <a:rPr lang="sv-SE"/>
              <a:t>INSERT IMAGE</a:t>
            </a:r>
          </a:p>
        </p:txBody>
      </p:sp>
      <p:sp>
        <p:nvSpPr>
          <p:cNvPr id="9" name="Platshållare för text 8">
            <a:extLst>
              <a:ext uri="{FF2B5EF4-FFF2-40B4-BE49-F238E27FC236}">
                <a16:creationId xmlns:a16="http://schemas.microsoft.com/office/drawing/2014/main" id="{A8D8C0FE-DA05-418D-9F18-A5A81125AD3F}"/>
              </a:ext>
            </a:extLst>
          </p:cNvPr>
          <p:cNvSpPr>
            <a:spLocks noGrp="1"/>
          </p:cNvSpPr>
          <p:nvPr>
            <p:ph type="body" sz="quarter" idx="11"/>
          </p:nvPr>
        </p:nvSpPr>
        <p:spPr>
          <a:xfrm>
            <a:off x="10924611" y="417443"/>
            <a:ext cx="828000" cy="799200"/>
          </a:xfrm>
          <a:blipFill>
            <a:blip r:embed="rId2"/>
            <a:stretch>
              <a:fillRect/>
            </a:stretch>
          </a:blipFill>
        </p:spPr>
        <p:txBody>
          <a:bodyPr>
            <a:normAutofit/>
          </a:bodyPr>
          <a:lstStyle>
            <a:lvl1pPr marL="0" indent="0">
              <a:buFontTx/>
              <a:buNone/>
              <a:defRPr sz="100">
                <a:noFill/>
              </a:defRPr>
            </a:lvl1pPr>
          </a:lstStyle>
          <a:p>
            <a:pPr lvl="0"/>
            <a:r>
              <a:rPr lang="en-GB"/>
              <a:t>Click to edit Master text styles</a:t>
            </a:r>
          </a:p>
        </p:txBody>
      </p:sp>
      <p:sp>
        <p:nvSpPr>
          <p:cNvPr id="7" name="Platshållare för text 6">
            <a:extLst>
              <a:ext uri="{FF2B5EF4-FFF2-40B4-BE49-F238E27FC236}">
                <a16:creationId xmlns:a16="http://schemas.microsoft.com/office/drawing/2014/main" id="{1848DA8D-03CE-4CA5-A851-F6ABAE67A9B0}"/>
              </a:ext>
            </a:extLst>
          </p:cNvPr>
          <p:cNvSpPr>
            <a:spLocks noGrp="1"/>
          </p:cNvSpPr>
          <p:nvPr>
            <p:ph type="body" sz="quarter" idx="10"/>
          </p:nvPr>
        </p:nvSpPr>
        <p:spPr>
          <a:xfrm>
            <a:off x="0" y="447675"/>
            <a:ext cx="292100" cy="6410325"/>
          </a:xfrm>
          <a:solidFill>
            <a:schemeClr val="bg1"/>
          </a:solidFill>
        </p:spPr>
        <p:txBody>
          <a:bodyPr>
            <a:normAutofit/>
          </a:bodyPr>
          <a:lstStyle>
            <a:lvl1pPr marL="0" indent="0">
              <a:buFontTx/>
              <a:buNone/>
              <a:defRPr sz="100">
                <a:noFill/>
              </a:defRPr>
            </a:lvl1pPr>
          </a:lstStyle>
          <a:p>
            <a:pPr lvl="0"/>
            <a:r>
              <a:rPr lang="en-GB"/>
              <a:t>Click to edit Master text styles</a:t>
            </a:r>
          </a:p>
        </p:txBody>
      </p:sp>
      <p:sp>
        <p:nvSpPr>
          <p:cNvPr id="3" name="Platshållare för text 2">
            <a:extLst>
              <a:ext uri="{FF2B5EF4-FFF2-40B4-BE49-F238E27FC236}">
                <a16:creationId xmlns:a16="http://schemas.microsoft.com/office/drawing/2014/main" id="{F55DE042-7DE8-4583-986C-40823753078B}"/>
              </a:ext>
            </a:extLst>
          </p:cNvPr>
          <p:cNvSpPr>
            <a:spLocks noGrp="1"/>
          </p:cNvSpPr>
          <p:nvPr>
            <p:ph type="body" sz="quarter" idx="13" hasCustomPrompt="1"/>
          </p:nvPr>
        </p:nvSpPr>
        <p:spPr>
          <a:xfrm>
            <a:off x="1230491" y="1051132"/>
            <a:ext cx="4255909" cy="829149"/>
          </a:xfrm>
        </p:spPr>
        <p:txBody>
          <a:bodyPr rIns="18000" anchor="b" anchorCtr="0"/>
          <a:lstStyle>
            <a:lvl1pPr marL="0" indent="0">
              <a:buFontTx/>
              <a:buNone/>
              <a:defRPr sz="4800">
                <a:solidFill>
                  <a:schemeClr val="bg1"/>
                </a:solidFill>
                <a:latin typeface="+mn-lt"/>
              </a:defRPr>
            </a:lvl1pPr>
            <a:lvl2pPr marL="82550" indent="0">
              <a:buNone/>
              <a:defRPr/>
            </a:lvl2pPr>
          </a:lstStyle>
          <a:p>
            <a:pPr lvl="0"/>
            <a:r>
              <a:rPr lang="sv-SE"/>
              <a:t># (chapter)</a:t>
            </a:r>
          </a:p>
        </p:txBody>
      </p:sp>
      <p:sp>
        <p:nvSpPr>
          <p:cNvPr id="11" name="Platshållare för text 2">
            <a:extLst>
              <a:ext uri="{FF2B5EF4-FFF2-40B4-BE49-F238E27FC236}">
                <a16:creationId xmlns:a16="http://schemas.microsoft.com/office/drawing/2014/main" id="{1DC53C5B-9DC3-4646-B6B3-DD59404D44D0}"/>
              </a:ext>
            </a:extLst>
          </p:cNvPr>
          <p:cNvSpPr>
            <a:spLocks noGrp="1"/>
          </p:cNvSpPr>
          <p:nvPr>
            <p:ph type="body" sz="quarter" idx="14" hasCustomPrompt="1"/>
          </p:nvPr>
        </p:nvSpPr>
        <p:spPr>
          <a:xfrm>
            <a:off x="1230491" y="2169209"/>
            <a:ext cx="4255909" cy="2462613"/>
          </a:xfrm>
        </p:spPr>
        <p:txBody>
          <a:bodyPr rIns="18000" anchor="t" anchorCtr="0"/>
          <a:lstStyle>
            <a:lvl1pPr marL="0" indent="0">
              <a:spcBef>
                <a:spcPts val="0"/>
              </a:spcBef>
              <a:buFontTx/>
              <a:buNone/>
              <a:defRPr sz="4200">
                <a:solidFill>
                  <a:schemeClr val="bg1"/>
                </a:solidFill>
                <a:latin typeface="Segoe UI Semibold" panose="020B0702040204020203" pitchFamily="34" charset="0"/>
                <a:cs typeface="Segoe UI Semibold" panose="020B0702040204020203" pitchFamily="34" charset="0"/>
              </a:defRPr>
            </a:lvl1pPr>
            <a:lvl2pPr marL="82550" indent="0">
              <a:buNone/>
              <a:defRPr/>
            </a:lvl2pPr>
          </a:lstStyle>
          <a:p>
            <a:pPr lvl="0"/>
            <a:r>
              <a:rPr lang="sv-SE"/>
              <a:t>Headline</a:t>
            </a:r>
          </a:p>
        </p:txBody>
      </p:sp>
    </p:spTree>
    <p:extLst>
      <p:ext uri="{BB962C8B-B14F-4D97-AF65-F5344CB8AC3E}">
        <p14:creationId xmlns:p14="http://schemas.microsoft.com/office/powerpoint/2010/main" val="3254649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4C1ADE6-C058-9C40-B135-034EB97B437C}"/>
              </a:ext>
            </a:extLst>
          </p:cNvPr>
          <p:cNvSpPr>
            <a:spLocks noGrp="1"/>
          </p:cNvSpPr>
          <p:nvPr>
            <p:ph type="title" hasCustomPrompt="1"/>
          </p:nvPr>
        </p:nvSpPr>
        <p:spPr>
          <a:xfrm>
            <a:off x="1103709" y="265373"/>
            <a:ext cx="9360000" cy="657339"/>
          </a:xfrm>
        </p:spPr>
        <p:txBody>
          <a:bodyPr lIns="90000" bIns="18000"/>
          <a:lstStyle>
            <a:lvl1pPr>
              <a:defRPr/>
            </a:lvl1pPr>
          </a:lstStyle>
          <a:p>
            <a:r>
              <a:rPr lang="sv-SE"/>
              <a:t>Headline</a:t>
            </a:r>
          </a:p>
        </p:txBody>
      </p:sp>
      <p:sp>
        <p:nvSpPr>
          <p:cNvPr id="5" name="Platshållare för sidfot 4">
            <a:extLst>
              <a:ext uri="{FF2B5EF4-FFF2-40B4-BE49-F238E27FC236}">
                <a16:creationId xmlns:a16="http://schemas.microsoft.com/office/drawing/2014/main" id="{3A0D4D5C-5B1B-1441-A13B-8613512E59E2}"/>
              </a:ext>
            </a:extLst>
          </p:cNvPr>
          <p:cNvSpPr>
            <a:spLocks noGrp="1"/>
          </p:cNvSpPr>
          <p:nvPr>
            <p:ph type="ftr" sz="quarter" idx="11"/>
          </p:nvPr>
        </p:nvSpPr>
        <p:spPr>
          <a:xfrm>
            <a:off x="2053244" y="6475270"/>
            <a:ext cx="4320448" cy="365125"/>
          </a:xfrm>
        </p:spPr>
        <p:txBody>
          <a:bodyPr/>
          <a:lstStyle/>
          <a:p>
            <a:r>
              <a:rPr lang="sv-SE" dirty="0"/>
              <a:t>PRESENTATION TITLE/FOOTER</a:t>
            </a:r>
          </a:p>
        </p:txBody>
      </p:sp>
      <p:sp>
        <p:nvSpPr>
          <p:cNvPr id="6" name="Platshållare för bildnummer 5">
            <a:extLst>
              <a:ext uri="{FF2B5EF4-FFF2-40B4-BE49-F238E27FC236}">
                <a16:creationId xmlns:a16="http://schemas.microsoft.com/office/drawing/2014/main" id="{184FAE50-4669-D540-A55E-354FF0C59458}"/>
              </a:ext>
            </a:extLst>
          </p:cNvPr>
          <p:cNvSpPr>
            <a:spLocks noGrp="1"/>
          </p:cNvSpPr>
          <p:nvPr>
            <p:ph type="sldNum" sz="quarter" idx="12"/>
          </p:nvPr>
        </p:nvSpPr>
        <p:spPr>
          <a:xfrm>
            <a:off x="8735292" y="6475270"/>
            <a:ext cx="2743200" cy="365125"/>
          </a:xfrm>
        </p:spPr>
        <p:txBody>
          <a:bodyPr/>
          <a:lstStyle/>
          <a:p>
            <a:fld id="{F7283078-D760-1647-8B80-66BA8B52336D}" type="slidenum">
              <a:rPr lang="sv-SE" smtClean="0"/>
              <a:t>‹#›</a:t>
            </a:fld>
            <a:endParaRPr lang="sv-SE" dirty="0"/>
          </a:p>
        </p:txBody>
      </p:sp>
      <p:sp>
        <p:nvSpPr>
          <p:cNvPr id="14" name="Platshållare för text 13">
            <a:extLst>
              <a:ext uri="{FF2B5EF4-FFF2-40B4-BE49-F238E27FC236}">
                <a16:creationId xmlns:a16="http://schemas.microsoft.com/office/drawing/2014/main" id="{DD16215C-7D16-4D0F-BA5D-E02EED6FB2D9}"/>
              </a:ext>
            </a:extLst>
          </p:cNvPr>
          <p:cNvSpPr>
            <a:spLocks noGrp="1"/>
          </p:cNvSpPr>
          <p:nvPr>
            <p:ph type="body" sz="quarter" idx="14" hasCustomPrompt="1"/>
          </p:nvPr>
        </p:nvSpPr>
        <p:spPr>
          <a:xfrm>
            <a:off x="1103709" y="931026"/>
            <a:ext cx="9360000" cy="507076"/>
          </a:xfrm>
        </p:spPr>
        <p:txBody>
          <a:bodyPr lIns="90000" tIns="18000">
            <a:noAutofit/>
          </a:bodyPr>
          <a:lstStyle>
            <a:lvl1pPr marL="0" indent="0">
              <a:spcBef>
                <a:spcPts val="0"/>
              </a:spcBef>
              <a:buFontTx/>
              <a:buNone/>
              <a:defRPr sz="2200">
                <a:solidFill>
                  <a:schemeClr val="accent1"/>
                </a:solidFill>
              </a:defRPr>
            </a:lvl1pPr>
            <a:lvl2pPr marL="82550" indent="0">
              <a:buNone/>
              <a:defRPr/>
            </a:lvl2pPr>
          </a:lstStyle>
          <a:p>
            <a:pPr lvl="0"/>
            <a:r>
              <a:rPr lang="sv-SE"/>
              <a:t>Sub-headline</a:t>
            </a:r>
          </a:p>
        </p:txBody>
      </p:sp>
      <p:sp>
        <p:nvSpPr>
          <p:cNvPr id="10" name="Rektangel 9">
            <a:extLst>
              <a:ext uri="{FF2B5EF4-FFF2-40B4-BE49-F238E27FC236}">
                <a16:creationId xmlns:a16="http://schemas.microsoft.com/office/drawing/2014/main" id="{A5E954D6-E4D2-47AD-A504-7408EC606D35}"/>
              </a:ext>
            </a:extLst>
          </p:cNvPr>
          <p:cNvSpPr/>
          <p:nvPr userDrawn="1"/>
        </p:nvSpPr>
        <p:spPr>
          <a:xfrm>
            <a:off x="0" y="447675"/>
            <a:ext cx="292101" cy="641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Bildobjekt 10">
            <a:extLst>
              <a:ext uri="{FF2B5EF4-FFF2-40B4-BE49-F238E27FC236}">
                <a16:creationId xmlns:a16="http://schemas.microsoft.com/office/drawing/2014/main" id="{6DD4ACE8-21C9-474B-A84B-6E399CB9FBD5}"/>
              </a:ext>
            </a:extLst>
          </p:cNvPr>
          <p:cNvPicPr>
            <a:picLocks noChangeAspect="1"/>
          </p:cNvPicPr>
          <p:nvPr userDrawn="1"/>
        </p:nvPicPr>
        <p:blipFill>
          <a:blip r:embed="rId2"/>
          <a:srcRect/>
          <a:stretch/>
        </p:blipFill>
        <p:spPr>
          <a:xfrm>
            <a:off x="10924611" y="417443"/>
            <a:ext cx="826394" cy="800100"/>
          </a:xfrm>
          <a:prstGeom prst="rect">
            <a:avLst/>
          </a:prstGeom>
        </p:spPr>
      </p:pic>
      <p:sp>
        <p:nvSpPr>
          <p:cNvPr id="12" name="Platshållare för innehåll 2">
            <a:extLst>
              <a:ext uri="{FF2B5EF4-FFF2-40B4-BE49-F238E27FC236}">
                <a16:creationId xmlns:a16="http://schemas.microsoft.com/office/drawing/2014/main" id="{5917406D-4BE3-3B4C-BCFF-41B4F0FAB441}"/>
              </a:ext>
            </a:extLst>
          </p:cNvPr>
          <p:cNvSpPr>
            <a:spLocks noGrp="1"/>
          </p:cNvSpPr>
          <p:nvPr>
            <p:ph idx="1"/>
          </p:nvPr>
        </p:nvSpPr>
        <p:spPr>
          <a:xfrm>
            <a:off x="1094400" y="1562400"/>
            <a:ext cx="9365782" cy="4768062"/>
          </a:xfrm>
        </p:spPr>
        <p:txBody>
          <a:bodyPr lIns="0" rIns="1800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13" name="Platshållare för datum 3">
            <a:extLst>
              <a:ext uri="{FF2B5EF4-FFF2-40B4-BE49-F238E27FC236}">
                <a16:creationId xmlns:a16="http://schemas.microsoft.com/office/drawing/2014/main" id="{3E8E36C4-8565-B94E-A90D-FF5DD7F86A6D}"/>
              </a:ext>
            </a:extLst>
          </p:cNvPr>
          <p:cNvSpPr>
            <a:spLocks noGrp="1"/>
          </p:cNvSpPr>
          <p:nvPr>
            <p:ph type="dt" sz="half" idx="10"/>
          </p:nvPr>
        </p:nvSpPr>
        <p:spPr>
          <a:xfrm>
            <a:off x="1195647" y="6475270"/>
            <a:ext cx="832658" cy="365125"/>
          </a:xfrm>
        </p:spPr>
        <p:txBody>
          <a:bodyPr/>
          <a:lstStyle/>
          <a:p>
            <a:fld id="{18896B66-0B3A-474C-9C9C-E4F07B1F5DAD}" type="datetime1">
              <a:rPr lang="sv-SE" smtClean="0"/>
              <a:t>2026-08-26</a:t>
            </a:fld>
            <a:endParaRPr lang="sv-SE" dirty="0"/>
          </a:p>
        </p:txBody>
      </p:sp>
    </p:spTree>
    <p:extLst>
      <p:ext uri="{BB962C8B-B14F-4D97-AF65-F5344CB8AC3E}">
        <p14:creationId xmlns:p14="http://schemas.microsoft.com/office/powerpoint/2010/main" val="128008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in 2 column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4C1ADE6-C058-9C40-B135-034EB97B437C}"/>
              </a:ext>
            </a:extLst>
          </p:cNvPr>
          <p:cNvSpPr>
            <a:spLocks noGrp="1"/>
          </p:cNvSpPr>
          <p:nvPr>
            <p:ph type="title" hasCustomPrompt="1"/>
          </p:nvPr>
        </p:nvSpPr>
        <p:spPr>
          <a:xfrm>
            <a:off x="1103709" y="265373"/>
            <a:ext cx="9360000" cy="657339"/>
          </a:xfrm>
        </p:spPr>
        <p:txBody>
          <a:bodyPr lIns="90000" bIns="18000"/>
          <a:lstStyle>
            <a:lvl1pPr>
              <a:defRPr/>
            </a:lvl1pPr>
          </a:lstStyle>
          <a:p>
            <a:r>
              <a:rPr lang="sv-SE"/>
              <a:t>Headline</a:t>
            </a:r>
          </a:p>
        </p:txBody>
      </p:sp>
      <p:sp>
        <p:nvSpPr>
          <p:cNvPr id="5" name="Platshållare för sidfot 4">
            <a:extLst>
              <a:ext uri="{FF2B5EF4-FFF2-40B4-BE49-F238E27FC236}">
                <a16:creationId xmlns:a16="http://schemas.microsoft.com/office/drawing/2014/main" id="{3A0D4D5C-5B1B-1441-A13B-8613512E59E2}"/>
              </a:ext>
            </a:extLst>
          </p:cNvPr>
          <p:cNvSpPr>
            <a:spLocks noGrp="1"/>
          </p:cNvSpPr>
          <p:nvPr>
            <p:ph type="ftr" sz="quarter" idx="11"/>
          </p:nvPr>
        </p:nvSpPr>
        <p:spPr>
          <a:xfrm>
            <a:off x="2053244" y="6475270"/>
            <a:ext cx="4320448" cy="365125"/>
          </a:xfrm>
        </p:spPr>
        <p:txBody>
          <a:bodyPr/>
          <a:lstStyle/>
          <a:p>
            <a:r>
              <a:rPr lang="sv-SE" dirty="0"/>
              <a:t>PRESENTATION TITLE/FOOTER</a:t>
            </a:r>
          </a:p>
        </p:txBody>
      </p:sp>
      <p:sp>
        <p:nvSpPr>
          <p:cNvPr id="6" name="Platshållare för bildnummer 5">
            <a:extLst>
              <a:ext uri="{FF2B5EF4-FFF2-40B4-BE49-F238E27FC236}">
                <a16:creationId xmlns:a16="http://schemas.microsoft.com/office/drawing/2014/main" id="{184FAE50-4669-D540-A55E-354FF0C59458}"/>
              </a:ext>
            </a:extLst>
          </p:cNvPr>
          <p:cNvSpPr>
            <a:spLocks noGrp="1"/>
          </p:cNvSpPr>
          <p:nvPr>
            <p:ph type="sldNum" sz="quarter" idx="12"/>
          </p:nvPr>
        </p:nvSpPr>
        <p:spPr>
          <a:xfrm>
            <a:off x="8735292" y="6475270"/>
            <a:ext cx="2743200" cy="365125"/>
          </a:xfrm>
        </p:spPr>
        <p:txBody>
          <a:bodyPr/>
          <a:lstStyle/>
          <a:p>
            <a:fld id="{F7283078-D760-1647-8B80-66BA8B52336D}" type="slidenum">
              <a:rPr lang="sv-SE" smtClean="0"/>
              <a:t>‹#›</a:t>
            </a:fld>
            <a:endParaRPr lang="sv-SE"/>
          </a:p>
        </p:txBody>
      </p:sp>
      <p:sp>
        <p:nvSpPr>
          <p:cNvPr id="9" name="Platshållare för innehåll 2">
            <a:extLst>
              <a:ext uri="{FF2B5EF4-FFF2-40B4-BE49-F238E27FC236}">
                <a16:creationId xmlns:a16="http://schemas.microsoft.com/office/drawing/2014/main" id="{590CF35B-F516-4A5B-A8AB-7A0A283629E9}"/>
              </a:ext>
            </a:extLst>
          </p:cNvPr>
          <p:cNvSpPr>
            <a:spLocks noGrp="1"/>
          </p:cNvSpPr>
          <p:nvPr>
            <p:ph idx="1"/>
          </p:nvPr>
        </p:nvSpPr>
        <p:spPr>
          <a:xfrm>
            <a:off x="1094400" y="1562400"/>
            <a:ext cx="4993785" cy="4768062"/>
          </a:xfrm>
        </p:spPr>
        <p:txBody>
          <a:bodyPr lIns="0" rIns="18000"/>
          <a:lstStyle>
            <a:lvl1pPr>
              <a:lnSpc>
                <a:spcPct val="100000"/>
              </a:lnSpc>
              <a:defRPr/>
            </a:lvl1pPr>
            <a:lvl2pPr marL="358775" indent="-215900">
              <a:lnSpc>
                <a:spcPct val="100000"/>
              </a:lnSpc>
              <a:tabLst/>
              <a:defRPr/>
            </a:lvl2pPr>
            <a:lvl3pPr marL="449263" indent="-196850">
              <a:lnSpc>
                <a:spcPct val="100000"/>
              </a:lnSpc>
              <a:tabLst/>
              <a:defRPr/>
            </a:lvl3pPr>
            <a:lvl4pPr marL="541338" indent="-180000">
              <a:lnSpc>
                <a:spcPct val="100000"/>
              </a:lnSpc>
              <a:tabLst/>
              <a:defRPr/>
            </a:lvl4pPr>
            <a:lvl5pPr marL="630000" indent="-162000">
              <a:lnSpc>
                <a:spcPct val="100000"/>
              </a:lnSpc>
              <a:tabLs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12" name="Platshållare för innehåll 2">
            <a:extLst>
              <a:ext uri="{FF2B5EF4-FFF2-40B4-BE49-F238E27FC236}">
                <a16:creationId xmlns:a16="http://schemas.microsoft.com/office/drawing/2014/main" id="{BA21051E-3C35-41FB-8E6B-797DB8F26971}"/>
              </a:ext>
            </a:extLst>
          </p:cNvPr>
          <p:cNvSpPr>
            <a:spLocks noGrp="1"/>
          </p:cNvSpPr>
          <p:nvPr>
            <p:ph idx="13"/>
          </p:nvPr>
        </p:nvSpPr>
        <p:spPr>
          <a:xfrm>
            <a:off x="6373692" y="1562400"/>
            <a:ext cx="4993785" cy="4768062"/>
          </a:xfrm>
        </p:spPr>
        <p:txBody>
          <a:bodyPr lIns="0" rIns="18000"/>
          <a:lstStyle>
            <a:lvl1pPr>
              <a:lnSpc>
                <a:spcPct val="100000"/>
              </a:lnSpc>
              <a:defRPr/>
            </a:lvl1pPr>
            <a:lvl2pPr marL="360000" indent="-216000">
              <a:lnSpc>
                <a:spcPct val="100000"/>
              </a:lnSpc>
              <a:tabLst/>
              <a:defRPr/>
            </a:lvl2pPr>
            <a:lvl3pPr marL="450000" indent="-198000">
              <a:lnSpc>
                <a:spcPct val="100000"/>
              </a:lnSpc>
              <a:tabLst/>
              <a:defRPr/>
            </a:lvl3pPr>
            <a:lvl4pPr marL="540000" indent="-180000">
              <a:lnSpc>
                <a:spcPct val="100000"/>
              </a:lnSpc>
              <a:tabLst/>
              <a:defRPr/>
            </a:lvl4pPr>
            <a:lvl5pPr marL="628650" indent="-162000">
              <a:lnSpc>
                <a:spcPct val="100000"/>
              </a:lnSpc>
              <a:tabLs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14" name="Platshållare för text 13">
            <a:extLst>
              <a:ext uri="{FF2B5EF4-FFF2-40B4-BE49-F238E27FC236}">
                <a16:creationId xmlns:a16="http://schemas.microsoft.com/office/drawing/2014/main" id="{DD16215C-7D16-4D0F-BA5D-E02EED6FB2D9}"/>
              </a:ext>
            </a:extLst>
          </p:cNvPr>
          <p:cNvSpPr>
            <a:spLocks noGrp="1"/>
          </p:cNvSpPr>
          <p:nvPr>
            <p:ph type="body" sz="quarter" idx="14" hasCustomPrompt="1"/>
          </p:nvPr>
        </p:nvSpPr>
        <p:spPr>
          <a:xfrm>
            <a:off x="1103709" y="931026"/>
            <a:ext cx="9360000" cy="507076"/>
          </a:xfrm>
        </p:spPr>
        <p:txBody>
          <a:bodyPr lIns="90000" tIns="18000">
            <a:noAutofit/>
          </a:bodyPr>
          <a:lstStyle>
            <a:lvl1pPr marL="0" indent="0">
              <a:spcBef>
                <a:spcPts val="0"/>
              </a:spcBef>
              <a:buFontTx/>
              <a:buNone/>
              <a:defRPr sz="2200">
                <a:solidFill>
                  <a:schemeClr val="accent1"/>
                </a:solidFill>
              </a:defRPr>
            </a:lvl1pPr>
            <a:lvl2pPr marL="82550" indent="0">
              <a:buNone/>
              <a:defRPr/>
            </a:lvl2pPr>
          </a:lstStyle>
          <a:p>
            <a:pPr lvl="0"/>
            <a:r>
              <a:rPr lang="sv-SE"/>
              <a:t>Sub-headline</a:t>
            </a:r>
          </a:p>
        </p:txBody>
      </p:sp>
      <p:sp>
        <p:nvSpPr>
          <p:cNvPr id="15" name="Rektangel 14">
            <a:extLst>
              <a:ext uri="{FF2B5EF4-FFF2-40B4-BE49-F238E27FC236}">
                <a16:creationId xmlns:a16="http://schemas.microsoft.com/office/drawing/2014/main" id="{87E2C692-2C39-4CA8-AA87-45E0F36B6A0E}"/>
              </a:ext>
            </a:extLst>
          </p:cNvPr>
          <p:cNvSpPr/>
          <p:nvPr userDrawn="1"/>
        </p:nvSpPr>
        <p:spPr>
          <a:xfrm>
            <a:off x="0" y="447675"/>
            <a:ext cx="292101" cy="641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6" name="Bildobjekt 15">
            <a:extLst>
              <a:ext uri="{FF2B5EF4-FFF2-40B4-BE49-F238E27FC236}">
                <a16:creationId xmlns:a16="http://schemas.microsoft.com/office/drawing/2014/main" id="{E327627C-4BB8-4965-8107-0E7E741F8302}"/>
              </a:ext>
            </a:extLst>
          </p:cNvPr>
          <p:cNvPicPr>
            <a:picLocks noChangeAspect="1"/>
          </p:cNvPicPr>
          <p:nvPr userDrawn="1"/>
        </p:nvPicPr>
        <p:blipFill>
          <a:blip r:embed="rId2"/>
          <a:srcRect/>
          <a:stretch/>
        </p:blipFill>
        <p:spPr>
          <a:xfrm>
            <a:off x="10924611" y="417443"/>
            <a:ext cx="826394" cy="800100"/>
          </a:xfrm>
          <a:prstGeom prst="rect">
            <a:avLst/>
          </a:prstGeom>
        </p:spPr>
      </p:pic>
      <p:sp>
        <p:nvSpPr>
          <p:cNvPr id="11" name="Platshållare för datum 3">
            <a:extLst>
              <a:ext uri="{FF2B5EF4-FFF2-40B4-BE49-F238E27FC236}">
                <a16:creationId xmlns:a16="http://schemas.microsoft.com/office/drawing/2014/main" id="{154C1432-4F85-1F42-8016-9B83B89CC804}"/>
              </a:ext>
            </a:extLst>
          </p:cNvPr>
          <p:cNvSpPr>
            <a:spLocks noGrp="1"/>
          </p:cNvSpPr>
          <p:nvPr>
            <p:ph type="dt" sz="half" idx="10"/>
          </p:nvPr>
        </p:nvSpPr>
        <p:spPr>
          <a:xfrm>
            <a:off x="1195647" y="6475270"/>
            <a:ext cx="832658" cy="365125"/>
          </a:xfrm>
        </p:spPr>
        <p:txBody>
          <a:bodyPr/>
          <a:lstStyle/>
          <a:p>
            <a:fld id="{18896B66-0B3A-474C-9C9C-E4F07B1F5DAD}" type="datetime1">
              <a:rPr lang="sv-SE" smtClean="0"/>
              <a:t>2026-08-26</a:t>
            </a:fld>
            <a:endParaRPr lang="sv-SE" dirty="0"/>
          </a:p>
        </p:txBody>
      </p:sp>
    </p:spTree>
    <p:extLst>
      <p:ext uri="{BB962C8B-B14F-4D97-AF65-F5344CB8AC3E}">
        <p14:creationId xmlns:p14="http://schemas.microsoft.com/office/powerpoint/2010/main" val="2135108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in 3 column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4C1ADE6-C058-9C40-B135-034EB97B437C}"/>
              </a:ext>
            </a:extLst>
          </p:cNvPr>
          <p:cNvSpPr>
            <a:spLocks noGrp="1"/>
          </p:cNvSpPr>
          <p:nvPr>
            <p:ph type="title" hasCustomPrompt="1"/>
          </p:nvPr>
        </p:nvSpPr>
        <p:spPr>
          <a:xfrm>
            <a:off x="1103709" y="265373"/>
            <a:ext cx="9360000" cy="657339"/>
          </a:xfrm>
        </p:spPr>
        <p:txBody>
          <a:bodyPr lIns="90000" bIns="18000"/>
          <a:lstStyle>
            <a:lvl1pPr>
              <a:defRPr/>
            </a:lvl1pPr>
          </a:lstStyle>
          <a:p>
            <a:r>
              <a:rPr lang="sv-SE"/>
              <a:t>Headline</a:t>
            </a:r>
          </a:p>
        </p:txBody>
      </p:sp>
      <p:sp>
        <p:nvSpPr>
          <p:cNvPr id="5" name="Platshållare för sidfot 4">
            <a:extLst>
              <a:ext uri="{FF2B5EF4-FFF2-40B4-BE49-F238E27FC236}">
                <a16:creationId xmlns:a16="http://schemas.microsoft.com/office/drawing/2014/main" id="{3A0D4D5C-5B1B-1441-A13B-8613512E59E2}"/>
              </a:ext>
            </a:extLst>
          </p:cNvPr>
          <p:cNvSpPr>
            <a:spLocks noGrp="1"/>
          </p:cNvSpPr>
          <p:nvPr>
            <p:ph type="ftr" sz="quarter" idx="11"/>
          </p:nvPr>
        </p:nvSpPr>
        <p:spPr>
          <a:xfrm>
            <a:off x="2053244" y="6475270"/>
            <a:ext cx="4320448" cy="365125"/>
          </a:xfrm>
        </p:spPr>
        <p:txBody>
          <a:bodyPr/>
          <a:lstStyle/>
          <a:p>
            <a:r>
              <a:rPr lang="sv-SE" dirty="0"/>
              <a:t>PRESENTATION TITLE/FOOTER</a:t>
            </a:r>
          </a:p>
        </p:txBody>
      </p:sp>
      <p:sp>
        <p:nvSpPr>
          <p:cNvPr id="6" name="Platshållare för bildnummer 5">
            <a:extLst>
              <a:ext uri="{FF2B5EF4-FFF2-40B4-BE49-F238E27FC236}">
                <a16:creationId xmlns:a16="http://schemas.microsoft.com/office/drawing/2014/main" id="{184FAE50-4669-D540-A55E-354FF0C59458}"/>
              </a:ext>
            </a:extLst>
          </p:cNvPr>
          <p:cNvSpPr>
            <a:spLocks noGrp="1"/>
          </p:cNvSpPr>
          <p:nvPr>
            <p:ph type="sldNum" sz="quarter" idx="12"/>
          </p:nvPr>
        </p:nvSpPr>
        <p:spPr>
          <a:xfrm>
            <a:off x="8735292" y="6475270"/>
            <a:ext cx="2743200" cy="365125"/>
          </a:xfrm>
        </p:spPr>
        <p:txBody>
          <a:bodyPr/>
          <a:lstStyle/>
          <a:p>
            <a:fld id="{F7283078-D760-1647-8B80-66BA8B52336D}" type="slidenum">
              <a:rPr lang="sv-SE" smtClean="0"/>
              <a:t>‹#›</a:t>
            </a:fld>
            <a:endParaRPr lang="sv-SE"/>
          </a:p>
        </p:txBody>
      </p:sp>
      <p:sp>
        <p:nvSpPr>
          <p:cNvPr id="9" name="Platshållare för innehåll 2">
            <a:extLst>
              <a:ext uri="{FF2B5EF4-FFF2-40B4-BE49-F238E27FC236}">
                <a16:creationId xmlns:a16="http://schemas.microsoft.com/office/drawing/2014/main" id="{590CF35B-F516-4A5B-A8AB-7A0A283629E9}"/>
              </a:ext>
            </a:extLst>
          </p:cNvPr>
          <p:cNvSpPr>
            <a:spLocks noGrp="1"/>
          </p:cNvSpPr>
          <p:nvPr>
            <p:ph idx="1"/>
          </p:nvPr>
        </p:nvSpPr>
        <p:spPr>
          <a:xfrm>
            <a:off x="1094400" y="1562400"/>
            <a:ext cx="3255409" cy="4768062"/>
          </a:xfrm>
        </p:spPr>
        <p:txBody>
          <a:bodyPr lIns="0" rIns="18000"/>
          <a:lstStyle>
            <a:lvl1pPr>
              <a:lnSpc>
                <a:spcPct val="100000"/>
              </a:lnSpc>
              <a:defRPr/>
            </a:lvl1pPr>
            <a:lvl2pPr marL="360000" indent="-216000">
              <a:lnSpc>
                <a:spcPct val="100000"/>
              </a:lnSpc>
              <a:tabLst/>
              <a:defRPr/>
            </a:lvl2pPr>
            <a:lvl3pPr marL="449263" indent="-196850">
              <a:lnSpc>
                <a:spcPct val="100000"/>
              </a:lnSpc>
              <a:tabLst/>
              <a:defRPr/>
            </a:lvl3pPr>
            <a:lvl4pPr marL="541338" indent="-180975">
              <a:lnSpc>
                <a:spcPct val="100000"/>
              </a:lnSpc>
              <a:tabLst/>
              <a:defRPr/>
            </a:lvl4pPr>
            <a:lvl5pPr marL="630000" indent="-162000">
              <a:lnSpc>
                <a:spcPct val="100000"/>
              </a:lnSpc>
              <a:tabLs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14" name="Platshållare för text 13">
            <a:extLst>
              <a:ext uri="{FF2B5EF4-FFF2-40B4-BE49-F238E27FC236}">
                <a16:creationId xmlns:a16="http://schemas.microsoft.com/office/drawing/2014/main" id="{DD16215C-7D16-4D0F-BA5D-E02EED6FB2D9}"/>
              </a:ext>
            </a:extLst>
          </p:cNvPr>
          <p:cNvSpPr>
            <a:spLocks noGrp="1"/>
          </p:cNvSpPr>
          <p:nvPr>
            <p:ph type="body" sz="quarter" idx="14" hasCustomPrompt="1"/>
          </p:nvPr>
        </p:nvSpPr>
        <p:spPr>
          <a:xfrm>
            <a:off x="1103709" y="931026"/>
            <a:ext cx="9360000" cy="507076"/>
          </a:xfrm>
        </p:spPr>
        <p:txBody>
          <a:bodyPr lIns="90000" tIns="18000">
            <a:noAutofit/>
          </a:bodyPr>
          <a:lstStyle>
            <a:lvl1pPr marL="0" indent="0">
              <a:spcBef>
                <a:spcPts val="0"/>
              </a:spcBef>
              <a:buFontTx/>
              <a:buNone/>
              <a:defRPr sz="2200">
                <a:solidFill>
                  <a:schemeClr val="accent1"/>
                </a:solidFill>
              </a:defRPr>
            </a:lvl1pPr>
            <a:lvl2pPr marL="82550" indent="0">
              <a:buNone/>
              <a:defRPr/>
            </a:lvl2pPr>
          </a:lstStyle>
          <a:p>
            <a:pPr lvl="0"/>
            <a:r>
              <a:rPr lang="sv-SE"/>
              <a:t>Sub-headline</a:t>
            </a:r>
          </a:p>
        </p:txBody>
      </p:sp>
      <p:sp>
        <p:nvSpPr>
          <p:cNvPr id="15" name="Rektangel 14">
            <a:extLst>
              <a:ext uri="{FF2B5EF4-FFF2-40B4-BE49-F238E27FC236}">
                <a16:creationId xmlns:a16="http://schemas.microsoft.com/office/drawing/2014/main" id="{87E2C692-2C39-4CA8-AA87-45E0F36B6A0E}"/>
              </a:ext>
            </a:extLst>
          </p:cNvPr>
          <p:cNvSpPr/>
          <p:nvPr userDrawn="1"/>
        </p:nvSpPr>
        <p:spPr>
          <a:xfrm>
            <a:off x="0" y="447675"/>
            <a:ext cx="292101" cy="641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6" name="Bildobjekt 15">
            <a:extLst>
              <a:ext uri="{FF2B5EF4-FFF2-40B4-BE49-F238E27FC236}">
                <a16:creationId xmlns:a16="http://schemas.microsoft.com/office/drawing/2014/main" id="{E327627C-4BB8-4965-8107-0E7E741F8302}"/>
              </a:ext>
            </a:extLst>
          </p:cNvPr>
          <p:cNvPicPr>
            <a:picLocks noChangeAspect="1"/>
          </p:cNvPicPr>
          <p:nvPr userDrawn="1"/>
        </p:nvPicPr>
        <p:blipFill>
          <a:blip r:embed="rId2"/>
          <a:srcRect/>
          <a:stretch/>
        </p:blipFill>
        <p:spPr>
          <a:xfrm>
            <a:off x="10924611" y="417443"/>
            <a:ext cx="826394" cy="800100"/>
          </a:xfrm>
          <a:prstGeom prst="rect">
            <a:avLst/>
          </a:prstGeom>
        </p:spPr>
      </p:pic>
      <p:sp>
        <p:nvSpPr>
          <p:cNvPr id="13" name="Platshållare för innehåll 2">
            <a:extLst>
              <a:ext uri="{FF2B5EF4-FFF2-40B4-BE49-F238E27FC236}">
                <a16:creationId xmlns:a16="http://schemas.microsoft.com/office/drawing/2014/main" id="{B2D0E559-A900-41F3-93C5-387A7764A152}"/>
              </a:ext>
            </a:extLst>
          </p:cNvPr>
          <p:cNvSpPr>
            <a:spLocks noGrp="1"/>
          </p:cNvSpPr>
          <p:nvPr>
            <p:ph idx="15"/>
          </p:nvPr>
        </p:nvSpPr>
        <p:spPr>
          <a:xfrm>
            <a:off x="4605297" y="1562400"/>
            <a:ext cx="3255409" cy="4768062"/>
          </a:xfrm>
        </p:spPr>
        <p:txBody>
          <a:bodyPr lIns="0" rIns="18000"/>
          <a:lstStyle>
            <a:lvl1pPr>
              <a:lnSpc>
                <a:spcPct val="100000"/>
              </a:lnSpc>
              <a:defRPr/>
            </a:lvl1pPr>
            <a:lvl2pPr marL="360000" indent="-216000">
              <a:lnSpc>
                <a:spcPct val="100000"/>
              </a:lnSpc>
              <a:tabLst/>
              <a:defRPr/>
            </a:lvl2pPr>
            <a:lvl3pPr marL="450000" indent="-198000">
              <a:lnSpc>
                <a:spcPct val="100000"/>
              </a:lnSpc>
              <a:tabLst/>
              <a:defRPr/>
            </a:lvl3pPr>
            <a:lvl4pPr marL="539750" indent="-196850">
              <a:lnSpc>
                <a:spcPct val="100000"/>
              </a:lnSpc>
              <a:tabLst/>
              <a:defRPr/>
            </a:lvl4pPr>
            <a:lvl5pPr marL="630000" indent="-162000">
              <a:lnSpc>
                <a:spcPct val="100000"/>
              </a:lnSpc>
              <a:tabLs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17" name="Platshållare för innehåll 2">
            <a:extLst>
              <a:ext uri="{FF2B5EF4-FFF2-40B4-BE49-F238E27FC236}">
                <a16:creationId xmlns:a16="http://schemas.microsoft.com/office/drawing/2014/main" id="{E4E99B3B-ADB3-4D1A-9A7F-AA1B8528E6C7}"/>
              </a:ext>
            </a:extLst>
          </p:cNvPr>
          <p:cNvSpPr>
            <a:spLocks noGrp="1"/>
          </p:cNvSpPr>
          <p:nvPr>
            <p:ph idx="16"/>
          </p:nvPr>
        </p:nvSpPr>
        <p:spPr>
          <a:xfrm>
            <a:off x="8116194" y="1562400"/>
            <a:ext cx="3255409" cy="4768062"/>
          </a:xfrm>
        </p:spPr>
        <p:txBody>
          <a:bodyPr lIns="0" rIns="18000"/>
          <a:lstStyle>
            <a:lvl1pPr>
              <a:lnSpc>
                <a:spcPct val="100000"/>
              </a:lnSpc>
              <a:defRPr/>
            </a:lvl1pPr>
            <a:lvl2pPr marL="360000" indent="-216000">
              <a:lnSpc>
                <a:spcPct val="100000"/>
              </a:lnSpc>
              <a:tabLst/>
              <a:defRPr/>
            </a:lvl2pPr>
            <a:lvl3pPr marL="450000" indent="-198000">
              <a:lnSpc>
                <a:spcPct val="100000"/>
              </a:lnSpc>
              <a:tabLst/>
              <a:defRPr/>
            </a:lvl3pPr>
            <a:lvl4pPr marL="540000" indent="-180000">
              <a:lnSpc>
                <a:spcPct val="100000"/>
              </a:lnSpc>
              <a:tabLst/>
              <a:defRPr/>
            </a:lvl4pPr>
            <a:lvl5pPr marL="630000" indent="-162000">
              <a:lnSpc>
                <a:spcPct val="100000"/>
              </a:lnSpc>
              <a:tabLs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12" name="Platshållare för datum 3">
            <a:extLst>
              <a:ext uri="{FF2B5EF4-FFF2-40B4-BE49-F238E27FC236}">
                <a16:creationId xmlns:a16="http://schemas.microsoft.com/office/drawing/2014/main" id="{F91A8E7B-C629-D343-8A83-7EB0ADF6087A}"/>
              </a:ext>
            </a:extLst>
          </p:cNvPr>
          <p:cNvSpPr>
            <a:spLocks noGrp="1"/>
          </p:cNvSpPr>
          <p:nvPr>
            <p:ph type="dt" sz="half" idx="10"/>
          </p:nvPr>
        </p:nvSpPr>
        <p:spPr>
          <a:xfrm>
            <a:off x="1195647" y="6475270"/>
            <a:ext cx="832658" cy="365125"/>
          </a:xfrm>
        </p:spPr>
        <p:txBody>
          <a:bodyPr/>
          <a:lstStyle/>
          <a:p>
            <a:fld id="{18896B66-0B3A-474C-9C9C-E4F07B1F5DAD}" type="datetime1">
              <a:rPr lang="sv-SE" smtClean="0"/>
              <a:t>2026-08-26</a:t>
            </a:fld>
            <a:endParaRPr lang="sv-SE" dirty="0"/>
          </a:p>
        </p:txBody>
      </p:sp>
    </p:spTree>
    <p:extLst>
      <p:ext uri="{BB962C8B-B14F-4D97-AF65-F5344CB8AC3E}">
        <p14:creationId xmlns:p14="http://schemas.microsoft.com/office/powerpoint/2010/main" val="2667666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 image">
    <p:spTree>
      <p:nvGrpSpPr>
        <p:cNvPr id="1" name=""/>
        <p:cNvGrpSpPr/>
        <p:nvPr/>
      </p:nvGrpSpPr>
      <p:grpSpPr>
        <a:xfrm>
          <a:off x="0" y="0"/>
          <a:ext cx="0" cy="0"/>
          <a:chOff x="0" y="0"/>
          <a:chExt cx="0" cy="0"/>
        </a:xfrm>
      </p:grpSpPr>
      <p:sp>
        <p:nvSpPr>
          <p:cNvPr id="7" name="Platshållare för bild 6">
            <a:extLst>
              <a:ext uri="{FF2B5EF4-FFF2-40B4-BE49-F238E27FC236}">
                <a16:creationId xmlns:a16="http://schemas.microsoft.com/office/drawing/2014/main" id="{16B191E2-1C71-4B4C-B562-DD793673C24E}"/>
              </a:ext>
            </a:extLst>
          </p:cNvPr>
          <p:cNvSpPr>
            <a:spLocks noGrp="1"/>
          </p:cNvSpPr>
          <p:nvPr>
            <p:ph type="pic" sz="quarter" idx="15" hasCustomPrompt="1"/>
          </p:nvPr>
        </p:nvSpPr>
        <p:spPr>
          <a:xfrm>
            <a:off x="6373813" y="1562100"/>
            <a:ext cx="4994275" cy="4768850"/>
          </a:xfrm>
          <a:solidFill>
            <a:schemeClr val="bg1">
              <a:lumMod val="85000"/>
            </a:schemeClr>
          </a:solidFill>
        </p:spPr>
        <p:txBody>
          <a:bodyPr>
            <a:normAutofit/>
          </a:bodyPr>
          <a:lstStyle>
            <a:lvl1pPr marL="0" indent="0" algn="ctr">
              <a:buFontTx/>
              <a:buNone/>
              <a:defRPr sz="800">
                <a:solidFill>
                  <a:srgbClr val="666666"/>
                </a:solidFill>
              </a:defRPr>
            </a:lvl1pPr>
          </a:lstStyle>
          <a:p>
            <a:r>
              <a:rPr lang="sv-SE"/>
              <a:t>INSERT IMAGE</a:t>
            </a:r>
          </a:p>
        </p:txBody>
      </p:sp>
      <p:sp>
        <p:nvSpPr>
          <p:cNvPr id="2" name="Rubrik 1">
            <a:extLst>
              <a:ext uri="{FF2B5EF4-FFF2-40B4-BE49-F238E27FC236}">
                <a16:creationId xmlns:a16="http://schemas.microsoft.com/office/drawing/2014/main" id="{74C1ADE6-C058-9C40-B135-034EB97B437C}"/>
              </a:ext>
            </a:extLst>
          </p:cNvPr>
          <p:cNvSpPr>
            <a:spLocks noGrp="1"/>
          </p:cNvSpPr>
          <p:nvPr>
            <p:ph type="title" hasCustomPrompt="1"/>
          </p:nvPr>
        </p:nvSpPr>
        <p:spPr>
          <a:xfrm>
            <a:off x="1103709" y="265373"/>
            <a:ext cx="9360000" cy="657339"/>
          </a:xfrm>
        </p:spPr>
        <p:txBody>
          <a:bodyPr lIns="90000" bIns="18000"/>
          <a:lstStyle>
            <a:lvl1pPr>
              <a:defRPr/>
            </a:lvl1pPr>
          </a:lstStyle>
          <a:p>
            <a:r>
              <a:rPr lang="sv-SE"/>
              <a:t>Headline</a:t>
            </a:r>
          </a:p>
        </p:txBody>
      </p:sp>
      <p:sp>
        <p:nvSpPr>
          <p:cNvPr id="5" name="Platshållare för sidfot 4">
            <a:extLst>
              <a:ext uri="{FF2B5EF4-FFF2-40B4-BE49-F238E27FC236}">
                <a16:creationId xmlns:a16="http://schemas.microsoft.com/office/drawing/2014/main" id="{3A0D4D5C-5B1B-1441-A13B-8613512E59E2}"/>
              </a:ext>
            </a:extLst>
          </p:cNvPr>
          <p:cNvSpPr>
            <a:spLocks noGrp="1"/>
          </p:cNvSpPr>
          <p:nvPr>
            <p:ph type="ftr" sz="quarter" idx="11"/>
          </p:nvPr>
        </p:nvSpPr>
        <p:spPr>
          <a:xfrm>
            <a:off x="2053244" y="6475270"/>
            <a:ext cx="4320448" cy="365125"/>
          </a:xfrm>
        </p:spPr>
        <p:txBody>
          <a:bodyPr/>
          <a:lstStyle/>
          <a:p>
            <a:r>
              <a:rPr lang="sv-SE" dirty="0"/>
              <a:t>PRESENTATION TITL  FOOTER</a:t>
            </a:r>
          </a:p>
        </p:txBody>
      </p:sp>
      <p:sp>
        <p:nvSpPr>
          <p:cNvPr id="6" name="Platshållare för bildnummer 5">
            <a:extLst>
              <a:ext uri="{FF2B5EF4-FFF2-40B4-BE49-F238E27FC236}">
                <a16:creationId xmlns:a16="http://schemas.microsoft.com/office/drawing/2014/main" id="{184FAE50-4669-D540-A55E-354FF0C59458}"/>
              </a:ext>
            </a:extLst>
          </p:cNvPr>
          <p:cNvSpPr>
            <a:spLocks noGrp="1"/>
          </p:cNvSpPr>
          <p:nvPr>
            <p:ph type="sldNum" sz="quarter" idx="12"/>
          </p:nvPr>
        </p:nvSpPr>
        <p:spPr>
          <a:xfrm>
            <a:off x="8735292" y="6475270"/>
            <a:ext cx="2743200" cy="365125"/>
          </a:xfrm>
        </p:spPr>
        <p:txBody>
          <a:bodyPr/>
          <a:lstStyle/>
          <a:p>
            <a:fld id="{F7283078-D760-1647-8B80-66BA8B52336D}" type="slidenum">
              <a:rPr lang="sv-SE" smtClean="0"/>
              <a:t>‹#›</a:t>
            </a:fld>
            <a:endParaRPr lang="sv-SE"/>
          </a:p>
        </p:txBody>
      </p:sp>
      <p:sp>
        <p:nvSpPr>
          <p:cNvPr id="9" name="Platshållare för innehåll 2">
            <a:extLst>
              <a:ext uri="{FF2B5EF4-FFF2-40B4-BE49-F238E27FC236}">
                <a16:creationId xmlns:a16="http://schemas.microsoft.com/office/drawing/2014/main" id="{590CF35B-F516-4A5B-A8AB-7A0A283629E9}"/>
              </a:ext>
            </a:extLst>
          </p:cNvPr>
          <p:cNvSpPr>
            <a:spLocks noGrp="1"/>
          </p:cNvSpPr>
          <p:nvPr>
            <p:ph idx="1"/>
          </p:nvPr>
        </p:nvSpPr>
        <p:spPr>
          <a:xfrm>
            <a:off x="1094400" y="1562400"/>
            <a:ext cx="4993785" cy="4768062"/>
          </a:xfrm>
        </p:spPr>
        <p:txBody>
          <a:bodyPr lIns="0" rIns="18000"/>
          <a:lstStyle>
            <a:lvl1pPr>
              <a:lnSpc>
                <a:spcPct val="100000"/>
              </a:lnSpc>
              <a:defRPr/>
            </a:lvl1pPr>
            <a:lvl2pPr marL="360000" indent="-216000">
              <a:lnSpc>
                <a:spcPct val="100000"/>
              </a:lnSpc>
              <a:tabLst/>
              <a:defRPr/>
            </a:lvl2pPr>
            <a:lvl3pPr marL="450000" indent="-198000">
              <a:lnSpc>
                <a:spcPct val="100000"/>
              </a:lnSpc>
              <a:tabLst/>
              <a:defRPr/>
            </a:lvl3pPr>
            <a:lvl4pPr marL="540000" indent="-180000">
              <a:lnSpc>
                <a:spcPct val="100000"/>
              </a:lnSpc>
              <a:tabLst/>
              <a:defRPr/>
            </a:lvl4pPr>
            <a:lvl5pPr marL="630000" indent="-162000">
              <a:lnSpc>
                <a:spcPct val="100000"/>
              </a:lnSpc>
              <a:tabLs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14" name="Platshållare för text 13">
            <a:extLst>
              <a:ext uri="{FF2B5EF4-FFF2-40B4-BE49-F238E27FC236}">
                <a16:creationId xmlns:a16="http://schemas.microsoft.com/office/drawing/2014/main" id="{DD16215C-7D16-4D0F-BA5D-E02EED6FB2D9}"/>
              </a:ext>
            </a:extLst>
          </p:cNvPr>
          <p:cNvSpPr>
            <a:spLocks noGrp="1"/>
          </p:cNvSpPr>
          <p:nvPr>
            <p:ph type="body" sz="quarter" idx="14" hasCustomPrompt="1"/>
          </p:nvPr>
        </p:nvSpPr>
        <p:spPr>
          <a:xfrm>
            <a:off x="1103709" y="931026"/>
            <a:ext cx="9360000" cy="507076"/>
          </a:xfrm>
        </p:spPr>
        <p:txBody>
          <a:bodyPr lIns="90000" tIns="18000">
            <a:noAutofit/>
          </a:bodyPr>
          <a:lstStyle>
            <a:lvl1pPr marL="0" indent="0">
              <a:spcBef>
                <a:spcPts val="0"/>
              </a:spcBef>
              <a:buFontTx/>
              <a:buNone/>
              <a:defRPr sz="2200">
                <a:solidFill>
                  <a:schemeClr val="accent1"/>
                </a:solidFill>
              </a:defRPr>
            </a:lvl1pPr>
            <a:lvl2pPr marL="82550" indent="0">
              <a:buNone/>
              <a:defRPr/>
            </a:lvl2pPr>
          </a:lstStyle>
          <a:p>
            <a:pPr lvl="0"/>
            <a:r>
              <a:rPr lang="sv-SE"/>
              <a:t>Sub-headline</a:t>
            </a:r>
          </a:p>
        </p:txBody>
      </p:sp>
      <p:sp>
        <p:nvSpPr>
          <p:cNvPr id="11" name="Rektangel 10">
            <a:extLst>
              <a:ext uri="{FF2B5EF4-FFF2-40B4-BE49-F238E27FC236}">
                <a16:creationId xmlns:a16="http://schemas.microsoft.com/office/drawing/2014/main" id="{BC4F3A85-66E6-412A-97CD-99D922EFBEE2}"/>
              </a:ext>
            </a:extLst>
          </p:cNvPr>
          <p:cNvSpPr/>
          <p:nvPr userDrawn="1"/>
        </p:nvSpPr>
        <p:spPr>
          <a:xfrm>
            <a:off x="0" y="447675"/>
            <a:ext cx="292101" cy="641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Bildobjekt 12">
            <a:extLst>
              <a:ext uri="{FF2B5EF4-FFF2-40B4-BE49-F238E27FC236}">
                <a16:creationId xmlns:a16="http://schemas.microsoft.com/office/drawing/2014/main" id="{506E76ED-0FF0-4A03-8EB9-06B57B12EC11}"/>
              </a:ext>
            </a:extLst>
          </p:cNvPr>
          <p:cNvPicPr>
            <a:picLocks noChangeAspect="1"/>
          </p:cNvPicPr>
          <p:nvPr userDrawn="1"/>
        </p:nvPicPr>
        <p:blipFill>
          <a:blip r:embed="rId2"/>
          <a:srcRect/>
          <a:stretch/>
        </p:blipFill>
        <p:spPr>
          <a:xfrm>
            <a:off x="10924611" y="417443"/>
            <a:ext cx="826394" cy="800100"/>
          </a:xfrm>
          <a:prstGeom prst="rect">
            <a:avLst/>
          </a:prstGeom>
        </p:spPr>
      </p:pic>
      <p:sp>
        <p:nvSpPr>
          <p:cNvPr id="12" name="Platshållare för datum 3">
            <a:extLst>
              <a:ext uri="{FF2B5EF4-FFF2-40B4-BE49-F238E27FC236}">
                <a16:creationId xmlns:a16="http://schemas.microsoft.com/office/drawing/2014/main" id="{5D496E45-863B-704B-B14F-5E0F58578D86}"/>
              </a:ext>
            </a:extLst>
          </p:cNvPr>
          <p:cNvSpPr>
            <a:spLocks noGrp="1"/>
          </p:cNvSpPr>
          <p:nvPr>
            <p:ph type="dt" sz="half" idx="10"/>
          </p:nvPr>
        </p:nvSpPr>
        <p:spPr>
          <a:xfrm>
            <a:off x="1195647" y="6475270"/>
            <a:ext cx="832658" cy="365125"/>
          </a:xfrm>
        </p:spPr>
        <p:txBody>
          <a:bodyPr/>
          <a:lstStyle/>
          <a:p>
            <a:fld id="{18896B66-0B3A-474C-9C9C-E4F07B1F5DAD}" type="datetime1">
              <a:rPr lang="sv-SE" smtClean="0"/>
              <a:t>2026-08-26</a:t>
            </a:fld>
            <a:endParaRPr lang="sv-SE" dirty="0"/>
          </a:p>
        </p:txBody>
      </p:sp>
    </p:spTree>
    <p:extLst>
      <p:ext uri="{BB962C8B-B14F-4D97-AF65-F5344CB8AC3E}">
        <p14:creationId xmlns:p14="http://schemas.microsoft.com/office/powerpoint/2010/main" val="1066558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Full width">
    <p:spTree>
      <p:nvGrpSpPr>
        <p:cNvPr id="1" name=""/>
        <p:cNvGrpSpPr/>
        <p:nvPr/>
      </p:nvGrpSpPr>
      <p:grpSpPr>
        <a:xfrm>
          <a:off x="0" y="0"/>
          <a:ext cx="0" cy="0"/>
          <a:chOff x="0" y="0"/>
          <a:chExt cx="0" cy="0"/>
        </a:xfrm>
      </p:grpSpPr>
      <p:sp>
        <p:nvSpPr>
          <p:cNvPr id="13" name="Platshållare för bild 12">
            <a:extLst>
              <a:ext uri="{FF2B5EF4-FFF2-40B4-BE49-F238E27FC236}">
                <a16:creationId xmlns:a16="http://schemas.microsoft.com/office/drawing/2014/main" id="{4FD00856-A3E1-48A7-B9CD-D7B89BD6A06C}"/>
              </a:ext>
            </a:extLst>
          </p:cNvPr>
          <p:cNvSpPr>
            <a:spLocks noGrp="1"/>
          </p:cNvSpPr>
          <p:nvPr>
            <p:ph type="pic" sz="quarter" idx="12" hasCustomPrompt="1"/>
          </p:nvPr>
        </p:nvSpPr>
        <p:spPr>
          <a:xfrm>
            <a:off x="0" y="0"/>
            <a:ext cx="12192000" cy="6858000"/>
          </a:xfrm>
          <a:solidFill>
            <a:schemeClr val="bg1">
              <a:lumMod val="85000"/>
            </a:schemeClr>
          </a:solidFill>
        </p:spPr>
        <p:txBody>
          <a:bodyPr>
            <a:normAutofit/>
          </a:bodyPr>
          <a:lstStyle>
            <a:lvl1pPr algn="ctr">
              <a:defRPr sz="800"/>
            </a:lvl1pPr>
          </a:lstStyle>
          <a:p>
            <a:r>
              <a:rPr lang="sv-SE" dirty="0"/>
              <a:t>INSERT IMAGE</a:t>
            </a:r>
          </a:p>
        </p:txBody>
      </p:sp>
      <p:sp>
        <p:nvSpPr>
          <p:cNvPr id="9" name="Platshållare för text 8">
            <a:extLst>
              <a:ext uri="{FF2B5EF4-FFF2-40B4-BE49-F238E27FC236}">
                <a16:creationId xmlns:a16="http://schemas.microsoft.com/office/drawing/2014/main" id="{A8D8C0FE-DA05-418D-9F18-A5A81125AD3F}"/>
              </a:ext>
            </a:extLst>
          </p:cNvPr>
          <p:cNvSpPr>
            <a:spLocks noGrp="1"/>
          </p:cNvSpPr>
          <p:nvPr>
            <p:ph type="body" sz="quarter" idx="11"/>
          </p:nvPr>
        </p:nvSpPr>
        <p:spPr>
          <a:xfrm>
            <a:off x="10924611" y="417443"/>
            <a:ext cx="828000" cy="799200"/>
          </a:xfrm>
          <a:blipFill>
            <a:blip r:embed="rId2"/>
            <a:stretch>
              <a:fillRect/>
            </a:stretch>
          </a:blipFill>
        </p:spPr>
        <p:txBody>
          <a:bodyPr>
            <a:normAutofit/>
          </a:bodyPr>
          <a:lstStyle>
            <a:lvl1pPr marL="0" indent="0">
              <a:buFontTx/>
              <a:buNone/>
              <a:defRPr sz="100">
                <a:noFill/>
              </a:defRPr>
            </a:lvl1pPr>
          </a:lstStyle>
          <a:p>
            <a:pPr lvl="0"/>
            <a:r>
              <a:rPr lang="en-GB"/>
              <a:t>Click to edit Master text styles</a:t>
            </a:r>
          </a:p>
        </p:txBody>
      </p:sp>
      <p:sp>
        <p:nvSpPr>
          <p:cNvPr id="7" name="Platshållare för text 6">
            <a:extLst>
              <a:ext uri="{FF2B5EF4-FFF2-40B4-BE49-F238E27FC236}">
                <a16:creationId xmlns:a16="http://schemas.microsoft.com/office/drawing/2014/main" id="{1848DA8D-03CE-4CA5-A851-F6ABAE67A9B0}"/>
              </a:ext>
            </a:extLst>
          </p:cNvPr>
          <p:cNvSpPr>
            <a:spLocks noGrp="1"/>
          </p:cNvSpPr>
          <p:nvPr>
            <p:ph type="body" sz="quarter" idx="10"/>
          </p:nvPr>
        </p:nvSpPr>
        <p:spPr>
          <a:xfrm>
            <a:off x="0" y="447675"/>
            <a:ext cx="292100" cy="6410325"/>
          </a:xfrm>
          <a:solidFill>
            <a:schemeClr val="bg1"/>
          </a:solidFill>
        </p:spPr>
        <p:txBody>
          <a:bodyPr>
            <a:normAutofit/>
          </a:bodyPr>
          <a:lstStyle>
            <a:lvl1pPr marL="0" indent="0">
              <a:buFontTx/>
              <a:buNone/>
              <a:defRPr sz="100">
                <a:noFill/>
              </a:defRPr>
            </a:lvl1pPr>
          </a:lstStyle>
          <a:p>
            <a:pPr lvl="0"/>
            <a:r>
              <a:rPr lang="en-GB"/>
              <a:t>Click to edit Master text styles</a:t>
            </a:r>
          </a:p>
        </p:txBody>
      </p:sp>
      <p:sp>
        <p:nvSpPr>
          <p:cNvPr id="5" name="Rubrik 1">
            <a:extLst>
              <a:ext uri="{FF2B5EF4-FFF2-40B4-BE49-F238E27FC236}">
                <a16:creationId xmlns:a16="http://schemas.microsoft.com/office/drawing/2014/main" id="{8F5BB748-C0D0-CB4F-BA93-7488E4BA7050}"/>
              </a:ext>
            </a:extLst>
          </p:cNvPr>
          <p:cNvSpPr>
            <a:spLocks noGrp="1"/>
          </p:cNvSpPr>
          <p:nvPr>
            <p:ph type="title" hasCustomPrompt="1"/>
          </p:nvPr>
        </p:nvSpPr>
        <p:spPr>
          <a:xfrm>
            <a:off x="1103709" y="265373"/>
            <a:ext cx="9360000" cy="657339"/>
          </a:xfrm>
        </p:spPr>
        <p:txBody>
          <a:bodyPr lIns="90000" bIns="18000"/>
          <a:lstStyle>
            <a:lvl1pPr>
              <a:defRPr>
                <a:solidFill>
                  <a:schemeClr val="bg1"/>
                </a:solidFill>
              </a:defRPr>
            </a:lvl1pPr>
          </a:lstStyle>
          <a:p>
            <a:r>
              <a:rPr lang="sv-SE" dirty="0"/>
              <a:t>Image </a:t>
            </a:r>
            <a:r>
              <a:rPr lang="sv-SE" dirty="0" err="1"/>
              <a:t>title</a:t>
            </a:r>
            <a:endParaRPr lang="sv-SE" dirty="0"/>
          </a:p>
        </p:txBody>
      </p:sp>
    </p:spTree>
    <p:extLst>
      <p:ext uri="{BB962C8B-B14F-4D97-AF65-F5344CB8AC3E}">
        <p14:creationId xmlns:p14="http://schemas.microsoft.com/office/powerpoint/2010/main" val="532865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4C1ADE6-C058-9C40-B135-034EB97B437C}"/>
              </a:ext>
            </a:extLst>
          </p:cNvPr>
          <p:cNvSpPr>
            <a:spLocks noGrp="1"/>
          </p:cNvSpPr>
          <p:nvPr>
            <p:ph type="title" hasCustomPrompt="1"/>
          </p:nvPr>
        </p:nvSpPr>
        <p:spPr>
          <a:xfrm>
            <a:off x="1103709" y="265373"/>
            <a:ext cx="9360000" cy="657339"/>
          </a:xfrm>
        </p:spPr>
        <p:txBody>
          <a:bodyPr lIns="90000" bIns="18000"/>
          <a:lstStyle>
            <a:lvl1pPr>
              <a:defRPr/>
            </a:lvl1pPr>
          </a:lstStyle>
          <a:p>
            <a:r>
              <a:rPr lang="sv-SE"/>
              <a:t>Headline</a:t>
            </a:r>
          </a:p>
        </p:txBody>
      </p:sp>
      <p:sp>
        <p:nvSpPr>
          <p:cNvPr id="4" name="Platshållare för datum 3">
            <a:extLst>
              <a:ext uri="{FF2B5EF4-FFF2-40B4-BE49-F238E27FC236}">
                <a16:creationId xmlns:a16="http://schemas.microsoft.com/office/drawing/2014/main" id="{996A591D-7BEE-2A48-BD08-DCDF3D90DE3E}"/>
              </a:ext>
            </a:extLst>
          </p:cNvPr>
          <p:cNvSpPr>
            <a:spLocks noGrp="1"/>
          </p:cNvSpPr>
          <p:nvPr>
            <p:ph type="dt" sz="half" idx="10"/>
          </p:nvPr>
        </p:nvSpPr>
        <p:spPr>
          <a:xfrm>
            <a:off x="1195647" y="6475270"/>
            <a:ext cx="832658" cy="365125"/>
          </a:xfrm>
        </p:spPr>
        <p:txBody>
          <a:bodyPr/>
          <a:lstStyle/>
          <a:p>
            <a:fld id="{18896B66-0B3A-474C-9C9C-E4F07B1F5DAD}" type="datetime1">
              <a:rPr lang="sv-SE" smtClean="0"/>
              <a:t>2026-08-26</a:t>
            </a:fld>
            <a:endParaRPr lang="sv-SE" dirty="0"/>
          </a:p>
        </p:txBody>
      </p:sp>
      <p:sp>
        <p:nvSpPr>
          <p:cNvPr id="5" name="Platshållare för sidfot 4">
            <a:extLst>
              <a:ext uri="{FF2B5EF4-FFF2-40B4-BE49-F238E27FC236}">
                <a16:creationId xmlns:a16="http://schemas.microsoft.com/office/drawing/2014/main" id="{3A0D4D5C-5B1B-1441-A13B-8613512E59E2}"/>
              </a:ext>
            </a:extLst>
          </p:cNvPr>
          <p:cNvSpPr>
            <a:spLocks noGrp="1"/>
          </p:cNvSpPr>
          <p:nvPr>
            <p:ph type="ftr" sz="quarter" idx="11"/>
          </p:nvPr>
        </p:nvSpPr>
        <p:spPr>
          <a:xfrm>
            <a:off x="2053244" y="6475270"/>
            <a:ext cx="4320448" cy="365125"/>
          </a:xfrm>
        </p:spPr>
        <p:txBody>
          <a:bodyPr/>
          <a:lstStyle/>
          <a:p>
            <a:r>
              <a:rPr lang="sv-SE"/>
              <a:t>PRESENTATION TITLE / FOOTER</a:t>
            </a:r>
          </a:p>
        </p:txBody>
      </p:sp>
      <p:sp>
        <p:nvSpPr>
          <p:cNvPr id="6" name="Platshållare för bildnummer 5">
            <a:extLst>
              <a:ext uri="{FF2B5EF4-FFF2-40B4-BE49-F238E27FC236}">
                <a16:creationId xmlns:a16="http://schemas.microsoft.com/office/drawing/2014/main" id="{184FAE50-4669-D540-A55E-354FF0C59458}"/>
              </a:ext>
            </a:extLst>
          </p:cNvPr>
          <p:cNvSpPr>
            <a:spLocks noGrp="1"/>
          </p:cNvSpPr>
          <p:nvPr>
            <p:ph type="sldNum" sz="quarter" idx="12"/>
          </p:nvPr>
        </p:nvSpPr>
        <p:spPr>
          <a:xfrm>
            <a:off x="8735292" y="6475270"/>
            <a:ext cx="2743200" cy="365125"/>
          </a:xfrm>
        </p:spPr>
        <p:txBody>
          <a:bodyPr/>
          <a:lstStyle/>
          <a:p>
            <a:fld id="{F7283078-D760-1647-8B80-66BA8B52336D}" type="slidenum">
              <a:rPr lang="sv-SE" smtClean="0"/>
              <a:t>‹#›</a:t>
            </a:fld>
            <a:endParaRPr lang="sv-SE"/>
          </a:p>
        </p:txBody>
      </p:sp>
      <p:sp>
        <p:nvSpPr>
          <p:cNvPr id="14" name="Platshållare för text 13">
            <a:extLst>
              <a:ext uri="{FF2B5EF4-FFF2-40B4-BE49-F238E27FC236}">
                <a16:creationId xmlns:a16="http://schemas.microsoft.com/office/drawing/2014/main" id="{DD16215C-7D16-4D0F-BA5D-E02EED6FB2D9}"/>
              </a:ext>
            </a:extLst>
          </p:cNvPr>
          <p:cNvSpPr>
            <a:spLocks noGrp="1"/>
          </p:cNvSpPr>
          <p:nvPr>
            <p:ph type="body" sz="quarter" idx="14" hasCustomPrompt="1"/>
          </p:nvPr>
        </p:nvSpPr>
        <p:spPr>
          <a:xfrm>
            <a:off x="1103709" y="931026"/>
            <a:ext cx="9360000" cy="507076"/>
          </a:xfrm>
        </p:spPr>
        <p:txBody>
          <a:bodyPr lIns="90000" tIns="18000">
            <a:noAutofit/>
          </a:bodyPr>
          <a:lstStyle>
            <a:lvl1pPr marL="0" indent="0">
              <a:spcBef>
                <a:spcPts val="0"/>
              </a:spcBef>
              <a:buFontTx/>
              <a:buNone/>
              <a:defRPr sz="2200">
                <a:solidFill>
                  <a:schemeClr val="accent1"/>
                </a:solidFill>
              </a:defRPr>
            </a:lvl1pPr>
            <a:lvl2pPr marL="82550" indent="0">
              <a:buNone/>
              <a:defRPr/>
            </a:lvl2pPr>
          </a:lstStyle>
          <a:p>
            <a:pPr lvl="0"/>
            <a:r>
              <a:rPr lang="sv-SE"/>
              <a:t>Sub-headline</a:t>
            </a:r>
          </a:p>
        </p:txBody>
      </p:sp>
      <p:sp>
        <p:nvSpPr>
          <p:cNvPr id="10" name="Rektangel 9">
            <a:extLst>
              <a:ext uri="{FF2B5EF4-FFF2-40B4-BE49-F238E27FC236}">
                <a16:creationId xmlns:a16="http://schemas.microsoft.com/office/drawing/2014/main" id="{A5E954D6-E4D2-47AD-A504-7408EC606D35}"/>
              </a:ext>
            </a:extLst>
          </p:cNvPr>
          <p:cNvSpPr/>
          <p:nvPr userDrawn="1"/>
        </p:nvSpPr>
        <p:spPr>
          <a:xfrm>
            <a:off x="0" y="447675"/>
            <a:ext cx="292101" cy="641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Bildobjekt 10">
            <a:extLst>
              <a:ext uri="{FF2B5EF4-FFF2-40B4-BE49-F238E27FC236}">
                <a16:creationId xmlns:a16="http://schemas.microsoft.com/office/drawing/2014/main" id="{6DD4ACE8-21C9-474B-A84B-6E399CB9FBD5}"/>
              </a:ext>
            </a:extLst>
          </p:cNvPr>
          <p:cNvPicPr>
            <a:picLocks noChangeAspect="1"/>
          </p:cNvPicPr>
          <p:nvPr userDrawn="1"/>
        </p:nvPicPr>
        <p:blipFill>
          <a:blip r:embed="rId2"/>
          <a:srcRect/>
          <a:stretch/>
        </p:blipFill>
        <p:spPr>
          <a:xfrm>
            <a:off x="10924611" y="417443"/>
            <a:ext cx="826394" cy="800100"/>
          </a:xfrm>
          <a:prstGeom prst="rect">
            <a:avLst/>
          </a:prstGeom>
        </p:spPr>
      </p:pic>
      <p:sp>
        <p:nvSpPr>
          <p:cNvPr id="7" name="Platshållare för diagram 6">
            <a:extLst>
              <a:ext uri="{FF2B5EF4-FFF2-40B4-BE49-F238E27FC236}">
                <a16:creationId xmlns:a16="http://schemas.microsoft.com/office/drawing/2014/main" id="{FA784AEE-BB11-4271-AB33-DE0774105604}"/>
              </a:ext>
            </a:extLst>
          </p:cNvPr>
          <p:cNvSpPr>
            <a:spLocks noGrp="1"/>
          </p:cNvSpPr>
          <p:nvPr>
            <p:ph type="chart" sz="quarter" idx="15"/>
          </p:nvPr>
        </p:nvSpPr>
        <p:spPr>
          <a:xfrm>
            <a:off x="1103313" y="1657350"/>
            <a:ext cx="7767637" cy="4445000"/>
          </a:xfrm>
        </p:spPr>
        <p:txBody>
          <a:bodyPr/>
          <a:lstStyle>
            <a:lvl1pPr algn="ctr">
              <a:defRPr sz="800" cap="all" baseline="0"/>
            </a:lvl1pPr>
          </a:lstStyle>
          <a:p>
            <a:r>
              <a:rPr lang="en-GB"/>
              <a:t>Click icon to add chart</a:t>
            </a:r>
            <a:endParaRPr lang="sv-SE"/>
          </a:p>
        </p:txBody>
      </p:sp>
    </p:spTree>
    <p:extLst>
      <p:ext uri="{BB962C8B-B14F-4D97-AF65-F5344CB8AC3E}">
        <p14:creationId xmlns:p14="http://schemas.microsoft.com/office/powerpoint/2010/main" val="1317552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4C1ADE6-C058-9C40-B135-034EB97B437C}"/>
              </a:ext>
            </a:extLst>
          </p:cNvPr>
          <p:cNvSpPr>
            <a:spLocks noGrp="1"/>
          </p:cNvSpPr>
          <p:nvPr>
            <p:ph type="title" hasCustomPrompt="1"/>
          </p:nvPr>
        </p:nvSpPr>
        <p:spPr>
          <a:xfrm>
            <a:off x="1103709" y="265373"/>
            <a:ext cx="9360000" cy="657339"/>
          </a:xfrm>
        </p:spPr>
        <p:txBody>
          <a:bodyPr lIns="90000" bIns="18000"/>
          <a:lstStyle>
            <a:lvl1pPr>
              <a:defRPr/>
            </a:lvl1pPr>
          </a:lstStyle>
          <a:p>
            <a:r>
              <a:rPr lang="sv-SE"/>
              <a:t>Headline</a:t>
            </a:r>
          </a:p>
        </p:txBody>
      </p:sp>
      <p:sp>
        <p:nvSpPr>
          <p:cNvPr id="5" name="Platshållare för sidfot 4">
            <a:extLst>
              <a:ext uri="{FF2B5EF4-FFF2-40B4-BE49-F238E27FC236}">
                <a16:creationId xmlns:a16="http://schemas.microsoft.com/office/drawing/2014/main" id="{3A0D4D5C-5B1B-1441-A13B-8613512E59E2}"/>
              </a:ext>
            </a:extLst>
          </p:cNvPr>
          <p:cNvSpPr>
            <a:spLocks noGrp="1"/>
          </p:cNvSpPr>
          <p:nvPr>
            <p:ph type="ftr" sz="quarter" idx="11"/>
          </p:nvPr>
        </p:nvSpPr>
        <p:spPr>
          <a:xfrm>
            <a:off x="2053244" y="6475270"/>
            <a:ext cx="4320448" cy="365125"/>
          </a:xfrm>
        </p:spPr>
        <p:txBody>
          <a:bodyPr/>
          <a:lstStyle/>
          <a:p>
            <a:r>
              <a:rPr lang="sv-SE" dirty="0"/>
              <a:t>PRESENTATION TITLE/FOOTER</a:t>
            </a:r>
          </a:p>
        </p:txBody>
      </p:sp>
      <p:sp>
        <p:nvSpPr>
          <p:cNvPr id="6" name="Platshållare för bildnummer 5">
            <a:extLst>
              <a:ext uri="{FF2B5EF4-FFF2-40B4-BE49-F238E27FC236}">
                <a16:creationId xmlns:a16="http://schemas.microsoft.com/office/drawing/2014/main" id="{184FAE50-4669-D540-A55E-354FF0C59458}"/>
              </a:ext>
            </a:extLst>
          </p:cNvPr>
          <p:cNvSpPr>
            <a:spLocks noGrp="1"/>
          </p:cNvSpPr>
          <p:nvPr>
            <p:ph type="sldNum" sz="quarter" idx="12"/>
          </p:nvPr>
        </p:nvSpPr>
        <p:spPr>
          <a:xfrm>
            <a:off x="8735292" y="6475270"/>
            <a:ext cx="2743200" cy="365125"/>
          </a:xfrm>
        </p:spPr>
        <p:txBody>
          <a:bodyPr/>
          <a:lstStyle/>
          <a:p>
            <a:fld id="{F7283078-D760-1647-8B80-66BA8B52336D}" type="slidenum">
              <a:rPr lang="sv-SE" smtClean="0"/>
              <a:t>‹#›</a:t>
            </a:fld>
            <a:endParaRPr lang="sv-SE"/>
          </a:p>
        </p:txBody>
      </p:sp>
      <p:sp>
        <p:nvSpPr>
          <p:cNvPr id="14" name="Platshållare för text 13">
            <a:extLst>
              <a:ext uri="{FF2B5EF4-FFF2-40B4-BE49-F238E27FC236}">
                <a16:creationId xmlns:a16="http://schemas.microsoft.com/office/drawing/2014/main" id="{DD16215C-7D16-4D0F-BA5D-E02EED6FB2D9}"/>
              </a:ext>
            </a:extLst>
          </p:cNvPr>
          <p:cNvSpPr>
            <a:spLocks noGrp="1"/>
          </p:cNvSpPr>
          <p:nvPr>
            <p:ph type="body" sz="quarter" idx="14" hasCustomPrompt="1"/>
          </p:nvPr>
        </p:nvSpPr>
        <p:spPr>
          <a:xfrm>
            <a:off x="1103709" y="931026"/>
            <a:ext cx="9360000" cy="507076"/>
          </a:xfrm>
        </p:spPr>
        <p:txBody>
          <a:bodyPr lIns="90000" tIns="18000">
            <a:noAutofit/>
          </a:bodyPr>
          <a:lstStyle>
            <a:lvl1pPr marL="0" indent="0">
              <a:spcBef>
                <a:spcPts val="0"/>
              </a:spcBef>
              <a:buFontTx/>
              <a:buNone/>
              <a:defRPr sz="2200">
                <a:solidFill>
                  <a:schemeClr val="accent1"/>
                </a:solidFill>
              </a:defRPr>
            </a:lvl1pPr>
            <a:lvl2pPr marL="82550" indent="0">
              <a:buNone/>
              <a:defRPr/>
            </a:lvl2pPr>
          </a:lstStyle>
          <a:p>
            <a:pPr lvl="0"/>
            <a:r>
              <a:rPr lang="sv-SE"/>
              <a:t>Sub-headline</a:t>
            </a:r>
          </a:p>
        </p:txBody>
      </p:sp>
      <p:sp>
        <p:nvSpPr>
          <p:cNvPr id="10" name="Rektangel 9">
            <a:extLst>
              <a:ext uri="{FF2B5EF4-FFF2-40B4-BE49-F238E27FC236}">
                <a16:creationId xmlns:a16="http://schemas.microsoft.com/office/drawing/2014/main" id="{A5E954D6-E4D2-47AD-A504-7408EC606D35}"/>
              </a:ext>
            </a:extLst>
          </p:cNvPr>
          <p:cNvSpPr/>
          <p:nvPr userDrawn="1"/>
        </p:nvSpPr>
        <p:spPr>
          <a:xfrm>
            <a:off x="0" y="447675"/>
            <a:ext cx="292101" cy="641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Bildobjekt 10">
            <a:extLst>
              <a:ext uri="{FF2B5EF4-FFF2-40B4-BE49-F238E27FC236}">
                <a16:creationId xmlns:a16="http://schemas.microsoft.com/office/drawing/2014/main" id="{6DD4ACE8-21C9-474B-A84B-6E399CB9FBD5}"/>
              </a:ext>
            </a:extLst>
          </p:cNvPr>
          <p:cNvPicPr>
            <a:picLocks noChangeAspect="1"/>
          </p:cNvPicPr>
          <p:nvPr userDrawn="1"/>
        </p:nvPicPr>
        <p:blipFill>
          <a:blip r:embed="rId2"/>
          <a:srcRect/>
          <a:stretch/>
        </p:blipFill>
        <p:spPr>
          <a:xfrm>
            <a:off x="10924611" y="417443"/>
            <a:ext cx="826394" cy="800100"/>
          </a:xfrm>
          <a:prstGeom prst="rect">
            <a:avLst/>
          </a:prstGeom>
        </p:spPr>
      </p:pic>
      <p:sp>
        <p:nvSpPr>
          <p:cNvPr id="8" name="Platshållare för tabell 7">
            <a:extLst>
              <a:ext uri="{FF2B5EF4-FFF2-40B4-BE49-F238E27FC236}">
                <a16:creationId xmlns:a16="http://schemas.microsoft.com/office/drawing/2014/main" id="{489D1BD7-202A-4115-BE6C-1B053CFFDE1E}"/>
              </a:ext>
            </a:extLst>
          </p:cNvPr>
          <p:cNvSpPr>
            <a:spLocks noGrp="1"/>
          </p:cNvSpPr>
          <p:nvPr>
            <p:ph type="tbl" sz="quarter" idx="15"/>
          </p:nvPr>
        </p:nvSpPr>
        <p:spPr>
          <a:xfrm>
            <a:off x="1103313" y="1614488"/>
            <a:ext cx="9359900" cy="4406900"/>
          </a:xfrm>
        </p:spPr>
        <p:txBody>
          <a:bodyPr/>
          <a:lstStyle>
            <a:lvl1pPr algn="ctr">
              <a:defRPr sz="800" cap="all" baseline="0"/>
            </a:lvl1pPr>
          </a:lstStyle>
          <a:p>
            <a:r>
              <a:rPr lang="en-GB"/>
              <a:t>Click icon to add table</a:t>
            </a:r>
            <a:endParaRPr lang="sv-SE"/>
          </a:p>
        </p:txBody>
      </p:sp>
      <p:sp>
        <p:nvSpPr>
          <p:cNvPr id="12" name="Platshållare för datum 3">
            <a:extLst>
              <a:ext uri="{FF2B5EF4-FFF2-40B4-BE49-F238E27FC236}">
                <a16:creationId xmlns:a16="http://schemas.microsoft.com/office/drawing/2014/main" id="{EF177138-95E5-674B-B010-143A8CD1453A}"/>
              </a:ext>
            </a:extLst>
          </p:cNvPr>
          <p:cNvSpPr>
            <a:spLocks noGrp="1"/>
          </p:cNvSpPr>
          <p:nvPr>
            <p:ph type="dt" sz="half" idx="10"/>
          </p:nvPr>
        </p:nvSpPr>
        <p:spPr>
          <a:xfrm>
            <a:off x="1195647" y="6475270"/>
            <a:ext cx="832658" cy="365125"/>
          </a:xfrm>
        </p:spPr>
        <p:txBody>
          <a:bodyPr/>
          <a:lstStyle/>
          <a:p>
            <a:fld id="{18896B66-0B3A-474C-9C9C-E4F07B1F5DAD}" type="datetime1">
              <a:rPr lang="sv-SE" smtClean="0"/>
              <a:t>2026-08-26</a:t>
            </a:fld>
            <a:endParaRPr lang="sv-SE" dirty="0"/>
          </a:p>
        </p:txBody>
      </p:sp>
    </p:spTree>
    <p:extLst>
      <p:ext uri="{BB962C8B-B14F-4D97-AF65-F5344CB8AC3E}">
        <p14:creationId xmlns:p14="http://schemas.microsoft.com/office/powerpoint/2010/main" val="4225189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BE7B1DDB-F4AA-4E8D-BD07-905FE45A5555}"/>
              </a:ext>
            </a:extLst>
          </p:cNvPr>
          <p:cNvSpPr/>
          <p:nvPr userDrawn="1"/>
        </p:nvSpPr>
        <p:spPr>
          <a:xfrm>
            <a:off x="0" y="388593"/>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Rubrik 1">
            <a:extLst>
              <a:ext uri="{FF2B5EF4-FFF2-40B4-BE49-F238E27FC236}">
                <a16:creationId xmlns:a16="http://schemas.microsoft.com/office/drawing/2014/main" id="{34780BC8-191C-6D4B-93F3-54A06FD4FE76}"/>
              </a:ext>
            </a:extLst>
          </p:cNvPr>
          <p:cNvSpPr>
            <a:spLocks noGrp="1"/>
          </p:cNvSpPr>
          <p:nvPr>
            <p:ph type="ctrTitle"/>
          </p:nvPr>
        </p:nvSpPr>
        <p:spPr>
          <a:xfrm>
            <a:off x="1930395" y="1153621"/>
            <a:ext cx="8640000" cy="2387600"/>
          </a:xfrm>
        </p:spPr>
        <p:txBody>
          <a:bodyPr anchor="b">
            <a:noAutofit/>
          </a:bodyPr>
          <a:lstStyle>
            <a:lvl1pPr algn="l">
              <a:lnSpc>
                <a:spcPct val="100000"/>
              </a:lnSpc>
              <a:defRPr sz="4200">
                <a:solidFill>
                  <a:schemeClr val="bg1"/>
                </a:solidFill>
                <a:latin typeface="Segoe UI Semibold" panose="020B0702040204020203" pitchFamily="34" charset="0"/>
                <a:cs typeface="Segoe UI Semibold" panose="020B0702040204020203" pitchFamily="34" charset="0"/>
              </a:defRPr>
            </a:lvl1pPr>
          </a:lstStyle>
          <a:p>
            <a:r>
              <a:rPr lang="en-GB"/>
              <a:t>Click to edit Master title style</a:t>
            </a:r>
            <a:endParaRPr lang="sv-SE" dirty="0"/>
          </a:p>
        </p:txBody>
      </p:sp>
      <p:sp>
        <p:nvSpPr>
          <p:cNvPr id="8" name="Rektangel 7">
            <a:extLst>
              <a:ext uri="{FF2B5EF4-FFF2-40B4-BE49-F238E27FC236}">
                <a16:creationId xmlns:a16="http://schemas.microsoft.com/office/drawing/2014/main" id="{EC66F586-F662-4573-A59B-7D4EDD05A153}"/>
              </a:ext>
            </a:extLst>
          </p:cNvPr>
          <p:cNvSpPr/>
          <p:nvPr userDrawn="1"/>
        </p:nvSpPr>
        <p:spPr>
          <a:xfrm>
            <a:off x="-2" y="447675"/>
            <a:ext cx="292101" cy="6410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Bildobjekt 8">
            <a:extLst>
              <a:ext uri="{FF2B5EF4-FFF2-40B4-BE49-F238E27FC236}">
                <a16:creationId xmlns:a16="http://schemas.microsoft.com/office/drawing/2014/main" id="{3193CED5-E020-4279-918D-055F43A9188C}"/>
              </a:ext>
            </a:extLst>
          </p:cNvPr>
          <p:cNvPicPr>
            <a:picLocks noChangeAspect="1"/>
          </p:cNvPicPr>
          <p:nvPr userDrawn="1"/>
        </p:nvPicPr>
        <p:blipFill>
          <a:blip r:embed="rId2"/>
          <a:stretch>
            <a:fillRect/>
          </a:stretch>
        </p:blipFill>
        <p:spPr>
          <a:xfrm>
            <a:off x="10924611" y="417443"/>
            <a:ext cx="826395" cy="800100"/>
          </a:xfrm>
          <a:prstGeom prst="rect">
            <a:avLst/>
          </a:prstGeom>
        </p:spPr>
      </p:pic>
    </p:spTree>
    <p:extLst>
      <p:ext uri="{BB962C8B-B14F-4D97-AF65-F5344CB8AC3E}">
        <p14:creationId xmlns:p14="http://schemas.microsoft.com/office/powerpoint/2010/main" val="394979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81532B06-EA3A-AA45-A1FA-C8E1873FD090}"/>
              </a:ext>
            </a:extLst>
          </p:cNvPr>
          <p:cNvSpPr>
            <a:spLocks noGrp="1"/>
          </p:cNvSpPr>
          <p:nvPr>
            <p:ph type="title"/>
          </p:nvPr>
        </p:nvSpPr>
        <p:spPr>
          <a:xfrm>
            <a:off x="1103709" y="281999"/>
            <a:ext cx="9478393" cy="657340"/>
          </a:xfrm>
          <a:prstGeom prst="rect">
            <a:avLst/>
          </a:prstGeom>
        </p:spPr>
        <p:txBody>
          <a:bodyPr vert="horz" lIns="90000" tIns="45720" rIns="91440" bIns="45720" rtlCol="0" anchor="t" anchorCtr="0">
            <a:noAutofit/>
          </a:bodyPr>
          <a:lstStyle/>
          <a:p>
            <a:r>
              <a:rPr lang="sv-SE"/>
              <a:t>Klicka här för att ändra mall för rubrikformat</a:t>
            </a:r>
          </a:p>
        </p:txBody>
      </p:sp>
      <p:sp>
        <p:nvSpPr>
          <p:cNvPr id="4" name="Platshållare för datum 3">
            <a:extLst>
              <a:ext uri="{FF2B5EF4-FFF2-40B4-BE49-F238E27FC236}">
                <a16:creationId xmlns:a16="http://schemas.microsoft.com/office/drawing/2014/main" id="{66E4D6F2-5CFB-9D4E-AED8-120937FE2576}"/>
              </a:ext>
            </a:extLst>
          </p:cNvPr>
          <p:cNvSpPr>
            <a:spLocks noGrp="1"/>
          </p:cNvSpPr>
          <p:nvPr>
            <p:ph type="dt" sz="half" idx="2"/>
          </p:nvPr>
        </p:nvSpPr>
        <p:spPr>
          <a:xfrm>
            <a:off x="1195647" y="6483583"/>
            <a:ext cx="832658" cy="365125"/>
          </a:xfrm>
          <a:prstGeom prst="rect">
            <a:avLst/>
          </a:prstGeom>
        </p:spPr>
        <p:txBody>
          <a:bodyPr vert="horz" lIns="91440" tIns="45720" rIns="91440" bIns="45720" rtlCol="0" anchor="ctr"/>
          <a:lstStyle>
            <a:lvl1pPr algn="l">
              <a:defRPr sz="800" spc="80" baseline="0">
                <a:solidFill>
                  <a:srgbClr val="CCCCCC"/>
                </a:solidFill>
              </a:defRPr>
            </a:lvl1pPr>
          </a:lstStyle>
          <a:p>
            <a:fld id="{926FFDD8-E9D5-414B-9D01-E73C6B8A8FCA}" type="datetime1">
              <a:rPr lang="sv-SE" smtClean="0"/>
              <a:t>2026-08-26</a:t>
            </a:fld>
            <a:endParaRPr lang="sv-SE"/>
          </a:p>
        </p:txBody>
      </p:sp>
      <p:sp>
        <p:nvSpPr>
          <p:cNvPr id="5" name="Platshållare för sidfot 4">
            <a:extLst>
              <a:ext uri="{FF2B5EF4-FFF2-40B4-BE49-F238E27FC236}">
                <a16:creationId xmlns:a16="http://schemas.microsoft.com/office/drawing/2014/main" id="{515FD9D7-4C35-3343-B008-A413FF500A93}"/>
              </a:ext>
            </a:extLst>
          </p:cNvPr>
          <p:cNvSpPr>
            <a:spLocks noGrp="1"/>
          </p:cNvSpPr>
          <p:nvPr>
            <p:ph type="ftr" sz="quarter" idx="3"/>
          </p:nvPr>
        </p:nvSpPr>
        <p:spPr>
          <a:xfrm>
            <a:off x="2053244" y="6483583"/>
            <a:ext cx="4114800" cy="365125"/>
          </a:xfrm>
          <a:prstGeom prst="rect">
            <a:avLst/>
          </a:prstGeom>
        </p:spPr>
        <p:txBody>
          <a:bodyPr vert="horz" lIns="91440" tIns="45720" rIns="91440" bIns="45720" rtlCol="0" anchor="ctr"/>
          <a:lstStyle>
            <a:lvl1pPr algn="l">
              <a:defRPr sz="800" cap="all" spc="80" baseline="0">
                <a:solidFill>
                  <a:srgbClr val="CCCCCC"/>
                </a:solidFill>
              </a:defRPr>
            </a:lvl1pPr>
          </a:lstStyle>
          <a:p>
            <a:r>
              <a:rPr lang="sv-SE"/>
              <a:t>PRESENTATION TITLE / FOOTER</a:t>
            </a:r>
          </a:p>
        </p:txBody>
      </p:sp>
      <p:sp>
        <p:nvSpPr>
          <p:cNvPr id="6" name="Platshållare för bildnummer 5">
            <a:extLst>
              <a:ext uri="{FF2B5EF4-FFF2-40B4-BE49-F238E27FC236}">
                <a16:creationId xmlns:a16="http://schemas.microsoft.com/office/drawing/2014/main" id="{AF6B396D-270A-E047-8DAD-6D51B53CAD64}"/>
              </a:ext>
            </a:extLst>
          </p:cNvPr>
          <p:cNvSpPr>
            <a:spLocks noGrp="1"/>
          </p:cNvSpPr>
          <p:nvPr>
            <p:ph type="sldNum" sz="quarter" idx="4"/>
          </p:nvPr>
        </p:nvSpPr>
        <p:spPr>
          <a:xfrm>
            <a:off x="8735292" y="6483583"/>
            <a:ext cx="2743200" cy="365125"/>
          </a:xfrm>
          <a:prstGeom prst="rect">
            <a:avLst/>
          </a:prstGeom>
        </p:spPr>
        <p:txBody>
          <a:bodyPr vert="horz" lIns="91440" tIns="45720" rIns="91440" bIns="45720" rtlCol="0" anchor="ctr"/>
          <a:lstStyle>
            <a:lvl1pPr algn="r">
              <a:defRPr sz="800" b="1">
                <a:solidFill>
                  <a:schemeClr val="accent1"/>
                </a:solidFill>
              </a:defRPr>
            </a:lvl1pPr>
          </a:lstStyle>
          <a:p>
            <a:fld id="{F7283078-D760-1647-8B80-66BA8B52336D}" type="slidenum">
              <a:rPr lang="sv-SE" smtClean="0"/>
              <a:pPr/>
              <a:t>‹#›</a:t>
            </a:fld>
            <a:endParaRPr lang="sv-SE"/>
          </a:p>
        </p:txBody>
      </p:sp>
      <p:sp>
        <p:nvSpPr>
          <p:cNvPr id="11" name="Platshållare för text 2">
            <a:extLst>
              <a:ext uri="{FF2B5EF4-FFF2-40B4-BE49-F238E27FC236}">
                <a16:creationId xmlns:a16="http://schemas.microsoft.com/office/drawing/2014/main" id="{CD0A89FF-22DC-4B6A-B9ED-60B2F32ED89E}"/>
              </a:ext>
            </a:extLst>
          </p:cNvPr>
          <p:cNvSpPr>
            <a:spLocks noGrp="1"/>
          </p:cNvSpPr>
          <p:nvPr>
            <p:ph type="body" idx="1"/>
          </p:nvPr>
        </p:nvSpPr>
        <p:spPr>
          <a:xfrm>
            <a:off x="1095894" y="1561865"/>
            <a:ext cx="9561022" cy="4565397"/>
          </a:xfrm>
          <a:prstGeom prst="rect">
            <a:avLst/>
          </a:prstGeom>
        </p:spPr>
        <p:txBody>
          <a:bodyPr vert="horz" lIns="0" tIns="45720" rIns="91440" bIns="4572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Tree>
    <p:extLst>
      <p:ext uri="{BB962C8B-B14F-4D97-AF65-F5344CB8AC3E}">
        <p14:creationId xmlns:p14="http://schemas.microsoft.com/office/powerpoint/2010/main" val="825848757"/>
      </p:ext>
    </p:extLst>
  </p:cSld>
  <p:clrMap bg1="lt1" tx1="dk1" bg2="lt2" tx2="dk2" accent1="accent1" accent2="accent2" accent3="accent3" accent4="accent4" accent5="accent5" accent6="accent6" hlink="hlink" folHlink="folHlink"/>
  <p:sldLayoutIdLst>
    <p:sldLayoutId id="2147483655" r:id="rId1"/>
    <p:sldLayoutId id="2147483649" r:id="rId2"/>
    <p:sldLayoutId id="2147483665" r:id="rId3"/>
    <p:sldLayoutId id="2147483667" r:id="rId4"/>
    <p:sldLayoutId id="2147483669" r:id="rId5"/>
    <p:sldLayoutId id="2147483650" r:id="rId6"/>
    <p:sldLayoutId id="2147483668" r:id="rId7"/>
    <p:sldLayoutId id="2147483662" r:id="rId8"/>
    <p:sldLayoutId id="2147483664" r:id="rId9"/>
    <p:sldLayoutId id="2147483663" r:id="rId10"/>
    <p:sldLayoutId id="2147483666" r:id="rId11"/>
    <p:sldLayoutId id="214748367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4200" kern="1200">
          <a:solidFill>
            <a:srgbClr val="666666"/>
          </a:solidFill>
          <a:latin typeface="+mj-lt"/>
          <a:ea typeface="+mj-ea"/>
          <a:cs typeface="+mj-cs"/>
        </a:defRPr>
      </a:lvl1pPr>
    </p:titleStyle>
    <p:bodyStyle>
      <a:lvl1pPr marL="101600" indent="-101600" algn="l" defTabSz="914400" rtl="0" eaLnBrk="1" latinLnBrk="0" hangingPunct="1">
        <a:lnSpc>
          <a:spcPct val="100000"/>
        </a:lnSpc>
        <a:spcBef>
          <a:spcPts val="1000"/>
        </a:spcBef>
        <a:buClr>
          <a:srgbClr val="666666"/>
        </a:buClr>
        <a:buFont typeface="Segoe UI" panose="020B0502040204020203" pitchFamily="34" charset="0"/>
        <a:buChar char=" "/>
        <a:defRPr sz="2000" kern="1200">
          <a:solidFill>
            <a:srgbClr val="666666"/>
          </a:solidFill>
          <a:latin typeface="+mn-lt"/>
          <a:ea typeface="+mn-ea"/>
          <a:cs typeface="+mn-cs"/>
        </a:defRPr>
      </a:lvl1pPr>
      <a:lvl2pPr marL="315913" indent="-233363" algn="l" defTabSz="914400" rtl="0" eaLnBrk="1" latinLnBrk="0" hangingPunct="1">
        <a:lnSpc>
          <a:spcPct val="100000"/>
        </a:lnSpc>
        <a:spcBef>
          <a:spcPts val="1000"/>
        </a:spcBef>
        <a:buClr>
          <a:srgbClr val="666666"/>
        </a:buClr>
        <a:buFont typeface="Wingdings" panose="05000000000000000000" pitchFamily="2" charset="2"/>
        <a:buChar char=""/>
        <a:defRPr sz="2000" kern="1200">
          <a:solidFill>
            <a:srgbClr val="666666"/>
          </a:solidFill>
          <a:latin typeface="+mn-lt"/>
          <a:ea typeface="+mn-ea"/>
          <a:cs typeface="+mn-cs"/>
        </a:defRPr>
      </a:lvl2pPr>
      <a:lvl3pPr marL="582613" indent="-250825" algn="l" defTabSz="914400" rtl="0" eaLnBrk="1" latinLnBrk="0" hangingPunct="1">
        <a:lnSpc>
          <a:spcPct val="100000"/>
        </a:lnSpc>
        <a:spcBef>
          <a:spcPts val="1000"/>
        </a:spcBef>
        <a:buClr>
          <a:srgbClr val="666666"/>
        </a:buClr>
        <a:buFont typeface="Arial" panose="020B0604020202020204" pitchFamily="34" charset="0"/>
        <a:buChar char="−"/>
        <a:defRPr sz="1800" kern="1200">
          <a:solidFill>
            <a:srgbClr val="666666"/>
          </a:solidFill>
          <a:latin typeface="+mn-lt"/>
          <a:ea typeface="+mn-ea"/>
          <a:cs typeface="+mn-cs"/>
        </a:defRPr>
      </a:lvl3pPr>
      <a:lvl4pPr marL="839788" indent="-233363" algn="l" defTabSz="914400" rtl="0" eaLnBrk="1" latinLnBrk="0" hangingPunct="1">
        <a:lnSpc>
          <a:spcPct val="100000"/>
        </a:lnSpc>
        <a:spcBef>
          <a:spcPts val="1000"/>
        </a:spcBef>
        <a:buClr>
          <a:srgbClr val="666666"/>
        </a:buClr>
        <a:buFont typeface="Arial" panose="020B0604020202020204" pitchFamily="34" charset="0"/>
        <a:buChar char="−"/>
        <a:defRPr sz="1600" kern="1200">
          <a:solidFill>
            <a:srgbClr val="666666"/>
          </a:solidFill>
          <a:latin typeface="+mn-lt"/>
          <a:ea typeface="+mn-ea"/>
          <a:cs typeface="+mn-cs"/>
        </a:defRPr>
      </a:lvl4pPr>
      <a:lvl5pPr marL="1055688" indent="-200025" algn="l" defTabSz="914400" rtl="0" eaLnBrk="1" latinLnBrk="0" hangingPunct="1">
        <a:lnSpc>
          <a:spcPct val="100000"/>
        </a:lnSpc>
        <a:spcBef>
          <a:spcPts val="1000"/>
        </a:spcBef>
        <a:buClr>
          <a:srgbClr val="666666"/>
        </a:buClr>
        <a:buFont typeface="Arial" panose="020B0604020202020204" pitchFamily="34" charset="0"/>
        <a:buChar char="−"/>
        <a:defRPr sz="1400" kern="1200">
          <a:solidFill>
            <a:srgbClr val="6666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0.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80.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20.png"/><Relationship Id="rId4" Type="http://schemas.openxmlformats.org/officeDocument/2006/relationships/image" Target="../media/image110.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140.png"/><Relationship Id="rId4" Type="http://schemas.openxmlformats.org/officeDocument/2006/relationships/image" Target="../media/image110.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60.png"/><Relationship Id="rId4" Type="http://schemas.openxmlformats.org/officeDocument/2006/relationships/image" Target="../media/image11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81.png"/><Relationship Id="rId4" Type="http://schemas.openxmlformats.org/officeDocument/2006/relationships/image" Target="../media/image110.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0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1.jpeg"/></Relationships>
</file>

<file path=ppt/slides/_rels/slide2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microsoft.com/office/2007/relationships/hdphoto" Target="../media/hdphoto1.wdp"/><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9.svg"/><Relationship Id="rId10" Type="http://schemas.openxmlformats.org/officeDocument/2006/relationships/image" Target="../media/image34.gif"/><Relationship Id="rId4" Type="http://schemas.openxmlformats.org/officeDocument/2006/relationships/image" Target="../media/image28.png"/><Relationship Id="rId9"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AA054A-EADB-4AE7-83B8-F4165F256397}"/>
              </a:ext>
            </a:extLst>
          </p:cNvPr>
          <p:cNvSpPr/>
          <p:nvPr/>
        </p:nvSpPr>
        <p:spPr>
          <a:xfrm>
            <a:off x="156510" y="7327303"/>
            <a:ext cx="12192001" cy="6858000"/>
          </a:xfrm>
          <a:prstGeom prst="rect">
            <a:avLst/>
          </a:prstGeom>
          <a:gradFill flip="none" rotWithShape="1">
            <a:gsLst>
              <a:gs pos="54000">
                <a:schemeClr val="accent1">
                  <a:lumMod val="81000"/>
                  <a:alpha val="92000"/>
                </a:schemeClr>
              </a:gs>
              <a:gs pos="0">
                <a:schemeClr val="accent1"/>
              </a:gs>
              <a:gs pos="97000">
                <a:schemeClr val="accent1">
                  <a:lumMod val="98000"/>
                  <a:alpha val="73000"/>
                </a:schemeClr>
              </a:gs>
            </a:gsLst>
            <a:path path="rect">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90267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3145CF3-C12C-4347-8E68-43E7983404D2}"/>
              </a:ext>
            </a:extLst>
          </p:cNvPr>
          <p:cNvSpPr>
            <a:spLocks noGrp="1"/>
          </p:cNvSpPr>
          <p:nvPr>
            <p:ph type="ctrTitle"/>
          </p:nvPr>
        </p:nvSpPr>
        <p:spPr>
          <a:xfrm>
            <a:off x="1930395" y="1041400"/>
            <a:ext cx="8640000" cy="2387600"/>
          </a:xfrm>
        </p:spPr>
        <p:txBody>
          <a:bodyPr/>
          <a:lstStyle/>
          <a:p>
            <a:r>
              <a:rPr lang="en-GB" dirty="0">
                <a:latin typeface="Segoe UI Black" panose="020B0A02040204020203" pitchFamily="34" charset="0"/>
                <a:ea typeface="Segoe UI Black" panose="020B0A02040204020203" pitchFamily="34" charset="0"/>
              </a:rPr>
              <a:t>DMSC Summer School</a:t>
            </a:r>
          </a:p>
        </p:txBody>
      </p:sp>
      <p:sp>
        <p:nvSpPr>
          <p:cNvPr id="3" name="Underrubrik 2">
            <a:extLst>
              <a:ext uri="{FF2B5EF4-FFF2-40B4-BE49-F238E27FC236}">
                <a16:creationId xmlns:a16="http://schemas.microsoft.com/office/drawing/2014/main" id="{9D51EF2D-F832-4781-89C3-3F5E4843BF42}"/>
              </a:ext>
            </a:extLst>
          </p:cNvPr>
          <p:cNvSpPr>
            <a:spLocks noGrp="1"/>
          </p:cNvSpPr>
          <p:nvPr>
            <p:ph type="subTitle" idx="1"/>
          </p:nvPr>
        </p:nvSpPr>
        <p:spPr>
          <a:xfrm>
            <a:off x="1930395" y="3555999"/>
            <a:ext cx="8640000" cy="921363"/>
          </a:xfrm>
        </p:spPr>
        <p:txBody>
          <a:bodyPr/>
          <a:lstStyle/>
          <a:p>
            <a:r>
              <a:rPr lang="en-GB" sz="3200" dirty="0">
                <a:latin typeface="Segoe UI Semibold" panose="020B0702040204020203" pitchFamily="34" charset="0"/>
                <a:cs typeface="Segoe UI Semibold" panose="020B0702040204020203" pitchFamily="34" charset="0"/>
              </a:rPr>
              <a:t>Data Analysis</a:t>
            </a:r>
          </a:p>
        </p:txBody>
      </p:sp>
      <p:sp>
        <p:nvSpPr>
          <p:cNvPr id="4" name="Platshållare för text 3">
            <a:extLst>
              <a:ext uri="{FF2B5EF4-FFF2-40B4-BE49-F238E27FC236}">
                <a16:creationId xmlns:a16="http://schemas.microsoft.com/office/drawing/2014/main" id="{D26DA0E2-82BB-493E-9B68-2D93A245C5B3}"/>
              </a:ext>
            </a:extLst>
          </p:cNvPr>
          <p:cNvSpPr>
            <a:spLocks noGrp="1"/>
          </p:cNvSpPr>
          <p:nvPr>
            <p:ph type="body" sz="quarter" idx="10"/>
          </p:nvPr>
        </p:nvSpPr>
        <p:spPr>
          <a:xfrm>
            <a:off x="1930395" y="5308847"/>
            <a:ext cx="6290892" cy="756731"/>
          </a:xfrm>
        </p:spPr>
        <p:txBody>
          <a:bodyPr/>
          <a:lstStyle/>
          <a:p>
            <a:endParaRPr lang="en-GB" dirty="0"/>
          </a:p>
          <a:p>
            <a:endParaRPr lang="en-GB" dirty="0"/>
          </a:p>
          <a:p>
            <a:r>
              <a:rPr lang="en-GB" dirty="0"/>
              <a:t>Christian Dam Vedel</a:t>
            </a:r>
          </a:p>
          <a:p>
            <a:r>
              <a:rPr lang="en-GB" dirty="0">
                <a:latin typeface="Segoe UI Light" panose="020B0502040204020203" pitchFamily="34" charset="0"/>
                <a:cs typeface="Segoe UI Light" panose="020B0502040204020203" pitchFamily="34" charset="0"/>
              </a:rPr>
              <a:t>Imaging analysis software developer</a:t>
            </a:r>
          </a:p>
          <a:p>
            <a:r>
              <a:rPr lang="en-GB" dirty="0">
                <a:latin typeface="Segoe UI Light" panose="020B0502040204020203" pitchFamily="34" charset="0"/>
                <a:cs typeface="Segoe UI Light" panose="020B0502040204020203" pitchFamily="34" charset="0"/>
              </a:rPr>
              <a:t>Christian.Vedel@ess.eu</a:t>
            </a:r>
          </a:p>
          <a:p>
            <a:r>
              <a:rPr lang="en-GB" i="1" dirty="0">
                <a:latin typeface="Segoe UI Light" panose="020B0502040204020203" pitchFamily="34" charset="0"/>
                <a:cs typeface="Segoe UI Light" panose="020B0502040204020203" pitchFamily="34" charset="0"/>
              </a:rPr>
              <a:t>(he/</a:t>
            </a:r>
            <a:r>
              <a:rPr lang="en-GB" i="1" dirty="0" err="1">
                <a:latin typeface="Segoe UI Light" panose="020B0502040204020203" pitchFamily="34" charset="0"/>
                <a:cs typeface="Segoe UI Light" panose="020B0502040204020203" pitchFamily="34" charset="0"/>
              </a:rPr>
              <a:t>hiM</a:t>
            </a:r>
            <a:r>
              <a:rPr lang="en-GB" i="1" dirty="0">
                <a:latin typeface="Segoe UI Light" panose="020B0502040204020203" pitchFamily="34" charset="0"/>
                <a:cs typeface="Segoe UI Light" panose="020B0502040204020203" pitchFamily="34" charset="0"/>
              </a:rPr>
              <a:t>)</a:t>
            </a:r>
          </a:p>
        </p:txBody>
      </p:sp>
      <p:sp>
        <p:nvSpPr>
          <p:cNvPr id="5" name="Platshållare för datum 4">
            <a:extLst>
              <a:ext uri="{FF2B5EF4-FFF2-40B4-BE49-F238E27FC236}">
                <a16:creationId xmlns:a16="http://schemas.microsoft.com/office/drawing/2014/main" id="{30E777A6-9513-43F3-BB24-ED0539ADDD88}"/>
              </a:ext>
            </a:extLst>
          </p:cNvPr>
          <p:cNvSpPr>
            <a:spLocks noGrp="1"/>
          </p:cNvSpPr>
          <p:nvPr>
            <p:ph type="dt" sz="half" idx="11"/>
          </p:nvPr>
        </p:nvSpPr>
        <p:spPr>
          <a:xfrm>
            <a:off x="1930395" y="6117873"/>
            <a:ext cx="3215183" cy="459883"/>
          </a:xfrm>
        </p:spPr>
        <p:txBody>
          <a:bodyPr/>
          <a:lstStyle/>
          <a:p>
            <a:r>
              <a:rPr lang="en-GB" sz="1200" b="1" dirty="0">
                <a:solidFill>
                  <a:schemeClr val="bg1"/>
                </a:solidFill>
              </a:rPr>
              <a:t>2026-08-27</a:t>
            </a:r>
          </a:p>
        </p:txBody>
      </p:sp>
      <p:sp>
        <p:nvSpPr>
          <p:cNvPr id="6" name="Underrubrik 2">
            <a:extLst>
              <a:ext uri="{FF2B5EF4-FFF2-40B4-BE49-F238E27FC236}">
                <a16:creationId xmlns:a16="http://schemas.microsoft.com/office/drawing/2014/main" id="{AEC199C3-1700-D248-7F14-27D5B19BB97D}"/>
              </a:ext>
            </a:extLst>
          </p:cNvPr>
          <p:cNvSpPr txBox="1">
            <a:spLocks/>
          </p:cNvSpPr>
          <p:nvPr/>
        </p:nvSpPr>
        <p:spPr>
          <a:xfrm>
            <a:off x="1930395" y="4120165"/>
            <a:ext cx="8640000" cy="921363"/>
          </a:xfrm>
          <a:prstGeom prst="rect">
            <a:avLst/>
          </a:prstGeom>
        </p:spPr>
        <p:txBody>
          <a:bodyPr vert="horz" lIns="90000" tIns="45720" rIns="91440" bIns="45720" rtlCol="0">
            <a:noAutofit/>
          </a:bodyPr>
          <a:lstStyle>
            <a:lvl1pPr marL="0" indent="0" algn="l" defTabSz="914400" rtl="0" eaLnBrk="1" latinLnBrk="0" hangingPunct="1">
              <a:lnSpc>
                <a:spcPct val="100000"/>
              </a:lnSpc>
              <a:spcBef>
                <a:spcPts val="0"/>
              </a:spcBef>
              <a:buClr>
                <a:srgbClr val="666666"/>
              </a:buClr>
              <a:buFont typeface="Segoe UI" panose="020B0502040204020203" pitchFamily="34" charset="0"/>
              <a:buNone/>
              <a:defRPr sz="2800" kern="1200">
                <a:solidFill>
                  <a:schemeClr val="bg1"/>
                </a:solidFill>
                <a:latin typeface="+mn-lt"/>
                <a:ea typeface="+mn-ea"/>
                <a:cs typeface="+mn-cs"/>
              </a:defRPr>
            </a:lvl1pPr>
            <a:lvl2pPr marL="457200" indent="0" algn="ctr" defTabSz="914400" rtl="0" eaLnBrk="1" latinLnBrk="0" hangingPunct="1">
              <a:lnSpc>
                <a:spcPct val="100000"/>
              </a:lnSpc>
              <a:spcBef>
                <a:spcPts val="1000"/>
              </a:spcBef>
              <a:buClr>
                <a:srgbClr val="666666"/>
              </a:buClr>
              <a:buFont typeface="Wingdings" panose="05000000000000000000" pitchFamily="2" charset="2"/>
              <a:buNone/>
              <a:defRPr sz="2000" kern="1200">
                <a:solidFill>
                  <a:srgbClr val="666666"/>
                </a:solidFill>
                <a:latin typeface="+mn-lt"/>
                <a:ea typeface="+mn-ea"/>
                <a:cs typeface="+mn-cs"/>
              </a:defRPr>
            </a:lvl2pPr>
            <a:lvl3pPr marL="914400" indent="0" algn="ctr" defTabSz="914400" rtl="0" eaLnBrk="1" latinLnBrk="0" hangingPunct="1">
              <a:lnSpc>
                <a:spcPct val="100000"/>
              </a:lnSpc>
              <a:spcBef>
                <a:spcPts val="1000"/>
              </a:spcBef>
              <a:buClr>
                <a:srgbClr val="666666"/>
              </a:buClr>
              <a:buFont typeface="Arial" panose="020B0604020202020204" pitchFamily="34" charset="0"/>
              <a:buNone/>
              <a:defRPr sz="1800" kern="1200">
                <a:solidFill>
                  <a:srgbClr val="666666"/>
                </a:solidFill>
                <a:latin typeface="+mn-lt"/>
                <a:ea typeface="+mn-ea"/>
                <a:cs typeface="+mn-cs"/>
              </a:defRPr>
            </a:lvl3pPr>
            <a:lvl4pPr marL="1371600" indent="0" algn="ctr" defTabSz="914400" rtl="0" eaLnBrk="1" latinLnBrk="0" hangingPunct="1">
              <a:lnSpc>
                <a:spcPct val="100000"/>
              </a:lnSpc>
              <a:spcBef>
                <a:spcPts val="1000"/>
              </a:spcBef>
              <a:buClr>
                <a:srgbClr val="666666"/>
              </a:buClr>
              <a:buFont typeface="Arial" panose="020B0604020202020204" pitchFamily="34" charset="0"/>
              <a:buNone/>
              <a:defRPr sz="1600" kern="1200">
                <a:solidFill>
                  <a:srgbClr val="666666"/>
                </a:solidFill>
                <a:latin typeface="+mn-lt"/>
                <a:ea typeface="+mn-ea"/>
                <a:cs typeface="+mn-cs"/>
              </a:defRPr>
            </a:lvl4pPr>
            <a:lvl5pPr marL="1828800" indent="0" algn="ctr" defTabSz="914400" rtl="0" eaLnBrk="1" latinLnBrk="0" hangingPunct="1">
              <a:lnSpc>
                <a:spcPct val="100000"/>
              </a:lnSpc>
              <a:spcBef>
                <a:spcPts val="1000"/>
              </a:spcBef>
              <a:buClr>
                <a:srgbClr val="666666"/>
              </a:buClr>
              <a:buFont typeface="Arial" panose="020B0604020202020204" pitchFamily="34" charset="0"/>
              <a:buNone/>
              <a:defRPr sz="1600" kern="1200">
                <a:solidFill>
                  <a:srgbClr val="666666"/>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800" i="1" dirty="0">
                <a:latin typeface="Segoe UI Semilight" panose="020B0402040204020203" pitchFamily="34" charset="0"/>
                <a:cs typeface="Segoe UI Semilight" panose="020B0402040204020203" pitchFamily="34" charset="0"/>
              </a:rPr>
              <a:t>A Probabilistic Perspective</a:t>
            </a:r>
          </a:p>
        </p:txBody>
      </p:sp>
    </p:spTree>
    <p:extLst>
      <p:ext uri="{BB962C8B-B14F-4D97-AF65-F5344CB8AC3E}">
        <p14:creationId xmlns:p14="http://schemas.microsoft.com/office/powerpoint/2010/main" val="2141996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A76CE-7334-2257-00B6-478754DC7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CDB31-0FBD-F32A-D67B-173F8C2A2564}"/>
              </a:ext>
            </a:extLst>
          </p:cNvPr>
          <p:cNvSpPr>
            <a:spLocks noGrp="1"/>
          </p:cNvSpPr>
          <p:nvPr>
            <p:ph type="title"/>
          </p:nvPr>
        </p:nvSpPr>
        <p:spPr>
          <a:xfrm>
            <a:off x="1103709" y="265373"/>
            <a:ext cx="9360000" cy="1181687"/>
          </a:xfrm>
        </p:spPr>
        <p:txBody>
          <a:bodyPr/>
          <a:lstStyle/>
          <a:p>
            <a:r>
              <a:rPr lang="en-GB" sz="3600" noProof="0" dirty="0"/>
              <a:t>Summer school program – Data analysis day</a:t>
            </a:r>
          </a:p>
        </p:txBody>
      </p:sp>
      <p:sp>
        <p:nvSpPr>
          <p:cNvPr id="4" name="Slide Number Placeholder 3">
            <a:extLst>
              <a:ext uri="{FF2B5EF4-FFF2-40B4-BE49-F238E27FC236}">
                <a16:creationId xmlns:a16="http://schemas.microsoft.com/office/drawing/2014/main" id="{FEF75986-A9D6-48C2-C88F-CEFBBA34BA31}"/>
              </a:ext>
            </a:extLst>
          </p:cNvPr>
          <p:cNvSpPr>
            <a:spLocks noGrp="1"/>
          </p:cNvSpPr>
          <p:nvPr>
            <p:ph type="sldNum" sz="quarter" idx="12"/>
          </p:nvPr>
        </p:nvSpPr>
        <p:spPr>
          <a:xfrm>
            <a:off x="7302732" y="5946950"/>
            <a:ext cx="2743200" cy="365125"/>
          </a:xfrm>
        </p:spPr>
        <p:txBody>
          <a:bodyPr/>
          <a:lstStyle/>
          <a:p>
            <a:fld id="{F7283078-D760-1647-8B80-66BA8B52336D}" type="slidenum">
              <a:rPr lang="en-GB" noProof="0" smtClean="0"/>
              <a:t>3</a:t>
            </a:fld>
            <a:endParaRPr lang="en-GB" noProof="0" dirty="0"/>
          </a:p>
        </p:txBody>
      </p:sp>
      <p:sp>
        <p:nvSpPr>
          <p:cNvPr id="8" name="Date Placeholder 7">
            <a:extLst>
              <a:ext uri="{FF2B5EF4-FFF2-40B4-BE49-F238E27FC236}">
                <a16:creationId xmlns:a16="http://schemas.microsoft.com/office/drawing/2014/main" id="{B6E0C586-DEF3-2511-F124-D763BC6D1FA2}"/>
              </a:ext>
            </a:extLst>
          </p:cNvPr>
          <p:cNvSpPr>
            <a:spLocks noGrp="1"/>
          </p:cNvSpPr>
          <p:nvPr>
            <p:ph type="dt" sz="half" idx="10"/>
          </p:nvPr>
        </p:nvSpPr>
        <p:spPr/>
        <p:txBody>
          <a:bodyPr/>
          <a:lstStyle/>
          <a:p>
            <a:fld id="{18896B66-0B3A-474C-9C9C-E4F07B1F5DAD}" type="datetime1">
              <a:rPr lang="en-GB" noProof="0" smtClean="0"/>
              <a:t>26/08/2026</a:t>
            </a:fld>
            <a:endParaRPr lang="en-GB" noProof="0" dirty="0"/>
          </a:p>
        </p:txBody>
      </p:sp>
      <p:graphicFrame>
        <p:nvGraphicFramePr>
          <p:cNvPr id="13" name="Diagram 12">
            <a:extLst>
              <a:ext uri="{FF2B5EF4-FFF2-40B4-BE49-F238E27FC236}">
                <a16:creationId xmlns:a16="http://schemas.microsoft.com/office/drawing/2014/main" id="{80238839-2A05-5B9B-6778-404EE76315DA}"/>
              </a:ext>
            </a:extLst>
          </p:cNvPr>
          <p:cNvGraphicFramePr/>
          <p:nvPr>
            <p:extLst>
              <p:ext uri="{D42A27DB-BD31-4B8C-83A1-F6EECF244321}">
                <p14:modId xmlns:p14="http://schemas.microsoft.com/office/powerpoint/2010/main" val="3726649045"/>
              </p:ext>
            </p:extLst>
          </p:nvPr>
        </p:nvGraphicFramePr>
        <p:xfrm>
          <a:off x="1195647" y="1150620"/>
          <a:ext cx="9268062" cy="5227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5" name="Straight Connector 4">
            <a:extLst>
              <a:ext uri="{FF2B5EF4-FFF2-40B4-BE49-F238E27FC236}">
                <a16:creationId xmlns:a16="http://schemas.microsoft.com/office/drawing/2014/main" id="{A0A566F4-0DC6-C95E-7516-7478D046D036}"/>
              </a:ext>
            </a:extLst>
          </p:cNvPr>
          <p:cNvCxnSpPr/>
          <p:nvPr/>
        </p:nvCxnSpPr>
        <p:spPr>
          <a:xfrm>
            <a:off x="5835805" y="1665249"/>
            <a:ext cx="0" cy="4438185"/>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7D36A1A-1EB4-14AA-DC3B-4A370FFBE6D0}"/>
              </a:ext>
            </a:extLst>
          </p:cNvPr>
          <p:cNvSpPr txBox="1"/>
          <p:nvPr/>
        </p:nvSpPr>
        <p:spPr>
          <a:xfrm>
            <a:off x="5402470" y="1214981"/>
            <a:ext cx="854416" cy="369332"/>
          </a:xfrm>
          <a:prstGeom prst="rect">
            <a:avLst/>
          </a:prstGeom>
          <a:noFill/>
        </p:spPr>
        <p:txBody>
          <a:bodyPr wrap="square" rtlCol="0">
            <a:spAutoFit/>
          </a:bodyPr>
          <a:lstStyle/>
          <a:p>
            <a:pPr algn="l"/>
            <a:r>
              <a:rPr lang="da-DK" b="1" dirty="0">
                <a:solidFill>
                  <a:srgbClr val="0099DC"/>
                </a:solidFill>
              </a:rPr>
              <a:t>Lunch</a:t>
            </a:r>
            <a:endParaRPr lang="en-GB" b="1" dirty="0">
              <a:solidFill>
                <a:srgbClr val="0099DC"/>
              </a:solidFill>
            </a:endParaRPr>
          </a:p>
        </p:txBody>
      </p:sp>
    </p:spTree>
    <p:extLst>
      <p:ext uri="{BB962C8B-B14F-4D97-AF65-F5344CB8AC3E}">
        <p14:creationId xmlns:p14="http://schemas.microsoft.com/office/powerpoint/2010/main" val="193421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3247-C643-D35C-3F63-0A473CEE8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560EC-41BE-E589-9508-346D7BFC3371}"/>
              </a:ext>
            </a:extLst>
          </p:cNvPr>
          <p:cNvSpPr>
            <a:spLocks noGrp="1"/>
          </p:cNvSpPr>
          <p:nvPr>
            <p:ph type="title"/>
          </p:nvPr>
        </p:nvSpPr>
        <p:spPr>
          <a:xfrm>
            <a:off x="1103709" y="265373"/>
            <a:ext cx="9360000" cy="1181687"/>
          </a:xfrm>
        </p:spPr>
        <p:txBody>
          <a:bodyPr/>
          <a:lstStyle/>
          <a:p>
            <a:r>
              <a:rPr lang="en-GB" sz="3600" dirty="0"/>
              <a:t>Data analysis can be broadly categorized into two categories</a:t>
            </a:r>
          </a:p>
        </p:txBody>
      </p:sp>
      <p:sp>
        <p:nvSpPr>
          <p:cNvPr id="4" name="Slide Number Placeholder 3">
            <a:extLst>
              <a:ext uri="{FF2B5EF4-FFF2-40B4-BE49-F238E27FC236}">
                <a16:creationId xmlns:a16="http://schemas.microsoft.com/office/drawing/2014/main" id="{D29E928A-25C6-9D98-90CC-282AC006D7BB}"/>
              </a:ext>
            </a:extLst>
          </p:cNvPr>
          <p:cNvSpPr>
            <a:spLocks noGrp="1"/>
          </p:cNvSpPr>
          <p:nvPr>
            <p:ph type="sldNum" sz="quarter" idx="12"/>
          </p:nvPr>
        </p:nvSpPr>
        <p:spPr>
          <a:xfrm>
            <a:off x="7302732" y="5946950"/>
            <a:ext cx="2743200" cy="365125"/>
          </a:xfrm>
        </p:spPr>
        <p:txBody>
          <a:bodyPr/>
          <a:lstStyle/>
          <a:p>
            <a:fld id="{F7283078-D760-1647-8B80-66BA8B52336D}" type="slidenum">
              <a:rPr lang="en-GB" smtClean="0"/>
              <a:t>4</a:t>
            </a:fld>
            <a:endParaRPr lang="en-GB"/>
          </a:p>
        </p:txBody>
      </p:sp>
      <p:sp>
        <p:nvSpPr>
          <p:cNvPr id="8" name="Date Placeholder 7">
            <a:extLst>
              <a:ext uri="{FF2B5EF4-FFF2-40B4-BE49-F238E27FC236}">
                <a16:creationId xmlns:a16="http://schemas.microsoft.com/office/drawing/2014/main" id="{3A24F90F-EACC-8F60-4F5F-F5A6ED053221}"/>
              </a:ext>
            </a:extLst>
          </p:cNvPr>
          <p:cNvSpPr>
            <a:spLocks noGrp="1"/>
          </p:cNvSpPr>
          <p:nvPr>
            <p:ph type="dt" sz="half" idx="10"/>
          </p:nvPr>
        </p:nvSpPr>
        <p:spPr/>
        <p:txBody>
          <a:bodyPr/>
          <a:lstStyle/>
          <a:p>
            <a:fld id="{18896B66-0B3A-474C-9C9C-E4F07B1F5DAD}" type="datetime1">
              <a:rPr lang="en-GB" smtClean="0"/>
              <a:t>26/08/2026</a:t>
            </a:fld>
            <a:endParaRPr lang="en-GB"/>
          </a:p>
        </p:txBody>
      </p:sp>
      <p:sp>
        <p:nvSpPr>
          <p:cNvPr id="5" name="Rectangle: Rounded Corners 4">
            <a:extLst>
              <a:ext uri="{FF2B5EF4-FFF2-40B4-BE49-F238E27FC236}">
                <a16:creationId xmlns:a16="http://schemas.microsoft.com/office/drawing/2014/main" id="{C59F177A-2763-2E58-8A8F-A36F118ECF80}"/>
              </a:ext>
            </a:extLst>
          </p:cNvPr>
          <p:cNvSpPr/>
          <p:nvPr/>
        </p:nvSpPr>
        <p:spPr>
          <a:xfrm>
            <a:off x="6214188" y="1825025"/>
            <a:ext cx="4230291" cy="4272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u="sng" noProof="0" dirty="0"/>
              <a:t>Model-</a:t>
            </a:r>
            <a:r>
              <a:rPr lang="en-GB" sz="2400" b="1" u="sng" noProof="0" dirty="0"/>
              <a:t>dependent</a:t>
            </a:r>
            <a:endParaRPr lang="en-GB" b="1" u="sng" noProof="0" dirty="0"/>
          </a:p>
          <a:p>
            <a:pPr algn="ctr"/>
            <a:endParaRPr lang="en-GB" b="1" noProof="0" dirty="0"/>
          </a:p>
          <a:p>
            <a:pPr algn="ctr"/>
            <a:r>
              <a:rPr lang="en-GB" dirty="0"/>
              <a:t>Draws conclusions by comparing the data to a model.</a:t>
            </a:r>
          </a:p>
          <a:p>
            <a:pPr algn="ctr"/>
            <a:endParaRPr lang="en-GB" noProof="0" dirty="0"/>
          </a:p>
          <a:p>
            <a:pPr algn="ctr"/>
            <a:r>
              <a:rPr lang="en-GB" dirty="0"/>
              <a:t>Models can be either </a:t>
            </a:r>
            <a:r>
              <a:rPr lang="en-GB" b="1" dirty="0"/>
              <a:t>statistical</a:t>
            </a:r>
            <a:r>
              <a:rPr lang="en-GB" dirty="0"/>
              <a:t> or </a:t>
            </a:r>
            <a:r>
              <a:rPr lang="en-GB" b="1" dirty="0"/>
              <a:t>physical</a:t>
            </a:r>
            <a:r>
              <a:rPr lang="en-GB" dirty="0"/>
              <a:t> but </a:t>
            </a:r>
            <a:r>
              <a:rPr lang="en-GB" i="1" dirty="0"/>
              <a:t>must</a:t>
            </a:r>
            <a:r>
              <a:rPr lang="en-GB" dirty="0"/>
              <a:t> mathematically describe the analysed system.</a:t>
            </a:r>
          </a:p>
          <a:p>
            <a:pPr algn="ctr"/>
            <a:endParaRPr lang="en-GB" b="1" noProof="0" dirty="0"/>
          </a:p>
          <a:p>
            <a:pPr algn="ctr"/>
            <a:r>
              <a:rPr lang="en-GB" dirty="0"/>
              <a:t>Requires having an idea of the origin of the data and the physics/maths behind it and thus incorporates that bias.</a:t>
            </a:r>
            <a:endParaRPr lang="en-GB" noProof="0" dirty="0"/>
          </a:p>
        </p:txBody>
      </p:sp>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526F4374-3536-8754-4EED-F8E35C705159}"/>
                  </a:ext>
                </a:extLst>
              </p:cNvPr>
              <p:cNvSpPr/>
              <p:nvPr/>
            </p:nvSpPr>
            <p:spPr>
              <a:xfrm>
                <a:off x="1103709" y="1825025"/>
                <a:ext cx="4230291" cy="4272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u="sng" noProof="0" dirty="0"/>
                  <a:t>Model</a:t>
                </a:r>
                <a:r>
                  <a:rPr lang="en-GB" sz="2400" u="sng" dirty="0"/>
                  <a:t>-</a:t>
                </a:r>
                <a:r>
                  <a:rPr lang="en-GB" sz="2400" b="1" u="sng" noProof="0" dirty="0"/>
                  <a:t>independent</a:t>
                </a:r>
                <a:endParaRPr lang="en-GB" b="1" u="sng" noProof="0" dirty="0"/>
              </a:p>
              <a:p>
                <a:pPr algn="ctr"/>
                <a:endParaRPr lang="en-GB" b="1" noProof="0" dirty="0"/>
              </a:p>
              <a:p>
                <a:pPr algn="ctr"/>
                <a:r>
                  <a:rPr lang="en-GB" noProof="0" dirty="0"/>
                  <a:t>Draws conclusions by inspecting the data and its trends.</a:t>
                </a:r>
              </a:p>
              <a:p>
                <a:pPr algn="ctr"/>
                <a:endParaRPr lang="en-GB" dirty="0"/>
              </a:p>
              <a:p>
                <a:pPr algn="ctr"/>
                <a:r>
                  <a:rPr lang="en-GB" noProof="0" dirty="0"/>
                  <a:t>Examples includes statistical analysis methods such as </a:t>
                </a:r>
                <a:r>
                  <a:rPr lang="en-GB" b="1" noProof="0" dirty="0"/>
                  <a:t>ANOVA</a:t>
                </a:r>
                <a:r>
                  <a:rPr lang="en-GB" noProof="0" dirty="0"/>
                  <a:t>, </a:t>
                </a:r>
                <a:r>
                  <a:rPr lang="en-GB" b="1" dirty="0"/>
                  <a:t>t</a:t>
                </a:r>
                <a:r>
                  <a:rPr lang="en-GB" b="1" noProof="0" dirty="0"/>
                  <a:t>-tests </a:t>
                </a:r>
                <a:r>
                  <a:rPr lang="en-GB" noProof="0" dirty="0"/>
                  <a:t>and </a:t>
                </a:r>
                <a14:m>
                  <m:oMath xmlns:m="http://schemas.openxmlformats.org/officeDocument/2006/math">
                    <m:sSup>
                      <m:sSupPr>
                        <m:ctrlPr>
                          <a:rPr lang="da-DK" b="1" i="1" noProof="0" smtClean="0">
                            <a:latin typeface="Cambria Math" panose="02040503050406030204" pitchFamily="18" charset="0"/>
                          </a:rPr>
                        </m:ctrlPr>
                      </m:sSupPr>
                      <m:e>
                        <m:r>
                          <a:rPr lang="da-DK" b="1" i="1" noProof="0" smtClean="0">
                            <a:latin typeface="Cambria Math" panose="02040503050406030204" pitchFamily="18" charset="0"/>
                          </a:rPr>
                          <m:t>𝝌</m:t>
                        </m:r>
                      </m:e>
                      <m:sup>
                        <m:r>
                          <a:rPr lang="da-DK" b="1" i="1" noProof="0" smtClean="0">
                            <a:latin typeface="Cambria Math" panose="02040503050406030204" pitchFamily="18" charset="0"/>
                          </a:rPr>
                          <m:t>𝟐</m:t>
                        </m:r>
                      </m:sup>
                    </m:sSup>
                  </m:oMath>
                </a14:m>
                <a:r>
                  <a:rPr lang="en-GB" b="1" noProof="0" dirty="0"/>
                  <a:t>-tests</a:t>
                </a:r>
                <a:r>
                  <a:rPr lang="en-GB" noProof="0" dirty="0"/>
                  <a:t>.</a:t>
                </a:r>
                <a:endParaRPr lang="en-GB" b="1" noProof="0" dirty="0"/>
              </a:p>
              <a:p>
                <a:pPr algn="ctr"/>
                <a:endParaRPr lang="en-GB" b="1" noProof="0" dirty="0"/>
              </a:p>
              <a:p>
                <a:pPr algn="ctr"/>
                <a:r>
                  <a:rPr lang="en-GB" dirty="0"/>
                  <a:t>Does not require knowing anything about the origin of the data and is thus (almost) free of scientific bias.</a:t>
                </a:r>
              </a:p>
              <a:p>
                <a:pPr algn="ctr"/>
                <a:endParaRPr lang="en-GB" noProof="0" dirty="0"/>
              </a:p>
            </p:txBody>
          </p:sp>
        </mc:Choice>
        <mc:Fallback xmlns="">
          <p:sp>
            <p:nvSpPr>
              <p:cNvPr id="7" name="Rectangle: Rounded Corners 6">
                <a:extLst>
                  <a:ext uri="{FF2B5EF4-FFF2-40B4-BE49-F238E27FC236}">
                    <a16:creationId xmlns:a16="http://schemas.microsoft.com/office/drawing/2014/main" id="{526F4374-3536-8754-4EED-F8E35C705159}"/>
                  </a:ext>
                </a:extLst>
              </p:cNvPr>
              <p:cNvSpPr>
                <a:spLocks noRot="1" noChangeAspect="1" noMove="1" noResize="1" noEditPoints="1" noAdjustHandles="1" noChangeArrowheads="1" noChangeShapeType="1" noTextEdit="1"/>
              </p:cNvSpPr>
              <p:nvPr/>
            </p:nvSpPr>
            <p:spPr>
              <a:xfrm>
                <a:off x="1103709" y="1825025"/>
                <a:ext cx="4230291" cy="4272280"/>
              </a:xfrm>
              <a:prstGeom prst="roundRect">
                <a:avLst/>
              </a:prstGeom>
              <a:blipFill>
                <a:blip r:embed="rId3"/>
                <a:stretch>
                  <a:fillRect/>
                </a:stretch>
              </a:blipFill>
            </p:spPr>
            <p:txBody>
              <a:bodyPr/>
              <a:lstStyle/>
              <a:p>
                <a:r>
                  <a:rPr lang="en-GB">
                    <a:noFill/>
                  </a:rPr>
                  <a:t> </a:t>
                </a:r>
              </a:p>
            </p:txBody>
          </p:sp>
        </mc:Fallback>
      </mc:AlternateContent>
      <p:sp>
        <p:nvSpPr>
          <p:cNvPr id="9" name="Rectangle 8">
            <a:extLst>
              <a:ext uri="{FF2B5EF4-FFF2-40B4-BE49-F238E27FC236}">
                <a16:creationId xmlns:a16="http://schemas.microsoft.com/office/drawing/2014/main" id="{B6B509D7-AFC6-4175-EBA6-E45BA2BD8FBF}"/>
              </a:ext>
            </a:extLst>
          </p:cNvPr>
          <p:cNvSpPr/>
          <p:nvPr/>
        </p:nvSpPr>
        <p:spPr>
          <a:xfrm>
            <a:off x="5926493" y="1541410"/>
            <a:ext cx="4805680" cy="4839510"/>
          </a:xfrm>
          <a:prstGeom prst="rect">
            <a:avLst/>
          </a:prstGeom>
          <a:noFill/>
          <a:ln w="38100" cap="rnd">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8955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AE7E0-5521-79B4-90DE-78DD2EE75C6B}"/>
              </a:ext>
            </a:extLst>
          </p:cNvPr>
          <p:cNvSpPr>
            <a:spLocks noGrp="1"/>
          </p:cNvSpPr>
          <p:nvPr>
            <p:ph type="title"/>
          </p:nvPr>
        </p:nvSpPr>
        <p:spPr>
          <a:xfrm>
            <a:off x="1103709" y="265373"/>
            <a:ext cx="9360000" cy="1181687"/>
          </a:xfrm>
        </p:spPr>
        <p:txBody>
          <a:bodyPr/>
          <a:lstStyle/>
          <a:p>
            <a:r>
              <a:rPr lang="en-GB" sz="3600" dirty="0"/>
              <a:t>Model-dependent analysis is used to interpret nearly all neutron scattering techniques</a:t>
            </a:r>
          </a:p>
        </p:txBody>
      </p:sp>
      <p:sp>
        <p:nvSpPr>
          <p:cNvPr id="4" name="Slide Number Placeholder 3">
            <a:extLst>
              <a:ext uri="{FF2B5EF4-FFF2-40B4-BE49-F238E27FC236}">
                <a16:creationId xmlns:a16="http://schemas.microsoft.com/office/drawing/2014/main" id="{22D18359-6155-BA0D-536E-3039E143EB1C}"/>
              </a:ext>
            </a:extLst>
          </p:cNvPr>
          <p:cNvSpPr>
            <a:spLocks noGrp="1"/>
          </p:cNvSpPr>
          <p:nvPr>
            <p:ph type="sldNum" sz="quarter" idx="12"/>
          </p:nvPr>
        </p:nvSpPr>
        <p:spPr/>
        <p:txBody>
          <a:bodyPr/>
          <a:lstStyle/>
          <a:p>
            <a:fld id="{F7283078-D760-1647-8B80-66BA8B52336D}" type="slidenum">
              <a:rPr lang="en-GB" smtClean="0"/>
              <a:t>5</a:t>
            </a:fld>
            <a:endParaRPr lang="en-GB"/>
          </a:p>
        </p:txBody>
      </p:sp>
      <p:sp>
        <p:nvSpPr>
          <p:cNvPr id="8" name="Date Placeholder 7">
            <a:extLst>
              <a:ext uri="{FF2B5EF4-FFF2-40B4-BE49-F238E27FC236}">
                <a16:creationId xmlns:a16="http://schemas.microsoft.com/office/drawing/2014/main" id="{C786538A-2081-1CF2-1614-21B605042EAC}"/>
              </a:ext>
            </a:extLst>
          </p:cNvPr>
          <p:cNvSpPr>
            <a:spLocks noGrp="1"/>
          </p:cNvSpPr>
          <p:nvPr>
            <p:ph type="dt" sz="half" idx="10"/>
          </p:nvPr>
        </p:nvSpPr>
        <p:spPr/>
        <p:txBody>
          <a:bodyPr/>
          <a:lstStyle/>
          <a:p>
            <a:fld id="{18896B66-0B3A-474C-9C9C-E4F07B1F5DAD}" type="datetime1">
              <a:rPr lang="en-GB" smtClean="0"/>
              <a:t>26/08/2026</a:t>
            </a:fld>
            <a:endParaRPr lang="en-GB"/>
          </a:p>
        </p:txBody>
      </p:sp>
      <p:sp>
        <p:nvSpPr>
          <p:cNvPr id="15" name="Rectangle 14">
            <a:extLst>
              <a:ext uri="{FF2B5EF4-FFF2-40B4-BE49-F238E27FC236}">
                <a16:creationId xmlns:a16="http://schemas.microsoft.com/office/drawing/2014/main" id="{8844EAD8-2CA2-6F00-DAC5-A94F83D1F565}"/>
              </a:ext>
            </a:extLst>
          </p:cNvPr>
          <p:cNvSpPr/>
          <p:nvPr/>
        </p:nvSpPr>
        <p:spPr>
          <a:xfrm>
            <a:off x="6645452" y="2079436"/>
            <a:ext cx="1793631" cy="2831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5" name="Diagram 24">
            <a:extLst>
              <a:ext uri="{FF2B5EF4-FFF2-40B4-BE49-F238E27FC236}">
                <a16:creationId xmlns:a16="http://schemas.microsoft.com/office/drawing/2014/main" id="{2A7C7058-C189-584F-D1B9-E6A39075915B}"/>
              </a:ext>
            </a:extLst>
          </p:cNvPr>
          <p:cNvGraphicFramePr/>
          <p:nvPr>
            <p:extLst>
              <p:ext uri="{D42A27DB-BD31-4B8C-83A1-F6EECF244321}">
                <p14:modId xmlns:p14="http://schemas.microsoft.com/office/powerpoint/2010/main" val="1386155037"/>
              </p:ext>
            </p:extLst>
          </p:nvPr>
        </p:nvGraphicFramePr>
        <p:xfrm>
          <a:off x="1195646" y="720241"/>
          <a:ext cx="9892645"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4" name="Arrow: Circular 43">
            <a:extLst>
              <a:ext uri="{FF2B5EF4-FFF2-40B4-BE49-F238E27FC236}">
                <a16:creationId xmlns:a16="http://schemas.microsoft.com/office/drawing/2014/main" id="{3C0E6CFE-27AB-43F1-88CA-D52C4C655D54}"/>
              </a:ext>
            </a:extLst>
          </p:cNvPr>
          <p:cNvSpPr/>
          <p:nvPr/>
        </p:nvSpPr>
        <p:spPr>
          <a:xfrm flipH="1" flipV="1">
            <a:off x="3453412" y="856216"/>
            <a:ext cx="5081249" cy="4554245"/>
          </a:xfrm>
          <a:prstGeom prst="circularArrow">
            <a:avLst>
              <a:gd name="adj1" fmla="val 1673"/>
              <a:gd name="adj2" fmla="val 198984"/>
              <a:gd name="adj3" fmla="val 19625505"/>
              <a:gd name="adj4" fmla="val 12575511"/>
              <a:gd name="adj5" fmla="val 1952"/>
            </a:avLst>
          </a:prstGeom>
          <a:gradFill>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effectLst>
            <a:outerShdw blurRad="57150" dist="19050" dir="5400000" algn="tl" rotWithShape="0">
              <a:prstClr val="black">
                <a:alpha val="63000"/>
              </a:prstClr>
            </a:outerShdw>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GB"/>
          </a:p>
        </p:txBody>
      </p:sp>
      <p:grpSp>
        <p:nvGrpSpPr>
          <p:cNvPr id="52" name="Group 51">
            <a:extLst>
              <a:ext uri="{FF2B5EF4-FFF2-40B4-BE49-F238E27FC236}">
                <a16:creationId xmlns:a16="http://schemas.microsoft.com/office/drawing/2014/main" id="{9A3D0B60-69D9-DC2F-4721-FE83268556DD}"/>
              </a:ext>
            </a:extLst>
          </p:cNvPr>
          <p:cNvGrpSpPr/>
          <p:nvPr/>
        </p:nvGrpSpPr>
        <p:grpSpPr>
          <a:xfrm>
            <a:off x="1780193" y="2158738"/>
            <a:ext cx="8683516" cy="2121031"/>
            <a:chOff x="1780193" y="2158738"/>
            <a:chExt cx="8683516" cy="2121031"/>
          </a:xfrm>
        </p:grpSpPr>
        <p:sp>
          <p:nvSpPr>
            <p:cNvPr id="45" name="Arrow: Circular 44">
              <a:extLst>
                <a:ext uri="{FF2B5EF4-FFF2-40B4-BE49-F238E27FC236}">
                  <a16:creationId xmlns:a16="http://schemas.microsoft.com/office/drawing/2014/main" id="{2CFEF355-8006-4D82-3078-BC9CD6A2E12D}"/>
                </a:ext>
              </a:extLst>
            </p:cNvPr>
            <p:cNvSpPr/>
            <p:nvPr/>
          </p:nvSpPr>
          <p:spPr>
            <a:xfrm>
              <a:off x="3870000" y="2158738"/>
              <a:ext cx="2089549" cy="1987265"/>
            </a:xfrm>
            <a:prstGeom prst="circularArrow">
              <a:avLst>
                <a:gd name="adj1" fmla="val 1673"/>
                <a:gd name="adj2" fmla="val 198984"/>
                <a:gd name="adj3" fmla="val 19625505"/>
                <a:gd name="adj4" fmla="val 12575511"/>
                <a:gd name="adj5" fmla="val 1952"/>
              </a:avLst>
            </a:prstGeom>
            <a:gradFill>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effectLst>
              <a:outerShdw blurRad="57150" dist="19050" dir="5400000" algn="tl" rotWithShape="0">
                <a:prstClr val="black">
                  <a:alpha val="63000"/>
                </a:prstClr>
              </a:outerShdw>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GB"/>
            </a:p>
          </p:txBody>
        </p:sp>
        <p:sp>
          <p:nvSpPr>
            <p:cNvPr id="49" name="Arrow: Circular 48">
              <a:extLst>
                <a:ext uri="{FF2B5EF4-FFF2-40B4-BE49-F238E27FC236}">
                  <a16:creationId xmlns:a16="http://schemas.microsoft.com/office/drawing/2014/main" id="{D01028E1-EA3B-77B3-829D-CD2A468169D3}"/>
                </a:ext>
              </a:extLst>
            </p:cNvPr>
            <p:cNvSpPr/>
            <p:nvPr/>
          </p:nvSpPr>
          <p:spPr>
            <a:xfrm>
              <a:off x="1780193" y="2158738"/>
              <a:ext cx="2089549" cy="1987265"/>
            </a:xfrm>
            <a:prstGeom prst="circularArrow">
              <a:avLst>
                <a:gd name="adj1" fmla="val 1673"/>
                <a:gd name="adj2" fmla="val 198984"/>
                <a:gd name="adj3" fmla="val 19625505"/>
                <a:gd name="adj4" fmla="val 12575511"/>
                <a:gd name="adj5" fmla="val 1952"/>
              </a:avLst>
            </a:prstGeom>
            <a:gradFill>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effectLst>
              <a:outerShdw blurRad="57150" dist="19050" dir="5400000" algn="tl" rotWithShape="0">
                <a:prstClr val="black">
                  <a:alpha val="63000"/>
                </a:prstClr>
              </a:outerShdw>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GB"/>
            </a:p>
          </p:txBody>
        </p:sp>
        <p:sp>
          <p:nvSpPr>
            <p:cNvPr id="50" name="Arrow: Circular 49">
              <a:extLst>
                <a:ext uri="{FF2B5EF4-FFF2-40B4-BE49-F238E27FC236}">
                  <a16:creationId xmlns:a16="http://schemas.microsoft.com/office/drawing/2014/main" id="{7E5CBC01-955A-AB4E-4BFE-8999F723D1FE}"/>
                </a:ext>
              </a:extLst>
            </p:cNvPr>
            <p:cNvSpPr/>
            <p:nvPr/>
          </p:nvSpPr>
          <p:spPr>
            <a:xfrm>
              <a:off x="5958000" y="2158738"/>
              <a:ext cx="2089549" cy="1987265"/>
            </a:xfrm>
            <a:prstGeom prst="circularArrow">
              <a:avLst>
                <a:gd name="adj1" fmla="val 1673"/>
                <a:gd name="adj2" fmla="val 198984"/>
                <a:gd name="adj3" fmla="val 19625505"/>
                <a:gd name="adj4" fmla="val 12575511"/>
                <a:gd name="adj5" fmla="val 1952"/>
              </a:avLst>
            </a:prstGeom>
            <a:gradFill>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effectLst>
              <a:outerShdw blurRad="57150" dist="19050" dir="5400000" algn="tl" rotWithShape="0">
                <a:prstClr val="black">
                  <a:alpha val="63000"/>
                </a:prstClr>
              </a:outerShdw>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GB"/>
            </a:p>
          </p:txBody>
        </p:sp>
        <p:sp>
          <p:nvSpPr>
            <p:cNvPr id="51" name="Arrow: Circular 50">
              <a:extLst>
                <a:ext uri="{FF2B5EF4-FFF2-40B4-BE49-F238E27FC236}">
                  <a16:creationId xmlns:a16="http://schemas.microsoft.com/office/drawing/2014/main" id="{116C6DEE-78FF-B323-AB00-654926A13ECB}"/>
                </a:ext>
              </a:extLst>
            </p:cNvPr>
            <p:cNvSpPr/>
            <p:nvPr/>
          </p:nvSpPr>
          <p:spPr>
            <a:xfrm>
              <a:off x="8139486" y="2158738"/>
              <a:ext cx="2324223" cy="2121031"/>
            </a:xfrm>
            <a:prstGeom prst="circularArrow">
              <a:avLst>
                <a:gd name="adj1" fmla="val 1673"/>
                <a:gd name="adj2" fmla="val 198984"/>
                <a:gd name="adj3" fmla="val 19625505"/>
                <a:gd name="adj4" fmla="val 12575511"/>
                <a:gd name="adj5" fmla="val 1952"/>
              </a:avLst>
            </a:prstGeom>
            <a:gradFill>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effectLst>
              <a:outerShdw blurRad="57150" dist="19050" dir="5400000" algn="tl" rotWithShape="0">
                <a:prstClr val="black">
                  <a:alpha val="63000"/>
                </a:prstClr>
              </a:outerShdw>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GB"/>
            </a:p>
          </p:txBody>
        </p:sp>
      </p:grpSp>
      <p:sp>
        <p:nvSpPr>
          <p:cNvPr id="53" name="TextBox 52">
            <a:extLst>
              <a:ext uri="{FF2B5EF4-FFF2-40B4-BE49-F238E27FC236}">
                <a16:creationId xmlns:a16="http://schemas.microsoft.com/office/drawing/2014/main" id="{D34DF493-D4D3-3D51-7D20-88FAB5EA7F71}"/>
              </a:ext>
            </a:extLst>
          </p:cNvPr>
          <p:cNvSpPr txBox="1"/>
          <p:nvPr/>
        </p:nvSpPr>
        <p:spPr>
          <a:xfrm>
            <a:off x="4845782" y="4593566"/>
            <a:ext cx="2592371" cy="369332"/>
          </a:xfrm>
          <a:prstGeom prst="rect">
            <a:avLst/>
          </a:prstGeom>
          <a:noFill/>
        </p:spPr>
        <p:txBody>
          <a:bodyPr wrap="square" rtlCol="0">
            <a:spAutoFit/>
          </a:bodyPr>
          <a:lstStyle/>
          <a:p>
            <a:pPr algn="l"/>
            <a:r>
              <a:rPr lang="da-DK" dirty="0" err="1">
                <a:solidFill>
                  <a:srgbClr val="666666"/>
                </a:solidFill>
              </a:rPr>
              <a:t>Threshold</a:t>
            </a:r>
            <a:r>
              <a:rPr lang="da-DK" dirty="0">
                <a:solidFill>
                  <a:srgbClr val="666666"/>
                </a:solidFill>
              </a:rPr>
              <a:t> not </a:t>
            </a:r>
            <a:r>
              <a:rPr lang="da-DK" dirty="0" err="1">
                <a:solidFill>
                  <a:srgbClr val="666666"/>
                </a:solidFill>
              </a:rPr>
              <a:t>reached</a:t>
            </a:r>
            <a:endParaRPr lang="en-GB" dirty="0">
              <a:solidFill>
                <a:srgbClr val="666666"/>
              </a:solidFill>
            </a:endParaRPr>
          </a:p>
        </p:txBody>
      </p:sp>
      <p:sp>
        <p:nvSpPr>
          <p:cNvPr id="54" name="TextBox 53">
            <a:extLst>
              <a:ext uri="{FF2B5EF4-FFF2-40B4-BE49-F238E27FC236}">
                <a16:creationId xmlns:a16="http://schemas.microsoft.com/office/drawing/2014/main" id="{3E1B5A91-B5F2-8680-2FF7-9D4DB18D4761}"/>
              </a:ext>
            </a:extLst>
          </p:cNvPr>
          <p:cNvSpPr txBox="1"/>
          <p:nvPr/>
        </p:nvSpPr>
        <p:spPr>
          <a:xfrm>
            <a:off x="8266168" y="1751790"/>
            <a:ext cx="2070858" cy="369332"/>
          </a:xfrm>
          <a:prstGeom prst="rect">
            <a:avLst/>
          </a:prstGeom>
          <a:noFill/>
        </p:spPr>
        <p:txBody>
          <a:bodyPr wrap="square" rtlCol="0">
            <a:spAutoFit/>
          </a:bodyPr>
          <a:lstStyle/>
          <a:p>
            <a:pPr algn="l"/>
            <a:r>
              <a:rPr lang="da-DK" dirty="0" err="1">
                <a:solidFill>
                  <a:srgbClr val="666666"/>
                </a:solidFill>
              </a:rPr>
              <a:t>Threshold</a:t>
            </a:r>
            <a:r>
              <a:rPr lang="da-DK" dirty="0">
                <a:solidFill>
                  <a:srgbClr val="666666"/>
                </a:solidFill>
              </a:rPr>
              <a:t> </a:t>
            </a:r>
            <a:r>
              <a:rPr lang="da-DK" dirty="0" err="1">
                <a:solidFill>
                  <a:srgbClr val="666666"/>
                </a:solidFill>
              </a:rPr>
              <a:t>reached</a:t>
            </a:r>
            <a:endParaRPr lang="en-GB" dirty="0">
              <a:solidFill>
                <a:srgbClr val="666666"/>
              </a:solidFill>
            </a:endParaRPr>
          </a:p>
        </p:txBody>
      </p:sp>
    </p:spTree>
    <p:extLst>
      <p:ext uri="{BB962C8B-B14F-4D97-AF65-F5344CB8AC3E}">
        <p14:creationId xmlns:p14="http://schemas.microsoft.com/office/powerpoint/2010/main" val="4179379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7EC53-9E66-9597-8DCB-15CFECF0D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80D0C-3314-5128-8F4A-BCA841FCA10F}"/>
              </a:ext>
            </a:extLst>
          </p:cNvPr>
          <p:cNvSpPr>
            <a:spLocks noGrp="1"/>
          </p:cNvSpPr>
          <p:nvPr>
            <p:ph type="title"/>
          </p:nvPr>
        </p:nvSpPr>
        <p:spPr>
          <a:xfrm>
            <a:off x="1103709" y="265373"/>
            <a:ext cx="9360000" cy="1181687"/>
          </a:xfrm>
        </p:spPr>
        <p:txBody>
          <a:bodyPr/>
          <a:lstStyle/>
          <a:p>
            <a:r>
              <a:rPr lang="en-GB" sz="3600" dirty="0"/>
              <a:t>The </a:t>
            </a:r>
            <a:r>
              <a:rPr lang="en-GB" sz="3600" i="1" dirty="0"/>
              <a:t>model</a:t>
            </a:r>
            <a:r>
              <a:rPr lang="en-GB" sz="3600" dirty="0"/>
              <a:t> is a mathematical function that describes what we </a:t>
            </a:r>
            <a:r>
              <a:rPr lang="en-GB" sz="3600" i="1" dirty="0"/>
              <a:t>think</a:t>
            </a:r>
            <a:r>
              <a:rPr lang="en-GB" sz="3600" dirty="0"/>
              <a:t> our system looks like</a:t>
            </a:r>
          </a:p>
        </p:txBody>
      </p:sp>
      <p:sp>
        <p:nvSpPr>
          <p:cNvPr id="4" name="Slide Number Placeholder 3">
            <a:extLst>
              <a:ext uri="{FF2B5EF4-FFF2-40B4-BE49-F238E27FC236}">
                <a16:creationId xmlns:a16="http://schemas.microsoft.com/office/drawing/2014/main" id="{A2A223C0-9369-3057-75C8-F411ED5A3052}"/>
              </a:ext>
            </a:extLst>
          </p:cNvPr>
          <p:cNvSpPr>
            <a:spLocks noGrp="1"/>
          </p:cNvSpPr>
          <p:nvPr>
            <p:ph type="sldNum" sz="quarter" idx="12"/>
          </p:nvPr>
        </p:nvSpPr>
        <p:spPr/>
        <p:txBody>
          <a:bodyPr/>
          <a:lstStyle/>
          <a:p>
            <a:fld id="{F7283078-D760-1647-8B80-66BA8B52336D}" type="slidenum">
              <a:rPr lang="en-GB" smtClean="0"/>
              <a:t>6</a:t>
            </a:fld>
            <a:endParaRPr lang="en-GB"/>
          </a:p>
        </p:txBody>
      </p:sp>
      <p:sp>
        <p:nvSpPr>
          <p:cNvPr id="8" name="Date Placeholder 7">
            <a:extLst>
              <a:ext uri="{FF2B5EF4-FFF2-40B4-BE49-F238E27FC236}">
                <a16:creationId xmlns:a16="http://schemas.microsoft.com/office/drawing/2014/main" id="{86320031-624E-C408-0576-E6E407E21FDC}"/>
              </a:ext>
            </a:extLst>
          </p:cNvPr>
          <p:cNvSpPr>
            <a:spLocks noGrp="1"/>
          </p:cNvSpPr>
          <p:nvPr>
            <p:ph type="dt" sz="half" idx="10"/>
          </p:nvPr>
        </p:nvSpPr>
        <p:spPr/>
        <p:txBody>
          <a:bodyPr/>
          <a:lstStyle/>
          <a:p>
            <a:fld id="{18896B66-0B3A-474C-9C9C-E4F07B1F5DAD}" type="datetime1">
              <a:rPr lang="en-GB" smtClean="0"/>
              <a:t>26/08/2026</a:t>
            </a:fld>
            <a:endParaRPr lang="en-GB"/>
          </a:p>
        </p:txBody>
      </p:sp>
      <p:graphicFrame>
        <p:nvGraphicFramePr>
          <p:cNvPr id="11" name="Chart 10">
            <a:extLst>
              <a:ext uri="{FF2B5EF4-FFF2-40B4-BE49-F238E27FC236}">
                <a16:creationId xmlns:a16="http://schemas.microsoft.com/office/drawing/2014/main" id="{4C9B9859-637E-7283-2A5A-3A8C1DE89B53}"/>
              </a:ext>
            </a:extLst>
          </p:cNvPr>
          <p:cNvGraphicFramePr/>
          <p:nvPr>
            <p:extLst>
              <p:ext uri="{D42A27DB-BD31-4B8C-83A1-F6EECF244321}">
                <p14:modId xmlns:p14="http://schemas.microsoft.com/office/powerpoint/2010/main" val="2462120063"/>
              </p:ext>
            </p:extLst>
          </p:nvPr>
        </p:nvGraphicFramePr>
        <p:xfrm>
          <a:off x="2032000" y="1348033"/>
          <a:ext cx="7630474" cy="479030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5EC14B-22AD-4DEA-4BF0-423DAC79EAE1}"/>
                  </a:ext>
                </a:extLst>
              </p:cNvPr>
              <p:cNvSpPr txBox="1"/>
              <p:nvPr/>
            </p:nvSpPr>
            <p:spPr>
              <a:xfrm>
                <a:off x="6305553" y="3429000"/>
                <a:ext cx="1336648" cy="553998"/>
              </a:xfrm>
              <a:prstGeom prst="rect">
                <a:avLst/>
              </a:prstGeom>
              <a:noFill/>
            </p:spPr>
            <p:txBody>
              <a:bodyPr wrap="none" lIns="0" tIns="0" rIns="0" bIns="0" rtlCol="0">
                <a:spAutoFit/>
              </a:bodyPr>
              <a:lstStyle/>
              <a:p>
                <a:pPr algn="l"/>
                <a14:m>
                  <m:oMathPara xmlns:m="http://schemas.openxmlformats.org/officeDocument/2006/math">
                    <m:oMath>
                      <m:r>
                        <a:rPr lang="da-DK" b="0" i="1" smtClean="0">
                          <a:solidFill>
                            <a:srgbClr val="0099DC"/>
                          </a:solidFill>
                          <a:latin typeface="Cambria Math" panose="02040503050406030204" pitchFamily="18" charset="0"/>
                        </a:rPr>
                        <m:t>𝑦</m:t>
                      </m:r>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𝑚𝑥</m:t>
                      </m:r>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𝑐</m:t>
                      </m:r>
                    </m:oMath>
                  </m:oMathPara>
                </a14:m>
                <a:endParaRPr lang="da-DK" b="0" i="1" dirty="0">
                  <a:solidFill>
                    <a:srgbClr val="0099DC"/>
                  </a:solidFill>
                  <a:latin typeface="Cambria Math" panose="02040503050406030204" pitchFamily="18" charset="0"/>
                </a:endParaRPr>
              </a:p>
              <a:p>
                <a:pPr algn="l"/>
                <a14:m>
                  <m:oMathPara xmlns:m="http://schemas.openxmlformats.org/officeDocument/2006/math">
                    <m:oMath>
                      <m:r>
                        <a:rPr lang="da-DK" b="0" i="1" smtClean="0">
                          <a:solidFill>
                            <a:srgbClr val="0099DC"/>
                          </a:solidFill>
                          <a:latin typeface="Cambria Math" panose="02040503050406030204" pitchFamily="18" charset="0"/>
                        </a:rPr>
                        <m:t>𝑦</m:t>
                      </m:r>
                      <m:r>
                        <a:rPr lang="da-DK" b="0" i="1" smtClean="0">
                          <a:solidFill>
                            <a:srgbClr val="0099DC"/>
                          </a:solidFill>
                          <a:latin typeface="Cambria Math" panose="02040503050406030204" pitchFamily="18" charset="0"/>
                        </a:rPr>
                        <m:t>=2.5</m:t>
                      </m:r>
                      <m:r>
                        <a:rPr lang="da-DK" b="0" i="1" smtClean="0">
                          <a:solidFill>
                            <a:srgbClr val="0099DC"/>
                          </a:solidFill>
                          <a:latin typeface="Cambria Math" panose="02040503050406030204" pitchFamily="18" charset="0"/>
                        </a:rPr>
                        <m:t>𝑥</m:t>
                      </m:r>
                      <m:r>
                        <a:rPr lang="da-DK" b="0" i="1" smtClean="0">
                          <a:solidFill>
                            <a:srgbClr val="0099DC"/>
                          </a:solidFill>
                          <a:latin typeface="Cambria Math" panose="02040503050406030204" pitchFamily="18" charset="0"/>
                        </a:rPr>
                        <m:t>+1</m:t>
                      </m:r>
                    </m:oMath>
                  </m:oMathPara>
                </a14:m>
                <a:endParaRPr lang="en-GB" dirty="0">
                  <a:solidFill>
                    <a:srgbClr val="0099DC"/>
                  </a:solidFill>
                </a:endParaRPr>
              </a:p>
            </p:txBody>
          </p:sp>
        </mc:Choice>
        <mc:Fallback xmlns="">
          <p:sp>
            <p:nvSpPr>
              <p:cNvPr id="12" name="TextBox 11">
                <a:extLst>
                  <a:ext uri="{FF2B5EF4-FFF2-40B4-BE49-F238E27FC236}">
                    <a16:creationId xmlns:a16="http://schemas.microsoft.com/office/drawing/2014/main" id="{EB5EC14B-22AD-4DEA-4BF0-423DAC79EAE1}"/>
                  </a:ext>
                </a:extLst>
              </p:cNvPr>
              <p:cNvSpPr txBox="1">
                <a:spLocks noRot="1" noChangeAspect="1" noMove="1" noResize="1" noEditPoints="1" noAdjustHandles="1" noChangeArrowheads="1" noChangeShapeType="1" noTextEdit="1"/>
              </p:cNvSpPr>
              <p:nvPr/>
            </p:nvSpPr>
            <p:spPr>
              <a:xfrm>
                <a:off x="6305553" y="3429000"/>
                <a:ext cx="1336648" cy="553998"/>
              </a:xfrm>
              <a:prstGeom prst="rect">
                <a:avLst/>
              </a:prstGeom>
              <a:blipFill>
                <a:blip r:embed="rId4"/>
                <a:stretch>
                  <a:fillRect l="-3636" r="-3182" b="-14444"/>
                </a:stretch>
              </a:blipFill>
            </p:spPr>
            <p:txBody>
              <a:bodyPr/>
              <a:lstStyle/>
              <a:p>
                <a:r>
                  <a:rPr lang="en-GB">
                    <a:noFill/>
                  </a:rPr>
                  <a:t> </a:t>
                </a:r>
              </a:p>
            </p:txBody>
          </p:sp>
        </mc:Fallback>
      </mc:AlternateContent>
    </p:spTree>
    <p:extLst>
      <p:ext uri="{BB962C8B-B14F-4D97-AF65-F5344CB8AC3E}">
        <p14:creationId xmlns:p14="http://schemas.microsoft.com/office/powerpoint/2010/main" val="766219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43000"/>
          </a:schemeClr>
        </a:solidFill>
        <a:effectLst/>
      </p:bgPr>
    </p:bg>
    <p:spTree>
      <p:nvGrpSpPr>
        <p:cNvPr id="1" name="">
          <a:extLst>
            <a:ext uri="{FF2B5EF4-FFF2-40B4-BE49-F238E27FC236}">
              <a16:creationId xmlns:a16="http://schemas.microsoft.com/office/drawing/2014/main" id="{03788C07-CAF4-0D2A-6ED6-30583DB97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F9C3D-54EB-1153-BA55-5C62289129A3}"/>
              </a:ext>
            </a:extLst>
          </p:cNvPr>
          <p:cNvSpPr>
            <a:spLocks noGrp="1"/>
          </p:cNvSpPr>
          <p:nvPr>
            <p:ph type="title"/>
          </p:nvPr>
        </p:nvSpPr>
        <p:spPr>
          <a:xfrm>
            <a:off x="1103709" y="265373"/>
            <a:ext cx="9360000" cy="1181687"/>
          </a:xfrm>
        </p:spPr>
        <p:txBody>
          <a:bodyPr/>
          <a:lstStyle/>
          <a:p>
            <a:r>
              <a:rPr lang="en-GB" sz="3600" dirty="0"/>
              <a:t>The </a:t>
            </a:r>
            <a:r>
              <a:rPr lang="en-GB" sz="3600" i="1" dirty="0"/>
              <a:t>model</a:t>
            </a:r>
            <a:r>
              <a:rPr lang="en-GB" sz="3600" dirty="0"/>
              <a:t> is a mathematical function that describes what we </a:t>
            </a:r>
            <a:r>
              <a:rPr lang="en-GB" sz="3600" i="1" dirty="0"/>
              <a:t>think</a:t>
            </a:r>
            <a:r>
              <a:rPr lang="en-GB" sz="3600" dirty="0"/>
              <a:t> our system looks like</a:t>
            </a:r>
          </a:p>
        </p:txBody>
      </p:sp>
      <p:sp>
        <p:nvSpPr>
          <p:cNvPr id="4" name="Slide Number Placeholder 3">
            <a:extLst>
              <a:ext uri="{FF2B5EF4-FFF2-40B4-BE49-F238E27FC236}">
                <a16:creationId xmlns:a16="http://schemas.microsoft.com/office/drawing/2014/main" id="{42D5C735-F482-5BFA-983F-8EECB939B3E4}"/>
              </a:ext>
            </a:extLst>
          </p:cNvPr>
          <p:cNvSpPr>
            <a:spLocks noGrp="1"/>
          </p:cNvSpPr>
          <p:nvPr>
            <p:ph type="sldNum" sz="quarter" idx="12"/>
          </p:nvPr>
        </p:nvSpPr>
        <p:spPr/>
        <p:txBody>
          <a:bodyPr/>
          <a:lstStyle/>
          <a:p>
            <a:fld id="{F7283078-D760-1647-8B80-66BA8B52336D}" type="slidenum">
              <a:rPr lang="en-GB" smtClean="0"/>
              <a:t>7</a:t>
            </a:fld>
            <a:endParaRPr lang="en-GB"/>
          </a:p>
        </p:txBody>
      </p:sp>
      <p:sp>
        <p:nvSpPr>
          <p:cNvPr id="8" name="Date Placeholder 7">
            <a:extLst>
              <a:ext uri="{FF2B5EF4-FFF2-40B4-BE49-F238E27FC236}">
                <a16:creationId xmlns:a16="http://schemas.microsoft.com/office/drawing/2014/main" id="{31BDC986-F74A-832B-985A-2016FDF1F512}"/>
              </a:ext>
            </a:extLst>
          </p:cNvPr>
          <p:cNvSpPr>
            <a:spLocks noGrp="1"/>
          </p:cNvSpPr>
          <p:nvPr>
            <p:ph type="dt" sz="half" idx="10"/>
          </p:nvPr>
        </p:nvSpPr>
        <p:spPr/>
        <p:txBody>
          <a:bodyPr/>
          <a:lstStyle/>
          <a:p>
            <a:fld id="{18896B66-0B3A-474C-9C9C-E4F07B1F5DAD}" type="datetime1">
              <a:rPr lang="en-GB" smtClean="0"/>
              <a:t>26/08/2026</a:t>
            </a:fld>
            <a:endParaRPr lang="en-GB"/>
          </a:p>
        </p:txBody>
      </p:sp>
      <p:sp>
        <p:nvSpPr>
          <p:cNvPr id="5" name="Rectangle: Rounded Corners 4">
            <a:extLst>
              <a:ext uri="{FF2B5EF4-FFF2-40B4-BE49-F238E27FC236}">
                <a16:creationId xmlns:a16="http://schemas.microsoft.com/office/drawing/2014/main" id="{70D89494-1634-AB70-5CAE-019941B42408}"/>
              </a:ext>
            </a:extLst>
          </p:cNvPr>
          <p:cNvSpPr/>
          <p:nvPr/>
        </p:nvSpPr>
        <p:spPr>
          <a:xfrm>
            <a:off x="2900101" y="2224440"/>
            <a:ext cx="5835191" cy="2114410"/>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GB" sz="2400" b="0" dirty="0">
                <a:solidFill>
                  <a:schemeClr val="bg1"/>
                </a:solidFill>
                <a:effectLst/>
                <a:latin typeface="Consolas" panose="020B0609020204030204" pitchFamily="49" charset="0"/>
              </a:rPr>
              <a:t>m = </a:t>
            </a:r>
            <a:r>
              <a:rPr lang="en-GB" sz="2400" b="0" dirty="0">
                <a:solidFill>
                  <a:srgbClr val="B5CEA8"/>
                </a:solidFill>
                <a:effectLst/>
                <a:latin typeface="Consolas" panose="020B0609020204030204" pitchFamily="49" charset="0"/>
              </a:rPr>
              <a:t>2.5</a:t>
            </a:r>
            <a:endParaRPr lang="en-GB" sz="2400" b="0" dirty="0">
              <a:solidFill>
                <a:srgbClr val="BBBEBF"/>
              </a:solidFill>
              <a:effectLst/>
              <a:latin typeface="Consolas" panose="020B0609020204030204" pitchFamily="49" charset="0"/>
            </a:endParaRPr>
          </a:p>
          <a:p>
            <a:pPr>
              <a:buNone/>
            </a:pPr>
            <a:r>
              <a:rPr lang="en-GB" sz="2400" b="0" dirty="0">
                <a:solidFill>
                  <a:schemeClr val="bg1"/>
                </a:solidFill>
                <a:effectLst/>
                <a:latin typeface="Consolas" panose="020B0609020204030204" pitchFamily="49" charset="0"/>
              </a:rPr>
              <a:t>c = </a:t>
            </a:r>
            <a:r>
              <a:rPr lang="en-GB" sz="2400" b="0" dirty="0">
                <a:solidFill>
                  <a:srgbClr val="B5CEA8"/>
                </a:solidFill>
                <a:effectLst/>
                <a:latin typeface="Consolas" panose="020B0609020204030204" pitchFamily="49" charset="0"/>
              </a:rPr>
              <a:t>1</a:t>
            </a:r>
            <a:endParaRPr lang="en-GB" sz="2400" b="0" dirty="0">
              <a:solidFill>
                <a:srgbClr val="BBBEBF"/>
              </a:solidFill>
              <a:effectLst/>
              <a:latin typeface="Consolas" panose="020B0609020204030204" pitchFamily="49" charset="0"/>
            </a:endParaRPr>
          </a:p>
          <a:p>
            <a:pPr>
              <a:buNone/>
            </a:pPr>
            <a:endParaRPr lang="en-GB" sz="2400" b="0" dirty="0">
              <a:solidFill>
                <a:srgbClr val="BBBEBF"/>
              </a:solidFill>
              <a:effectLst/>
              <a:latin typeface="Consolas" panose="020B0609020204030204" pitchFamily="49" charset="0"/>
            </a:endParaRPr>
          </a:p>
          <a:p>
            <a:pPr>
              <a:buNone/>
            </a:pPr>
            <a:r>
              <a:rPr lang="en-GB" sz="2400" b="0" dirty="0">
                <a:solidFill>
                  <a:srgbClr val="FF7B72"/>
                </a:solidFill>
                <a:effectLst/>
                <a:latin typeface="Consolas" panose="020B0609020204030204" pitchFamily="49" charset="0"/>
              </a:rPr>
              <a:t>def</a:t>
            </a:r>
            <a:r>
              <a:rPr lang="en-GB" sz="2400" b="0" dirty="0">
                <a:solidFill>
                  <a:srgbClr val="BBBEBF"/>
                </a:solidFill>
                <a:effectLst/>
                <a:latin typeface="Consolas" panose="020B0609020204030204" pitchFamily="49" charset="0"/>
              </a:rPr>
              <a:t> </a:t>
            </a:r>
            <a:r>
              <a:rPr lang="en-GB" sz="2400" b="0" dirty="0">
                <a:solidFill>
                  <a:srgbClr val="D2A8FF"/>
                </a:solidFill>
                <a:effectLst/>
                <a:latin typeface="Consolas" panose="020B0609020204030204" pitchFamily="49" charset="0"/>
              </a:rPr>
              <a:t>my_model</a:t>
            </a:r>
            <a:r>
              <a:rPr lang="en-GB" sz="2400" b="0" dirty="0">
                <a:solidFill>
                  <a:schemeClr val="bg1"/>
                </a:solidFill>
                <a:effectLst/>
                <a:latin typeface="Consolas" panose="020B0609020204030204" pitchFamily="49" charset="0"/>
              </a:rPr>
              <a:t>(</a:t>
            </a:r>
            <a:r>
              <a:rPr lang="en-GB" sz="2400" b="0" dirty="0">
                <a:solidFill>
                  <a:srgbClr val="FFA657"/>
                </a:solidFill>
                <a:effectLst/>
                <a:latin typeface="Consolas" panose="020B0609020204030204" pitchFamily="49" charset="0"/>
              </a:rPr>
              <a:t>x</a:t>
            </a:r>
            <a:r>
              <a:rPr lang="en-GB" sz="2400" b="0" dirty="0">
                <a:solidFill>
                  <a:schemeClr val="bg1"/>
                </a:solidFill>
                <a:effectLst/>
                <a:latin typeface="Consolas" panose="020B0609020204030204" pitchFamily="49" charset="0"/>
              </a:rPr>
              <a:t>):</a:t>
            </a:r>
          </a:p>
          <a:p>
            <a:pPr>
              <a:buNone/>
            </a:pPr>
            <a:r>
              <a:rPr lang="en-GB" sz="2400" b="0" dirty="0">
                <a:solidFill>
                  <a:srgbClr val="BBBEBF"/>
                </a:solidFill>
                <a:effectLst/>
                <a:latin typeface="Consolas" panose="020B0609020204030204" pitchFamily="49" charset="0"/>
              </a:rPr>
              <a:t>    </a:t>
            </a:r>
            <a:r>
              <a:rPr lang="en-GB" sz="2400" b="0" dirty="0">
                <a:solidFill>
                  <a:srgbClr val="C586C0"/>
                </a:solidFill>
                <a:effectLst/>
                <a:latin typeface="Consolas" panose="020B0609020204030204" pitchFamily="49" charset="0"/>
              </a:rPr>
              <a:t>return</a:t>
            </a:r>
            <a:r>
              <a:rPr lang="en-GB" sz="2400" b="0" dirty="0">
                <a:solidFill>
                  <a:srgbClr val="BBBEBF"/>
                </a:solidFill>
                <a:effectLst/>
                <a:latin typeface="Consolas" panose="020B0609020204030204" pitchFamily="49" charset="0"/>
              </a:rPr>
              <a:t> </a:t>
            </a:r>
            <a:r>
              <a:rPr lang="en-GB" sz="2400" b="0" dirty="0">
                <a:solidFill>
                  <a:schemeClr val="bg1"/>
                </a:solidFill>
                <a:effectLst/>
                <a:latin typeface="Consolas" panose="020B0609020204030204" pitchFamily="49" charset="0"/>
              </a:rPr>
              <a:t>m *</a:t>
            </a:r>
            <a:r>
              <a:rPr lang="en-GB" sz="2400" b="0" dirty="0">
                <a:solidFill>
                  <a:srgbClr val="BBBEBF"/>
                </a:solidFill>
                <a:effectLst/>
                <a:latin typeface="Consolas" panose="020B0609020204030204" pitchFamily="49" charset="0"/>
              </a:rPr>
              <a:t> </a:t>
            </a:r>
            <a:r>
              <a:rPr lang="en-GB" sz="2400" b="0" dirty="0">
                <a:solidFill>
                  <a:srgbClr val="FFA657"/>
                </a:solidFill>
                <a:effectLst/>
                <a:latin typeface="Consolas" panose="020B0609020204030204" pitchFamily="49" charset="0"/>
              </a:rPr>
              <a:t>x</a:t>
            </a:r>
            <a:r>
              <a:rPr lang="en-GB" sz="2400" b="0" dirty="0">
                <a:solidFill>
                  <a:srgbClr val="BBBEBF"/>
                </a:solidFill>
                <a:effectLst/>
                <a:latin typeface="Consolas" panose="020B0609020204030204" pitchFamily="49" charset="0"/>
              </a:rPr>
              <a:t> </a:t>
            </a:r>
            <a:r>
              <a:rPr lang="en-GB" sz="2400" b="0" dirty="0">
                <a:solidFill>
                  <a:schemeClr val="bg1"/>
                </a:solidFill>
                <a:effectLst/>
                <a:latin typeface="Consolas" panose="020B0609020204030204" pitchFamily="49" charset="0"/>
              </a:rPr>
              <a:t>+ c</a:t>
            </a:r>
          </a:p>
        </p:txBody>
      </p:sp>
    </p:spTree>
    <p:extLst>
      <p:ext uri="{BB962C8B-B14F-4D97-AF65-F5344CB8AC3E}">
        <p14:creationId xmlns:p14="http://schemas.microsoft.com/office/powerpoint/2010/main" val="295165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CDB0E-0B92-E99A-AF39-3C257DC4A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E289C-5AB2-7B9C-7EB7-CE244321A8A8}"/>
              </a:ext>
            </a:extLst>
          </p:cNvPr>
          <p:cNvSpPr>
            <a:spLocks noGrp="1"/>
          </p:cNvSpPr>
          <p:nvPr>
            <p:ph type="title"/>
          </p:nvPr>
        </p:nvSpPr>
        <p:spPr>
          <a:xfrm>
            <a:off x="1103709" y="265373"/>
            <a:ext cx="9360000" cy="1181687"/>
          </a:xfrm>
        </p:spPr>
        <p:txBody>
          <a:bodyPr/>
          <a:lstStyle/>
          <a:p>
            <a:r>
              <a:rPr lang="en-GB" sz="3600" dirty="0"/>
              <a:t>When we make a measurement, we only ever make an estimate</a:t>
            </a:r>
          </a:p>
        </p:txBody>
      </p:sp>
      <p:sp>
        <p:nvSpPr>
          <p:cNvPr id="4" name="Slide Number Placeholder 3">
            <a:extLst>
              <a:ext uri="{FF2B5EF4-FFF2-40B4-BE49-F238E27FC236}">
                <a16:creationId xmlns:a16="http://schemas.microsoft.com/office/drawing/2014/main" id="{DC0BCDF7-D420-A956-B17F-8E19E9484057}"/>
              </a:ext>
            </a:extLst>
          </p:cNvPr>
          <p:cNvSpPr>
            <a:spLocks noGrp="1"/>
          </p:cNvSpPr>
          <p:nvPr>
            <p:ph type="sldNum" sz="quarter" idx="12"/>
          </p:nvPr>
        </p:nvSpPr>
        <p:spPr/>
        <p:txBody>
          <a:bodyPr/>
          <a:lstStyle/>
          <a:p>
            <a:fld id="{F7283078-D760-1647-8B80-66BA8B52336D}" type="slidenum">
              <a:rPr lang="en-GB" smtClean="0"/>
              <a:t>8</a:t>
            </a:fld>
            <a:endParaRPr lang="en-GB"/>
          </a:p>
        </p:txBody>
      </p:sp>
      <p:sp>
        <p:nvSpPr>
          <p:cNvPr id="8" name="Date Placeholder 7">
            <a:extLst>
              <a:ext uri="{FF2B5EF4-FFF2-40B4-BE49-F238E27FC236}">
                <a16:creationId xmlns:a16="http://schemas.microsoft.com/office/drawing/2014/main" id="{26A67258-FC5F-65AF-077F-EB971B1E6C5C}"/>
              </a:ext>
            </a:extLst>
          </p:cNvPr>
          <p:cNvSpPr>
            <a:spLocks noGrp="1"/>
          </p:cNvSpPr>
          <p:nvPr>
            <p:ph type="dt" sz="half" idx="10"/>
          </p:nvPr>
        </p:nvSpPr>
        <p:spPr/>
        <p:txBody>
          <a:bodyPr/>
          <a:lstStyle/>
          <a:p>
            <a:fld id="{18896B66-0B3A-474C-9C9C-E4F07B1F5DAD}" type="datetime1">
              <a:rPr lang="en-GB" smtClean="0"/>
              <a:t>26/08/2026</a:t>
            </a:fld>
            <a:endParaRPr lang="en-GB"/>
          </a:p>
        </p:txBody>
      </p:sp>
      <p:pic>
        <p:nvPicPr>
          <p:cNvPr id="3" name="Picture 2">
            <a:extLst>
              <a:ext uri="{FF2B5EF4-FFF2-40B4-BE49-F238E27FC236}">
                <a16:creationId xmlns:a16="http://schemas.microsoft.com/office/drawing/2014/main" id="{18CC62A7-3A39-40F6-48F9-EF14B17205BB}"/>
              </a:ext>
            </a:extLst>
          </p:cNvPr>
          <p:cNvPicPr>
            <a:picLocks noChangeAspect="1"/>
          </p:cNvPicPr>
          <p:nvPr/>
        </p:nvPicPr>
        <p:blipFill>
          <a:blip r:embed="rId3"/>
          <a:stretch>
            <a:fillRect/>
          </a:stretch>
        </p:blipFill>
        <p:spPr>
          <a:xfrm>
            <a:off x="2794000" y="1663369"/>
            <a:ext cx="5978525" cy="4595592"/>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16FB89-5753-CBAD-B3E6-63A1FB19A6DF}"/>
                  </a:ext>
                </a:extLst>
              </p:cNvPr>
              <p:cNvSpPr txBox="1"/>
              <p:nvPr/>
            </p:nvSpPr>
            <p:spPr>
              <a:xfrm>
                <a:off x="6901901" y="3684166"/>
                <a:ext cx="1336648" cy="553998"/>
              </a:xfrm>
              <a:prstGeom prst="rect">
                <a:avLst/>
              </a:prstGeom>
              <a:noFill/>
            </p:spPr>
            <p:txBody>
              <a:bodyPr wrap="none" lIns="0" tIns="0" rIns="0" bIns="0" rtlCol="0">
                <a:spAutoFit/>
              </a:bodyPr>
              <a:lstStyle/>
              <a:p>
                <a:pPr algn="l"/>
                <a14:m>
                  <m:oMathPara xmlns:m="http://schemas.openxmlformats.org/officeDocument/2006/math">
                    <m:oMath>
                      <m:r>
                        <a:rPr lang="da-DK" b="0" i="1" smtClean="0">
                          <a:solidFill>
                            <a:srgbClr val="0099DC"/>
                          </a:solidFill>
                          <a:latin typeface="Cambria Math" panose="02040503050406030204" pitchFamily="18" charset="0"/>
                        </a:rPr>
                        <m:t>𝑦</m:t>
                      </m:r>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𝑚𝑥</m:t>
                      </m:r>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𝑐</m:t>
                      </m:r>
                    </m:oMath>
                  </m:oMathPara>
                </a14:m>
                <a:endParaRPr lang="da-DK" b="0" i="1" dirty="0">
                  <a:solidFill>
                    <a:srgbClr val="0099DC"/>
                  </a:solidFill>
                  <a:latin typeface="Cambria Math" panose="02040503050406030204" pitchFamily="18" charset="0"/>
                </a:endParaRPr>
              </a:p>
              <a:p>
                <a:pPr algn="l"/>
                <a14:m>
                  <m:oMathPara xmlns:m="http://schemas.openxmlformats.org/officeDocument/2006/math">
                    <m:oMath>
                      <m:r>
                        <a:rPr lang="da-DK" b="0" i="1" smtClean="0">
                          <a:solidFill>
                            <a:srgbClr val="0099DC"/>
                          </a:solidFill>
                          <a:latin typeface="Cambria Math" panose="02040503050406030204" pitchFamily="18" charset="0"/>
                        </a:rPr>
                        <m:t>𝑦</m:t>
                      </m:r>
                      <m:r>
                        <a:rPr lang="da-DK" b="0" i="1" smtClean="0">
                          <a:solidFill>
                            <a:srgbClr val="0099DC"/>
                          </a:solidFill>
                          <a:latin typeface="Cambria Math" panose="02040503050406030204" pitchFamily="18" charset="0"/>
                        </a:rPr>
                        <m:t>=2.5</m:t>
                      </m:r>
                      <m:r>
                        <a:rPr lang="da-DK" b="0" i="1" smtClean="0">
                          <a:solidFill>
                            <a:srgbClr val="0099DC"/>
                          </a:solidFill>
                          <a:latin typeface="Cambria Math" panose="02040503050406030204" pitchFamily="18" charset="0"/>
                        </a:rPr>
                        <m:t>𝑥</m:t>
                      </m:r>
                      <m:r>
                        <a:rPr lang="da-DK" b="0" i="1" smtClean="0">
                          <a:solidFill>
                            <a:srgbClr val="0099DC"/>
                          </a:solidFill>
                          <a:latin typeface="Cambria Math" panose="02040503050406030204" pitchFamily="18" charset="0"/>
                        </a:rPr>
                        <m:t>+1</m:t>
                      </m:r>
                    </m:oMath>
                  </m:oMathPara>
                </a14:m>
                <a:endParaRPr lang="en-GB" dirty="0">
                  <a:solidFill>
                    <a:srgbClr val="0099DC"/>
                  </a:solidFill>
                </a:endParaRPr>
              </a:p>
            </p:txBody>
          </p:sp>
        </mc:Choice>
        <mc:Fallback xmlns="">
          <p:sp>
            <p:nvSpPr>
              <p:cNvPr id="6" name="TextBox 5">
                <a:extLst>
                  <a:ext uri="{FF2B5EF4-FFF2-40B4-BE49-F238E27FC236}">
                    <a16:creationId xmlns:a16="http://schemas.microsoft.com/office/drawing/2014/main" id="{0716FB89-5753-CBAD-B3E6-63A1FB19A6DF}"/>
                  </a:ext>
                </a:extLst>
              </p:cNvPr>
              <p:cNvSpPr txBox="1">
                <a:spLocks noRot="1" noChangeAspect="1" noMove="1" noResize="1" noEditPoints="1" noAdjustHandles="1" noChangeArrowheads="1" noChangeShapeType="1" noTextEdit="1"/>
              </p:cNvSpPr>
              <p:nvPr/>
            </p:nvSpPr>
            <p:spPr>
              <a:xfrm>
                <a:off x="6901901" y="3684166"/>
                <a:ext cx="1336648" cy="553998"/>
              </a:xfrm>
              <a:prstGeom prst="rect">
                <a:avLst/>
              </a:prstGeom>
              <a:blipFill>
                <a:blip r:embed="rId4"/>
                <a:stretch>
                  <a:fillRect l="-3653" r="-3653" b="-14286"/>
                </a:stretch>
              </a:blipFill>
            </p:spPr>
            <p:txBody>
              <a:bodyPr/>
              <a:lstStyle/>
              <a:p>
                <a:r>
                  <a:rPr lang="en-GB">
                    <a:noFill/>
                  </a:rPr>
                  <a:t> </a:t>
                </a:r>
              </a:p>
            </p:txBody>
          </p:sp>
        </mc:Fallback>
      </mc:AlternateContent>
    </p:spTree>
    <p:extLst>
      <p:ext uri="{BB962C8B-B14F-4D97-AF65-F5344CB8AC3E}">
        <p14:creationId xmlns:p14="http://schemas.microsoft.com/office/powerpoint/2010/main" val="3166287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FDFC7-BBE7-FD0B-F280-CE7B37381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A7F34-6E31-DFC5-D3E9-DC49342AE53C}"/>
              </a:ext>
            </a:extLst>
          </p:cNvPr>
          <p:cNvSpPr>
            <a:spLocks noGrp="1"/>
          </p:cNvSpPr>
          <p:nvPr>
            <p:ph type="title"/>
          </p:nvPr>
        </p:nvSpPr>
        <p:spPr>
          <a:xfrm>
            <a:off x="1103709" y="265373"/>
            <a:ext cx="9360000" cy="1181687"/>
          </a:xfrm>
        </p:spPr>
        <p:txBody>
          <a:bodyPr/>
          <a:lstStyle/>
          <a:p>
            <a:r>
              <a:rPr lang="en-GB" sz="3600" dirty="0"/>
              <a:t>When we make a measurement, we only ever make an estimate</a:t>
            </a:r>
          </a:p>
        </p:txBody>
      </p:sp>
      <p:sp>
        <p:nvSpPr>
          <p:cNvPr id="4" name="Slide Number Placeholder 3">
            <a:extLst>
              <a:ext uri="{FF2B5EF4-FFF2-40B4-BE49-F238E27FC236}">
                <a16:creationId xmlns:a16="http://schemas.microsoft.com/office/drawing/2014/main" id="{E3BECC6F-C26F-434C-D394-79AE644AE5D9}"/>
              </a:ext>
            </a:extLst>
          </p:cNvPr>
          <p:cNvSpPr>
            <a:spLocks noGrp="1"/>
          </p:cNvSpPr>
          <p:nvPr>
            <p:ph type="sldNum" sz="quarter" idx="12"/>
          </p:nvPr>
        </p:nvSpPr>
        <p:spPr/>
        <p:txBody>
          <a:bodyPr/>
          <a:lstStyle/>
          <a:p>
            <a:fld id="{F7283078-D760-1647-8B80-66BA8B52336D}" type="slidenum">
              <a:rPr lang="en-GB" smtClean="0"/>
              <a:t>9</a:t>
            </a:fld>
            <a:endParaRPr lang="en-GB"/>
          </a:p>
        </p:txBody>
      </p:sp>
      <p:sp>
        <p:nvSpPr>
          <p:cNvPr id="8" name="Date Placeholder 7">
            <a:extLst>
              <a:ext uri="{FF2B5EF4-FFF2-40B4-BE49-F238E27FC236}">
                <a16:creationId xmlns:a16="http://schemas.microsoft.com/office/drawing/2014/main" id="{BE321F50-8F3F-1BA8-8948-3C4F81B5E2E3}"/>
              </a:ext>
            </a:extLst>
          </p:cNvPr>
          <p:cNvSpPr>
            <a:spLocks noGrp="1"/>
          </p:cNvSpPr>
          <p:nvPr>
            <p:ph type="dt" sz="half" idx="10"/>
          </p:nvPr>
        </p:nvSpPr>
        <p:spPr/>
        <p:txBody>
          <a:bodyPr/>
          <a:lstStyle/>
          <a:p>
            <a:fld id="{18896B66-0B3A-474C-9C9C-E4F07B1F5DAD}" type="datetime1">
              <a:rPr lang="en-GB" smtClean="0"/>
              <a:t>26/08/2026</a:t>
            </a:fld>
            <a:endParaRPr lang="en-GB"/>
          </a:p>
        </p:txBody>
      </p:sp>
      <p:grpSp>
        <p:nvGrpSpPr>
          <p:cNvPr id="25" name="Group 24">
            <a:extLst>
              <a:ext uri="{FF2B5EF4-FFF2-40B4-BE49-F238E27FC236}">
                <a16:creationId xmlns:a16="http://schemas.microsoft.com/office/drawing/2014/main" id="{9495DC6D-F4BD-C368-813C-DC76F1DC3284}"/>
              </a:ext>
            </a:extLst>
          </p:cNvPr>
          <p:cNvGrpSpPr/>
          <p:nvPr/>
        </p:nvGrpSpPr>
        <p:grpSpPr>
          <a:xfrm>
            <a:off x="2028305" y="3593337"/>
            <a:ext cx="8279876" cy="3064495"/>
            <a:chOff x="2261227" y="3429000"/>
            <a:chExt cx="8279876" cy="3064495"/>
          </a:xfrm>
        </p:grpSpPr>
        <p:pic>
          <p:nvPicPr>
            <p:cNvPr id="3076" name="Picture 4" descr="Free ruler metric measure vector">
              <a:extLst>
                <a:ext uri="{FF2B5EF4-FFF2-40B4-BE49-F238E27FC236}">
                  <a16:creationId xmlns:a16="http://schemas.microsoft.com/office/drawing/2014/main" id="{EC97A3E7-0332-2DB0-6F35-C736A6CA0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8361" y="3429000"/>
              <a:ext cx="8232742" cy="306449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748DD8B-C816-11E4-0BD1-CE7FC10E4E7B}"/>
                </a:ext>
              </a:extLst>
            </p:cNvPr>
            <p:cNvSpPr txBox="1"/>
            <p:nvPr/>
          </p:nvSpPr>
          <p:spPr>
            <a:xfrm>
              <a:off x="2261227" y="4961247"/>
              <a:ext cx="236876" cy="369332"/>
            </a:xfrm>
            <a:prstGeom prst="rect">
              <a:avLst/>
            </a:prstGeom>
            <a:noFill/>
          </p:spPr>
          <p:txBody>
            <a:bodyPr wrap="square" rtlCol="0">
              <a:spAutoFit/>
            </a:bodyPr>
            <a:lstStyle/>
            <a:p>
              <a:pPr algn="l"/>
              <a:r>
                <a:rPr lang="da-DK" dirty="0">
                  <a:solidFill>
                    <a:srgbClr val="666666"/>
                  </a:solidFill>
                </a:rPr>
                <a:t>0</a:t>
              </a:r>
              <a:endParaRPr lang="en-GB" dirty="0">
                <a:solidFill>
                  <a:srgbClr val="666666"/>
                </a:solidFill>
              </a:endParaRPr>
            </a:p>
          </p:txBody>
        </p:sp>
        <p:sp>
          <p:nvSpPr>
            <p:cNvPr id="5" name="TextBox 4">
              <a:extLst>
                <a:ext uri="{FF2B5EF4-FFF2-40B4-BE49-F238E27FC236}">
                  <a16:creationId xmlns:a16="http://schemas.microsoft.com/office/drawing/2014/main" id="{82F3F0AA-738E-F270-3DEC-ECAE24556A88}"/>
                </a:ext>
              </a:extLst>
            </p:cNvPr>
            <p:cNvSpPr txBox="1"/>
            <p:nvPr/>
          </p:nvSpPr>
          <p:spPr>
            <a:xfrm>
              <a:off x="2898000" y="4961247"/>
              <a:ext cx="236876" cy="369332"/>
            </a:xfrm>
            <a:prstGeom prst="rect">
              <a:avLst/>
            </a:prstGeom>
            <a:noFill/>
          </p:spPr>
          <p:txBody>
            <a:bodyPr wrap="square" rtlCol="0">
              <a:spAutoFit/>
            </a:bodyPr>
            <a:lstStyle/>
            <a:p>
              <a:pPr algn="l"/>
              <a:r>
                <a:rPr lang="da-DK" dirty="0">
                  <a:solidFill>
                    <a:srgbClr val="666666"/>
                  </a:solidFill>
                </a:rPr>
                <a:t>1</a:t>
              </a:r>
              <a:endParaRPr lang="en-GB" dirty="0">
                <a:solidFill>
                  <a:srgbClr val="666666"/>
                </a:solidFill>
              </a:endParaRPr>
            </a:p>
          </p:txBody>
        </p:sp>
        <p:sp>
          <p:nvSpPr>
            <p:cNvPr id="6" name="TextBox 5">
              <a:extLst>
                <a:ext uri="{FF2B5EF4-FFF2-40B4-BE49-F238E27FC236}">
                  <a16:creationId xmlns:a16="http://schemas.microsoft.com/office/drawing/2014/main" id="{828CDF23-F3D6-D9CD-DE44-4897325C947A}"/>
                </a:ext>
              </a:extLst>
            </p:cNvPr>
            <p:cNvSpPr txBox="1"/>
            <p:nvPr/>
          </p:nvSpPr>
          <p:spPr>
            <a:xfrm>
              <a:off x="3535200" y="4961247"/>
              <a:ext cx="236876" cy="369332"/>
            </a:xfrm>
            <a:prstGeom prst="rect">
              <a:avLst/>
            </a:prstGeom>
            <a:noFill/>
          </p:spPr>
          <p:txBody>
            <a:bodyPr wrap="square" rtlCol="0">
              <a:spAutoFit/>
            </a:bodyPr>
            <a:lstStyle/>
            <a:p>
              <a:pPr algn="l"/>
              <a:r>
                <a:rPr lang="da-DK" dirty="0">
                  <a:solidFill>
                    <a:srgbClr val="666666"/>
                  </a:solidFill>
                </a:rPr>
                <a:t>2</a:t>
              </a:r>
              <a:endParaRPr lang="en-GB" dirty="0">
                <a:solidFill>
                  <a:srgbClr val="666666"/>
                </a:solidFill>
              </a:endParaRPr>
            </a:p>
          </p:txBody>
        </p:sp>
        <p:sp>
          <p:nvSpPr>
            <p:cNvPr id="7" name="TextBox 6">
              <a:extLst>
                <a:ext uri="{FF2B5EF4-FFF2-40B4-BE49-F238E27FC236}">
                  <a16:creationId xmlns:a16="http://schemas.microsoft.com/office/drawing/2014/main" id="{1DB88E51-8BE7-AF26-BB66-780F066E255E}"/>
                </a:ext>
              </a:extLst>
            </p:cNvPr>
            <p:cNvSpPr txBox="1"/>
            <p:nvPr/>
          </p:nvSpPr>
          <p:spPr>
            <a:xfrm>
              <a:off x="4172400" y="4961247"/>
              <a:ext cx="236876" cy="369332"/>
            </a:xfrm>
            <a:prstGeom prst="rect">
              <a:avLst/>
            </a:prstGeom>
            <a:noFill/>
          </p:spPr>
          <p:txBody>
            <a:bodyPr wrap="square" rtlCol="0">
              <a:spAutoFit/>
            </a:bodyPr>
            <a:lstStyle/>
            <a:p>
              <a:pPr algn="l"/>
              <a:r>
                <a:rPr lang="da-DK" dirty="0">
                  <a:solidFill>
                    <a:srgbClr val="666666"/>
                  </a:solidFill>
                </a:rPr>
                <a:t>3</a:t>
              </a:r>
              <a:endParaRPr lang="en-GB" dirty="0">
                <a:solidFill>
                  <a:srgbClr val="666666"/>
                </a:solidFill>
              </a:endParaRPr>
            </a:p>
          </p:txBody>
        </p:sp>
        <p:sp>
          <p:nvSpPr>
            <p:cNvPr id="13" name="TextBox 12">
              <a:extLst>
                <a:ext uri="{FF2B5EF4-FFF2-40B4-BE49-F238E27FC236}">
                  <a16:creationId xmlns:a16="http://schemas.microsoft.com/office/drawing/2014/main" id="{BAFFF1C2-5717-0B3F-00FD-343998F85129}"/>
                </a:ext>
              </a:extLst>
            </p:cNvPr>
            <p:cNvSpPr txBox="1"/>
            <p:nvPr/>
          </p:nvSpPr>
          <p:spPr>
            <a:xfrm>
              <a:off x="4809600" y="4961247"/>
              <a:ext cx="236876" cy="369332"/>
            </a:xfrm>
            <a:prstGeom prst="rect">
              <a:avLst/>
            </a:prstGeom>
            <a:noFill/>
          </p:spPr>
          <p:txBody>
            <a:bodyPr wrap="square" rtlCol="0">
              <a:spAutoFit/>
            </a:bodyPr>
            <a:lstStyle/>
            <a:p>
              <a:pPr algn="l"/>
              <a:r>
                <a:rPr lang="da-DK" dirty="0">
                  <a:solidFill>
                    <a:srgbClr val="666666"/>
                  </a:solidFill>
                </a:rPr>
                <a:t>4</a:t>
              </a:r>
              <a:endParaRPr lang="en-GB" dirty="0">
                <a:solidFill>
                  <a:srgbClr val="666666"/>
                </a:solidFill>
              </a:endParaRPr>
            </a:p>
          </p:txBody>
        </p:sp>
        <p:sp>
          <p:nvSpPr>
            <p:cNvPr id="16" name="TextBox 15">
              <a:extLst>
                <a:ext uri="{FF2B5EF4-FFF2-40B4-BE49-F238E27FC236}">
                  <a16:creationId xmlns:a16="http://schemas.microsoft.com/office/drawing/2014/main" id="{E58E2286-738E-9D78-5A02-B422AF8251AC}"/>
                </a:ext>
              </a:extLst>
            </p:cNvPr>
            <p:cNvSpPr txBox="1"/>
            <p:nvPr/>
          </p:nvSpPr>
          <p:spPr>
            <a:xfrm>
              <a:off x="5446800" y="4961247"/>
              <a:ext cx="236876" cy="369332"/>
            </a:xfrm>
            <a:prstGeom prst="rect">
              <a:avLst/>
            </a:prstGeom>
            <a:noFill/>
          </p:spPr>
          <p:txBody>
            <a:bodyPr wrap="square" rtlCol="0">
              <a:spAutoFit/>
            </a:bodyPr>
            <a:lstStyle/>
            <a:p>
              <a:pPr algn="l"/>
              <a:r>
                <a:rPr lang="da-DK" dirty="0">
                  <a:solidFill>
                    <a:srgbClr val="666666"/>
                  </a:solidFill>
                </a:rPr>
                <a:t>5</a:t>
              </a:r>
              <a:endParaRPr lang="en-GB" dirty="0">
                <a:solidFill>
                  <a:srgbClr val="666666"/>
                </a:solidFill>
              </a:endParaRPr>
            </a:p>
          </p:txBody>
        </p:sp>
        <p:sp>
          <p:nvSpPr>
            <p:cNvPr id="17" name="TextBox 16">
              <a:extLst>
                <a:ext uri="{FF2B5EF4-FFF2-40B4-BE49-F238E27FC236}">
                  <a16:creationId xmlns:a16="http://schemas.microsoft.com/office/drawing/2014/main" id="{F7D059ED-C616-A813-F60C-B5A3CF16D3C9}"/>
                </a:ext>
              </a:extLst>
            </p:cNvPr>
            <p:cNvSpPr txBox="1"/>
            <p:nvPr/>
          </p:nvSpPr>
          <p:spPr>
            <a:xfrm>
              <a:off x="6084000" y="4961247"/>
              <a:ext cx="236876" cy="369332"/>
            </a:xfrm>
            <a:prstGeom prst="rect">
              <a:avLst/>
            </a:prstGeom>
            <a:noFill/>
          </p:spPr>
          <p:txBody>
            <a:bodyPr wrap="square" rtlCol="0">
              <a:spAutoFit/>
            </a:bodyPr>
            <a:lstStyle/>
            <a:p>
              <a:pPr algn="l"/>
              <a:r>
                <a:rPr lang="da-DK" dirty="0">
                  <a:solidFill>
                    <a:srgbClr val="666666"/>
                  </a:solidFill>
                </a:rPr>
                <a:t>6</a:t>
              </a:r>
              <a:endParaRPr lang="en-GB" dirty="0">
                <a:solidFill>
                  <a:srgbClr val="666666"/>
                </a:solidFill>
              </a:endParaRPr>
            </a:p>
          </p:txBody>
        </p:sp>
        <p:sp>
          <p:nvSpPr>
            <p:cNvPr id="18" name="TextBox 17">
              <a:extLst>
                <a:ext uri="{FF2B5EF4-FFF2-40B4-BE49-F238E27FC236}">
                  <a16:creationId xmlns:a16="http://schemas.microsoft.com/office/drawing/2014/main" id="{E2A976F5-31AC-A119-4AFD-37E0709C10EA}"/>
                </a:ext>
              </a:extLst>
            </p:cNvPr>
            <p:cNvSpPr txBox="1"/>
            <p:nvPr/>
          </p:nvSpPr>
          <p:spPr>
            <a:xfrm>
              <a:off x="6721200" y="4961247"/>
              <a:ext cx="236876" cy="369332"/>
            </a:xfrm>
            <a:prstGeom prst="rect">
              <a:avLst/>
            </a:prstGeom>
            <a:noFill/>
          </p:spPr>
          <p:txBody>
            <a:bodyPr wrap="square" rtlCol="0">
              <a:spAutoFit/>
            </a:bodyPr>
            <a:lstStyle/>
            <a:p>
              <a:pPr algn="l"/>
              <a:r>
                <a:rPr lang="da-DK" dirty="0">
                  <a:solidFill>
                    <a:srgbClr val="666666"/>
                  </a:solidFill>
                </a:rPr>
                <a:t>7</a:t>
              </a:r>
              <a:endParaRPr lang="en-GB" dirty="0">
                <a:solidFill>
                  <a:srgbClr val="666666"/>
                </a:solidFill>
              </a:endParaRPr>
            </a:p>
          </p:txBody>
        </p:sp>
        <p:sp>
          <p:nvSpPr>
            <p:cNvPr id="19" name="TextBox 18">
              <a:extLst>
                <a:ext uri="{FF2B5EF4-FFF2-40B4-BE49-F238E27FC236}">
                  <a16:creationId xmlns:a16="http://schemas.microsoft.com/office/drawing/2014/main" id="{A31E93C5-3862-079B-F8DC-76E0548AF8EB}"/>
                </a:ext>
              </a:extLst>
            </p:cNvPr>
            <p:cNvSpPr txBox="1"/>
            <p:nvPr/>
          </p:nvSpPr>
          <p:spPr>
            <a:xfrm>
              <a:off x="7356751" y="4961247"/>
              <a:ext cx="236876" cy="369332"/>
            </a:xfrm>
            <a:prstGeom prst="rect">
              <a:avLst/>
            </a:prstGeom>
            <a:noFill/>
          </p:spPr>
          <p:txBody>
            <a:bodyPr wrap="square" rtlCol="0">
              <a:spAutoFit/>
            </a:bodyPr>
            <a:lstStyle/>
            <a:p>
              <a:pPr algn="l"/>
              <a:r>
                <a:rPr lang="da-DK" dirty="0">
                  <a:solidFill>
                    <a:srgbClr val="666666"/>
                  </a:solidFill>
                </a:rPr>
                <a:t>8</a:t>
              </a:r>
              <a:endParaRPr lang="en-GB" dirty="0">
                <a:solidFill>
                  <a:srgbClr val="666666"/>
                </a:solidFill>
              </a:endParaRPr>
            </a:p>
          </p:txBody>
        </p:sp>
        <p:sp>
          <p:nvSpPr>
            <p:cNvPr id="20" name="TextBox 19">
              <a:extLst>
                <a:ext uri="{FF2B5EF4-FFF2-40B4-BE49-F238E27FC236}">
                  <a16:creationId xmlns:a16="http://schemas.microsoft.com/office/drawing/2014/main" id="{C6E0E7C9-02C7-D7C6-A404-33775C98A3EA}"/>
                </a:ext>
              </a:extLst>
            </p:cNvPr>
            <p:cNvSpPr txBox="1"/>
            <p:nvPr/>
          </p:nvSpPr>
          <p:spPr>
            <a:xfrm>
              <a:off x="7992302" y="4961247"/>
              <a:ext cx="236876" cy="369332"/>
            </a:xfrm>
            <a:prstGeom prst="rect">
              <a:avLst/>
            </a:prstGeom>
            <a:noFill/>
          </p:spPr>
          <p:txBody>
            <a:bodyPr wrap="square" rtlCol="0">
              <a:spAutoFit/>
            </a:bodyPr>
            <a:lstStyle/>
            <a:p>
              <a:pPr algn="l"/>
              <a:r>
                <a:rPr lang="da-DK" dirty="0">
                  <a:solidFill>
                    <a:srgbClr val="666666"/>
                  </a:solidFill>
                </a:rPr>
                <a:t>9</a:t>
              </a:r>
              <a:endParaRPr lang="en-GB" dirty="0">
                <a:solidFill>
                  <a:srgbClr val="666666"/>
                </a:solidFill>
              </a:endParaRPr>
            </a:p>
          </p:txBody>
        </p:sp>
        <p:sp>
          <p:nvSpPr>
            <p:cNvPr id="21" name="TextBox 20">
              <a:extLst>
                <a:ext uri="{FF2B5EF4-FFF2-40B4-BE49-F238E27FC236}">
                  <a16:creationId xmlns:a16="http://schemas.microsoft.com/office/drawing/2014/main" id="{710355FD-A740-A13A-CFD9-2585EC9BFC89}"/>
                </a:ext>
              </a:extLst>
            </p:cNvPr>
            <p:cNvSpPr txBox="1"/>
            <p:nvPr/>
          </p:nvSpPr>
          <p:spPr>
            <a:xfrm>
              <a:off x="8557797" y="4961247"/>
              <a:ext cx="499329" cy="369332"/>
            </a:xfrm>
            <a:prstGeom prst="rect">
              <a:avLst/>
            </a:prstGeom>
            <a:noFill/>
          </p:spPr>
          <p:txBody>
            <a:bodyPr wrap="square" rtlCol="0">
              <a:spAutoFit/>
            </a:bodyPr>
            <a:lstStyle/>
            <a:p>
              <a:pPr algn="l"/>
              <a:r>
                <a:rPr lang="da-DK" dirty="0">
                  <a:solidFill>
                    <a:srgbClr val="666666"/>
                  </a:solidFill>
                </a:rPr>
                <a:t>10</a:t>
              </a:r>
              <a:endParaRPr lang="en-GB" dirty="0">
                <a:solidFill>
                  <a:srgbClr val="666666"/>
                </a:solidFill>
              </a:endParaRPr>
            </a:p>
          </p:txBody>
        </p:sp>
        <p:sp>
          <p:nvSpPr>
            <p:cNvPr id="22" name="TextBox 21">
              <a:extLst>
                <a:ext uri="{FF2B5EF4-FFF2-40B4-BE49-F238E27FC236}">
                  <a16:creationId xmlns:a16="http://schemas.microsoft.com/office/drawing/2014/main" id="{00913AED-6A0C-A012-58CD-BB3ADE9C7451}"/>
                </a:ext>
              </a:extLst>
            </p:cNvPr>
            <p:cNvSpPr txBox="1"/>
            <p:nvPr/>
          </p:nvSpPr>
          <p:spPr>
            <a:xfrm>
              <a:off x="9231266" y="4961247"/>
              <a:ext cx="446204" cy="369332"/>
            </a:xfrm>
            <a:prstGeom prst="rect">
              <a:avLst/>
            </a:prstGeom>
            <a:noFill/>
          </p:spPr>
          <p:txBody>
            <a:bodyPr wrap="square" rtlCol="0">
              <a:spAutoFit/>
            </a:bodyPr>
            <a:lstStyle/>
            <a:p>
              <a:pPr algn="l"/>
              <a:r>
                <a:rPr lang="da-DK" dirty="0">
                  <a:solidFill>
                    <a:srgbClr val="666666"/>
                  </a:solidFill>
                </a:rPr>
                <a:t>11</a:t>
              </a:r>
              <a:endParaRPr lang="en-GB" dirty="0">
                <a:solidFill>
                  <a:srgbClr val="666666"/>
                </a:solidFill>
              </a:endParaRPr>
            </a:p>
          </p:txBody>
        </p:sp>
        <p:sp>
          <p:nvSpPr>
            <p:cNvPr id="24" name="TextBox 23">
              <a:extLst>
                <a:ext uri="{FF2B5EF4-FFF2-40B4-BE49-F238E27FC236}">
                  <a16:creationId xmlns:a16="http://schemas.microsoft.com/office/drawing/2014/main" id="{1C12B6EA-A383-8CB7-D8C8-27195DF718D9}"/>
                </a:ext>
              </a:extLst>
            </p:cNvPr>
            <p:cNvSpPr txBox="1"/>
            <p:nvPr/>
          </p:nvSpPr>
          <p:spPr>
            <a:xfrm>
              <a:off x="9851610" y="4961247"/>
              <a:ext cx="446204" cy="369332"/>
            </a:xfrm>
            <a:prstGeom prst="rect">
              <a:avLst/>
            </a:prstGeom>
            <a:noFill/>
          </p:spPr>
          <p:txBody>
            <a:bodyPr wrap="square" rtlCol="0">
              <a:spAutoFit/>
            </a:bodyPr>
            <a:lstStyle/>
            <a:p>
              <a:pPr algn="l"/>
              <a:r>
                <a:rPr lang="da-DK" dirty="0">
                  <a:solidFill>
                    <a:srgbClr val="666666"/>
                  </a:solidFill>
                </a:rPr>
                <a:t>12</a:t>
              </a:r>
              <a:endParaRPr lang="en-GB" dirty="0">
                <a:solidFill>
                  <a:srgbClr val="666666"/>
                </a:solidFill>
              </a:endParaRPr>
            </a:p>
          </p:txBody>
        </p:sp>
      </p:grpSp>
      <p:sp>
        <p:nvSpPr>
          <p:cNvPr id="26" name="Arrow: Down 25">
            <a:extLst>
              <a:ext uri="{FF2B5EF4-FFF2-40B4-BE49-F238E27FC236}">
                <a16:creationId xmlns:a16="http://schemas.microsoft.com/office/drawing/2014/main" id="{E5FA2BDC-7513-7FDD-AEB4-F69A992F950A}"/>
              </a:ext>
            </a:extLst>
          </p:cNvPr>
          <p:cNvSpPr/>
          <p:nvPr/>
        </p:nvSpPr>
        <p:spPr>
          <a:xfrm>
            <a:off x="5851078" y="3461602"/>
            <a:ext cx="941445" cy="11816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864EF92-24E0-8C3F-09BE-80F4F46E23D3}"/>
                  </a:ext>
                </a:extLst>
              </p:cNvPr>
              <p:cNvSpPr txBox="1"/>
              <p:nvPr/>
            </p:nvSpPr>
            <p:spPr>
              <a:xfrm>
                <a:off x="5807653" y="2258838"/>
                <a:ext cx="1156535" cy="830997"/>
              </a:xfrm>
              <a:prstGeom prst="rect">
                <a:avLst/>
              </a:prstGeom>
              <a:noFill/>
            </p:spPr>
            <p:txBody>
              <a:bodyPr wrap="none" lIns="0" tIns="0" rIns="0" bIns="0" rtlCol="0">
                <a:spAutoFit/>
              </a:bodyPr>
              <a:lstStyle/>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=6.49?</m:t>
                      </m:r>
                    </m:oMath>
                  </m:oMathPara>
                </a14:m>
                <a:endParaRPr lang="da-DK" b="0" dirty="0">
                  <a:solidFill>
                    <a:srgbClr val="666666"/>
                  </a:solidFill>
                </a:endParaRPr>
              </a:p>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=6.51?</m:t>
                      </m:r>
                    </m:oMath>
                  </m:oMathPara>
                </a14:m>
                <a:endParaRPr lang="da-DK" b="0" dirty="0">
                  <a:solidFill>
                    <a:srgbClr val="666666"/>
                  </a:solidFill>
                </a:endParaRPr>
              </a:p>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=6.503?</m:t>
                      </m:r>
                    </m:oMath>
                  </m:oMathPara>
                </a14:m>
                <a:endParaRPr lang="en-GB" dirty="0">
                  <a:solidFill>
                    <a:srgbClr val="666666"/>
                  </a:solidFill>
                </a:endParaRPr>
              </a:p>
            </p:txBody>
          </p:sp>
        </mc:Choice>
        <mc:Fallback xmlns="">
          <p:sp>
            <p:nvSpPr>
              <p:cNvPr id="28" name="TextBox 27">
                <a:extLst>
                  <a:ext uri="{FF2B5EF4-FFF2-40B4-BE49-F238E27FC236}">
                    <a16:creationId xmlns:a16="http://schemas.microsoft.com/office/drawing/2014/main" id="{D864EF92-24E0-8C3F-09BE-80F4F46E23D3}"/>
                  </a:ext>
                </a:extLst>
              </p:cNvPr>
              <p:cNvSpPr txBox="1">
                <a:spLocks noRot="1" noChangeAspect="1" noMove="1" noResize="1" noEditPoints="1" noAdjustHandles="1" noChangeArrowheads="1" noChangeShapeType="1" noTextEdit="1"/>
              </p:cNvSpPr>
              <p:nvPr/>
            </p:nvSpPr>
            <p:spPr>
              <a:xfrm>
                <a:off x="5807653" y="2258838"/>
                <a:ext cx="1156535" cy="830997"/>
              </a:xfrm>
              <a:prstGeom prst="rect">
                <a:avLst/>
              </a:prstGeom>
              <a:blipFill>
                <a:blip r:embed="rId4"/>
                <a:stretch>
                  <a:fillRect l="-4233" t="-7353" r="-4762" b="-9559"/>
                </a:stretch>
              </a:blipFill>
            </p:spPr>
            <p:txBody>
              <a:bodyPr/>
              <a:lstStyle/>
              <a:p>
                <a:r>
                  <a:rPr lang="en-GB">
                    <a:noFill/>
                  </a:rPr>
                  <a:t> </a:t>
                </a:r>
              </a:p>
            </p:txBody>
          </p:sp>
        </mc:Fallback>
      </mc:AlternateContent>
    </p:spTree>
    <p:extLst>
      <p:ext uri="{BB962C8B-B14F-4D97-AF65-F5344CB8AC3E}">
        <p14:creationId xmlns:p14="http://schemas.microsoft.com/office/powerpoint/2010/main" val="409917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77D15-5BA0-C4CA-F6DF-7E740D5B88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9427F-8A69-8F38-A427-E73ED2FE0697}"/>
              </a:ext>
            </a:extLst>
          </p:cNvPr>
          <p:cNvSpPr>
            <a:spLocks noGrp="1"/>
          </p:cNvSpPr>
          <p:nvPr>
            <p:ph type="title"/>
          </p:nvPr>
        </p:nvSpPr>
        <p:spPr>
          <a:xfrm>
            <a:off x="1103709" y="265373"/>
            <a:ext cx="9360000" cy="1181687"/>
          </a:xfrm>
        </p:spPr>
        <p:txBody>
          <a:bodyPr/>
          <a:lstStyle/>
          <a:p>
            <a:r>
              <a:rPr lang="en-GB" sz="3600" dirty="0"/>
              <a:t>When we make a measurement, we only ever make an estimate</a:t>
            </a:r>
          </a:p>
        </p:txBody>
      </p:sp>
      <p:sp>
        <p:nvSpPr>
          <p:cNvPr id="4" name="Slide Number Placeholder 3">
            <a:extLst>
              <a:ext uri="{FF2B5EF4-FFF2-40B4-BE49-F238E27FC236}">
                <a16:creationId xmlns:a16="http://schemas.microsoft.com/office/drawing/2014/main" id="{17FB5375-E679-74D2-0028-37A91AAF9D72}"/>
              </a:ext>
            </a:extLst>
          </p:cNvPr>
          <p:cNvSpPr>
            <a:spLocks noGrp="1"/>
          </p:cNvSpPr>
          <p:nvPr>
            <p:ph type="sldNum" sz="quarter" idx="12"/>
          </p:nvPr>
        </p:nvSpPr>
        <p:spPr/>
        <p:txBody>
          <a:bodyPr/>
          <a:lstStyle/>
          <a:p>
            <a:fld id="{F7283078-D760-1647-8B80-66BA8B52336D}" type="slidenum">
              <a:rPr lang="en-GB" smtClean="0"/>
              <a:t>10</a:t>
            </a:fld>
            <a:endParaRPr lang="en-GB"/>
          </a:p>
        </p:txBody>
      </p:sp>
      <p:sp>
        <p:nvSpPr>
          <p:cNvPr id="8" name="Date Placeholder 7">
            <a:extLst>
              <a:ext uri="{FF2B5EF4-FFF2-40B4-BE49-F238E27FC236}">
                <a16:creationId xmlns:a16="http://schemas.microsoft.com/office/drawing/2014/main" id="{E734BF8A-8204-BE44-77C5-0324229B8878}"/>
              </a:ext>
            </a:extLst>
          </p:cNvPr>
          <p:cNvSpPr>
            <a:spLocks noGrp="1"/>
          </p:cNvSpPr>
          <p:nvPr>
            <p:ph type="dt" sz="half" idx="10"/>
          </p:nvPr>
        </p:nvSpPr>
        <p:spPr/>
        <p:txBody>
          <a:bodyPr/>
          <a:lstStyle/>
          <a:p>
            <a:fld id="{18896B66-0B3A-474C-9C9C-E4F07B1F5DAD}" type="datetime1">
              <a:rPr lang="en-GB" smtClean="0"/>
              <a:t>26/08/2026</a:t>
            </a:fld>
            <a:endParaRPr lang="en-GB"/>
          </a:p>
        </p:txBody>
      </p:sp>
      <p:grpSp>
        <p:nvGrpSpPr>
          <p:cNvPr id="25" name="Group 24">
            <a:extLst>
              <a:ext uri="{FF2B5EF4-FFF2-40B4-BE49-F238E27FC236}">
                <a16:creationId xmlns:a16="http://schemas.microsoft.com/office/drawing/2014/main" id="{1D1661D1-AD62-865D-21B8-75D6FBDB6FFE}"/>
              </a:ext>
            </a:extLst>
          </p:cNvPr>
          <p:cNvGrpSpPr/>
          <p:nvPr/>
        </p:nvGrpSpPr>
        <p:grpSpPr>
          <a:xfrm>
            <a:off x="2028305" y="3593337"/>
            <a:ext cx="8279876" cy="3064495"/>
            <a:chOff x="2261227" y="3429000"/>
            <a:chExt cx="8279876" cy="3064495"/>
          </a:xfrm>
        </p:grpSpPr>
        <p:pic>
          <p:nvPicPr>
            <p:cNvPr id="3076" name="Picture 4" descr="Free ruler metric measure vector">
              <a:extLst>
                <a:ext uri="{FF2B5EF4-FFF2-40B4-BE49-F238E27FC236}">
                  <a16:creationId xmlns:a16="http://schemas.microsoft.com/office/drawing/2014/main" id="{D8DF5E7D-3225-0D89-C4DB-EEA2A8A190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8361" y="3429000"/>
              <a:ext cx="8232742" cy="306449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D97502-A60A-BEC8-1B7D-E5C24F7D8E52}"/>
                </a:ext>
              </a:extLst>
            </p:cNvPr>
            <p:cNvSpPr txBox="1"/>
            <p:nvPr/>
          </p:nvSpPr>
          <p:spPr>
            <a:xfrm>
              <a:off x="2261227" y="4961247"/>
              <a:ext cx="236876" cy="369332"/>
            </a:xfrm>
            <a:prstGeom prst="rect">
              <a:avLst/>
            </a:prstGeom>
            <a:noFill/>
          </p:spPr>
          <p:txBody>
            <a:bodyPr wrap="square" rtlCol="0">
              <a:spAutoFit/>
            </a:bodyPr>
            <a:lstStyle/>
            <a:p>
              <a:pPr algn="l"/>
              <a:r>
                <a:rPr lang="da-DK" dirty="0">
                  <a:solidFill>
                    <a:srgbClr val="666666"/>
                  </a:solidFill>
                </a:rPr>
                <a:t>0</a:t>
              </a:r>
              <a:endParaRPr lang="en-GB" dirty="0">
                <a:solidFill>
                  <a:srgbClr val="666666"/>
                </a:solidFill>
              </a:endParaRPr>
            </a:p>
          </p:txBody>
        </p:sp>
        <p:sp>
          <p:nvSpPr>
            <p:cNvPr id="5" name="TextBox 4">
              <a:extLst>
                <a:ext uri="{FF2B5EF4-FFF2-40B4-BE49-F238E27FC236}">
                  <a16:creationId xmlns:a16="http://schemas.microsoft.com/office/drawing/2014/main" id="{57A3AAFB-8F6E-78DE-D441-29CADF20928D}"/>
                </a:ext>
              </a:extLst>
            </p:cNvPr>
            <p:cNvSpPr txBox="1"/>
            <p:nvPr/>
          </p:nvSpPr>
          <p:spPr>
            <a:xfrm>
              <a:off x="2898000" y="4961247"/>
              <a:ext cx="236876" cy="369332"/>
            </a:xfrm>
            <a:prstGeom prst="rect">
              <a:avLst/>
            </a:prstGeom>
            <a:noFill/>
          </p:spPr>
          <p:txBody>
            <a:bodyPr wrap="square" rtlCol="0">
              <a:spAutoFit/>
            </a:bodyPr>
            <a:lstStyle/>
            <a:p>
              <a:pPr algn="l"/>
              <a:r>
                <a:rPr lang="da-DK" dirty="0">
                  <a:solidFill>
                    <a:srgbClr val="666666"/>
                  </a:solidFill>
                </a:rPr>
                <a:t>1</a:t>
              </a:r>
              <a:endParaRPr lang="en-GB" dirty="0">
                <a:solidFill>
                  <a:srgbClr val="666666"/>
                </a:solidFill>
              </a:endParaRPr>
            </a:p>
          </p:txBody>
        </p:sp>
        <p:sp>
          <p:nvSpPr>
            <p:cNvPr id="6" name="TextBox 5">
              <a:extLst>
                <a:ext uri="{FF2B5EF4-FFF2-40B4-BE49-F238E27FC236}">
                  <a16:creationId xmlns:a16="http://schemas.microsoft.com/office/drawing/2014/main" id="{9B5D7741-5949-CC5F-D51E-6E0A201259CC}"/>
                </a:ext>
              </a:extLst>
            </p:cNvPr>
            <p:cNvSpPr txBox="1"/>
            <p:nvPr/>
          </p:nvSpPr>
          <p:spPr>
            <a:xfrm>
              <a:off x="3535200" y="4961247"/>
              <a:ext cx="236876" cy="369332"/>
            </a:xfrm>
            <a:prstGeom prst="rect">
              <a:avLst/>
            </a:prstGeom>
            <a:noFill/>
          </p:spPr>
          <p:txBody>
            <a:bodyPr wrap="square" rtlCol="0">
              <a:spAutoFit/>
            </a:bodyPr>
            <a:lstStyle/>
            <a:p>
              <a:pPr algn="l"/>
              <a:r>
                <a:rPr lang="da-DK" dirty="0">
                  <a:solidFill>
                    <a:srgbClr val="666666"/>
                  </a:solidFill>
                </a:rPr>
                <a:t>2</a:t>
              </a:r>
              <a:endParaRPr lang="en-GB" dirty="0">
                <a:solidFill>
                  <a:srgbClr val="666666"/>
                </a:solidFill>
              </a:endParaRPr>
            </a:p>
          </p:txBody>
        </p:sp>
        <p:sp>
          <p:nvSpPr>
            <p:cNvPr id="7" name="TextBox 6">
              <a:extLst>
                <a:ext uri="{FF2B5EF4-FFF2-40B4-BE49-F238E27FC236}">
                  <a16:creationId xmlns:a16="http://schemas.microsoft.com/office/drawing/2014/main" id="{E3E6AA3A-56D5-1FC7-2C2D-BE265F956057}"/>
                </a:ext>
              </a:extLst>
            </p:cNvPr>
            <p:cNvSpPr txBox="1"/>
            <p:nvPr/>
          </p:nvSpPr>
          <p:spPr>
            <a:xfrm>
              <a:off x="4172400" y="4961247"/>
              <a:ext cx="236876" cy="369332"/>
            </a:xfrm>
            <a:prstGeom prst="rect">
              <a:avLst/>
            </a:prstGeom>
            <a:noFill/>
          </p:spPr>
          <p:txBody>
            <a:bodyPr wrap="square" rtlCol="0">
              <a:spAutoFit/>
            </a:bodyPr>
            <a:lstStyle/>
            <a:p>
              <a:pPr algn="l"/>
              <a:r>
                <a:rPr lang="da-DK" dirty="0">
                  <a:solidFill>
                    <a:srgbClr val="666666"/>
                  </a:solidFill>
                </a:rPr>
                <a:t>3</a:t>
              </a:r>
              <a:endParaRPr lang="en-GB" dirty="0">
                <a:solidFill>
                  <a:srgbClr val="666666"/>
                </a:solidFill>
              </a:endParaRPr>
            </a:p>
          </p:txBody>
        </p:sp>
        <p:sp>
          <p:nvSpPr>
            <p:cNvPr id="13" name="TextBox 12">
              <a:extLst>
                <a:ext uri="{FF2B5EF4-FFF2-40B4-BE49-F238E27FC236}">
                  <a16:creationId xmlns:a16="http://schemas.microsoft.com/office/drawing/2014/main" id="{CC62F60B-215D-C7EA-6DAA-D9991450A0DE}"/>
                </a:ext>
              </a:extLst>
            </p:cNvPr>
            <p:cNvSpPr txBox="1"/>
            <p:nvPr/>
          </p:nvSpPr>
          <p:spPr>
            <a:xfrm>
              <a:off x="4809600" y="4961247"/>
              <a:ext cx="236876" cy="369332"/>
            </a:xfrm>
            <a:prstGeom prst="rect">
              <a:avLst/>
            </a:prstGeom>
            <a:noFill/>
          </p:spPr>
          <p:txBody>
            <a:bodyPr wrap="square" rtlCol="0">
              <a:spAutoFit/>
            </a:bodyPr>
            <a:lstStyle/>
            <a:p>
              <a:pPr algn="l"/>
              <a:r>
                <a:rPr lang="da-DK" dirty="0">
                  <a:solidFill>
                    <a:srgbClr val="666666"/>
                  </a:solidFill>
                </a:rPr>
                <a:t>4</a:t>
              </a:r>
              <a:endParaRPr lang="en-GB" dirty="0">
                <a:solidFill>
                  <a:srgbClr val="666666"/>
                </a:solidFill>
              </a:endParaRPr>
            </a:p>
          </p:txBody>
        </p:sp>
        <p:sp>
          <p:nvSpPr>
            <p:cNvPr id="16" name="TextBox 15">
              <a:extLst>
                <a:ext uri="{FF2B5EF4-FFF2-40B4-BE49-F238E27FC236}">
                  <a16:creationId xmlns:a16="http://schemas.microsoft.com/office/drawing/2014/main" id="{D5630DFE-2E88-FF51-E7E6-A324E71B9F4A}"/>
                </a:ext>
              </a:extLst>
            </p:cNvPr>
            <p:cNvSpPr txBox="1"/>
            <p:nvPr/>
          </p:nvSpPr>
          <p:spPr>
            <a:xfrm>
              <a:off x="5446800" y="4961247"/>
              <a:ext cx="236876" cy="369332"/>
            </a:xfrm>
            <a:prstGeom prst="rect">
              <a:avLst/>
            </a:prstGeom>
            <a:noFill/>
          </p:spPr>
          <p:txBody>
            <a:bodyPr wrap="square" rtlCol="0">
              <a:spAutoFit/>
            </a:bodyPr>
            <a:lstStyle/>
            <a:p>
              <a:pPr algn="l"/>
              <a:r>
                <a:rPr lang="da-DK" dirty="0">
                  <a:solidFill>
                    <a:srgbClr val="666666"/>
                  </a:solidFill>
                </a:rPr>
                <a:t>5</a:t>
              </a:r>
              <a:endParaRPr lang="en-GB" dirty="0">
                <a:solidFill>
                  <a:srgbClr val="666666"/>
                </a:solidFill>
              </a:endParaRPr>
            </a:p>
          </p:txBody>
        </p:sp>
        <p:sp>
          <p:nvSpPr>
            <p:cNvPr id="17" name="TextBox 16">
              <a:extLst>
                <a:ext uri="{FF2B5EF4-FFF2-40B4-BE49-F238E27FC236}">
                  <a16:creationId xmlns:a16="http://schemas.microsoft.com/office/drawing/2014/main" id="{195B6DC5-522E-47DA-D342-20097D476ED1}"/>
                </a:ext>
              </a:extLst>
            </p:cNvPr>
            <p:cNvSpPr txBox="1"/>
            <p:nvPr/>
          </p:nvSpPr>
          <p:spPr>
            <a:xfrm>
              <a:off x="6084000" y="4961247"/>
              <a:ext cx="236876" cy="369332"/>
            </a:xfrm>
            <a:prstGeom prst="rect">
              <a:avLst/>
            </a:prstGeom>
            <a:noFill/>
          </p:spPr>
          <p:txBody>
            <a:bodyPr wrap="square" rtlCol="0">
              <a:spAutoFit/>
            </a:bodyPr>
            <a:lstStyle/>
            <a:p>
              <a:pPr algn="l"/>
              <a:r>
                <a:rPr lang="da-DK" dirty="0">
                  <a:solidFill>
                    <a:srgbClr val="666666"/>
                  </a:solidFill>
                </a:rPr>
                <a:t>6</a:t>
              </a:r>
              <a:endParaRPr lang="en-GB" dirty="0">
                <a:solidFill>
                  <a:srgbClr val="666666"/>
                </a:solidFill>
              </a:endParaRPr>
            </a:p>
          </p:txBody>
        </p:sp>
        <p:sp>
          <p:nvSpPr>
            <p:cNvPr id="18" name="TextBox 17">
              <a:extLst>
                <a:ext uri="{FF2B5EF4-FFF2-40B4-BE49-F238E27FC236}">
                  <a16:creationId xmlns:a16="http://schemas.microsoft.com/office/drawing/2014/main" id="{354D10D7-D72F-0FE5-B468-4F044B941E81}"/>
                </a:ext>
              </a:extLst>
            </p:cNvPr>
            <p:cNvSpPr txBox="1"/>
            <p:nvPr/>
          </p:nvSpPr>
          <p:spPr>
            <a:xfrm>
              <a:off x="6721200" y="4961247"/>
              <a:ext cx="236876" cy="369332"/>
            </a:xfrm>
            <a:prstGeom prst="rect">
              <a:avLst/>
            </a:prstGeom>
            <a:noFill/>
          </p:spPr>
          <p:txBody>
            <a:bodyPr wrap="square" rtlCol="0">
              <a:spAutoFit/>
            </a:bodyPr>
            <a:lstStyle/>
            <a:p>
              <a:pPr algn="l"/>
              <a:r>
                <a:rPr lang="da-DK" dirty="0">
                  <a:solidFill>
                    <a:srgbClr val="666666"/>
                  </a:solidFill>
                </a:rPr>
                <a:t>7</a:t>
              </a:r>
              <a:endParaRPr lang="en-GB" dirty="0">
                <a:solidFill>
                  <a:srgbClr val="666666"/>
                </a:solidFill>
              </a:endParaRPr>
            </a:p>
          </p:txBody>
        </p:sp>
        <p:sp>
          <p:nvSpPr>
            <p:cNvPr id="19" name="TextBox 18">
              <a:extLst>
                <a:ext uri="{FF2B5EF4-FFF2-40B4-BE49-F238E27FC236}">
                  <a16:creationId xmlns:a16="http://schemas.microsoft.com/office/drawing/2014/main" id="{E7783B33-A127-F1B9-6BF4-857A937CD9E7}"/>
                </a:ext>
              </a:extLst>
            </p:cNvPr>
            <p:cNvSpPr txBox="1"/>
            <p:nvPr/>
          </p:nvSpPr>
          <p:spPr>
            <a:xfrm>
              <a:off x="7356751" y="4961247"/>
              <a:ext cx="236876" cy="369332"/>
            </a:xfrm>
            <a:prstGeom prst="rect">
              <a:avLst/>
            </a:prstGeom>
            <a:noFill/>
          </p:spPr>
          <p:txBody>
            <a:bodyPr wrap="square" rtlCol="0">
              <a:spAutoFit/>
            </a:bodyPr>
            <a:lstStyle/>
            <a:p>
              <a:pPr algn="l"/>
              <a:r>
                <a:rPr lang="da-DK" dirty="0">
                  <a:solidFill>
                    <a:srgbClr val="666666"/>
                  </a:solidFill>
                </a:rPr>
                <a:t>8</a:t>
              </a:r>
              <a:endParaRPr lang="en-GB" dirty="0">
                <a:solidFill>
                  <a:srgbClr val="666666"/>
                </a:solidFill>
              </a:endParaRPr>
            </a:p>
          </p:txBody>
        </p:sp>
        <p:sp>
          <p:nvSpPr>
            <p:cNvPr id="20" name="TextBox 19">
              <a:extLst>
                <a:ext uri="{FF2B5EF4-FFF2-40B4-BE49-F238E27FC236}">
                  <a16:creationId xmlns:a16="http://schemas.microsoft.com/office/drawing/2014/main" id="{7BB93B52-8597-3545-3282-C6738F5015DB}"/>
                </a:ext>
              </a:extLst>
            </p:cNvPr>
            <p:cNvSpPr txBox="1"/>
            <p:nvPr/>
          </p:nvSpPr>
          <p:spPr>
            <a:xfrm>
              <a:off x="7992302" y="4961247"/>
              <a:ext cx="236876" cy="369332"/>
            </a:xfrm>
            <a:prstGeom prst="rect">
              <a:avLst/>
            </a:prstGeom>
            <a:noFill/>
          </p:spPr>
          <p:txBody>
            <a:bodyPr wrap="square" rtlCol="0">
              <a:spAutoFit/>
            </a:bodyPr>
            <a:lstStyle/>
            <a:p>
              <a:pPr algn="l"/>
              <a:r>
                <a:rPr lang="da-DK" dirty="0">
                  <a:solidFill>
                    <a:srgbClr val="666666"/>
                  </a:solidFill>
                </a:rPr>
                <a:t>9</a:t>
              </a:r>
              <a:endParaRPr lang="en-GB" dirty="0">
                <a:solidFill>
                  <a:srgbClr val="666666"/>
                </a:solidFill>
              </a:endParaRPr>
            </a:p>
          </p:txBody>
        </p:sp>
        <p:sp>
          <p:nvSpPr>
            <p:cNvPr id="21" name="TextBox 20">
              <a:extLst>
                <a:ext uri="{FF2B5EF4-FFF2-40B4-BE49-F238E27FC236}">
                  <a16:creationId xmlns:a16="http://schemas.microsoft.com/office/drawing/2014/main" id="{BFDD1224-66DF-F99D-7AA9-1B5EB907D98B}"/>
                </a:ext>
              </a:extLst>
            </p:cNvPr>
            <p:cNvSpPr txBox="1"/>
            <p:nvPr/>
          </p:nvSpPr>
          <p:spPr>
            <a:xfrm>
              <a:off x="8557797" y="4961247"/>
              <a:ext cx="499329" cy="369332"/>
            </a:xfrm>
            <a:prstGeom prst="rect">
              <a:avLst/>
            </a:prstGeom>
            <a:noFill/>
          </p:spPr>
          <p:txBody>
            <a:bodyPr wrap="square" rtlCol="0">
              <a:spAutoFit/>
            </a:bodyPr>
            <a:lstStyle/>
            <a:p>
              <a:pPr algn="l"/>
              <a:r>
                <a:rPr lang="da-DK" dirty="0">
                  <a:solidFill>
                    <a:srgbClr val="666666"/>
                  </a:solidFill>
                </a:rPr>
                <a:t>10</a:t>
              </a:r>
              <a:endParaRPr lang="en-GB" dirty="0">
                <a:solidFill>
                  <a:srgbClr val="666666"/>
                </a:solidFill>
              </a:endParaRPr>
            </a:p>
          </p:txBody>
        </p:sp>
        <p:sp>
          <p:nvSpPr>
            <p:cNvPr id="22" name="TextBox 21">
              <a:extLst>
                <a:ext uri="{FF2B5EF4-FFF2-40B4-BE49-F238E27FC236}">
                  <a16:creationId xmlns:a16="http://schemas.microsoft.com/office/drawing/2014/main" id="{098083C7-34B0-7F14-ADE9-4B486B95009A}"/>
                </a:ext>
              </a:extLst>
            </p:cNvPr>
            <p:cNvSpPr txBox="1"/>
            <p:nvPr/>
          </p:nvSpPr>
          <p:spPr>
            <a:xfrm>
              <a:off x="9231266" y="4961247"/>
              <a:ext cx="446204" cy="369332"/>
            </a:xfrm>
            <a:prstGeom prst="rect">
              <a:avLst/>
            </a:prstGeom>
            <a:noFill/>
          </p:spPr>
          <p:txBody>
            <a:bodyPr wrap="square" rtlCol="0">
              <a:spAutoFit/>
            </a:bodyPr>
            <a:lstStyle/>
            <a:p>
              <a:pPr algn="l"/>
              <a:r>
                <a:rPr lang="da-DK" dirty="0">
                  <a:solidFill>
                    <a:srgbClr val="666666"/>
                  </a:solidFill>
                </a:rPr>
                <a:t>11</a:t>
              </a:r>
              <a:endParaRPr lang="en-GB" dirty="0">
                <a:solidFill>
                  <a:srgbClr val="666666"/>
                </a:solidFill>
              </a:endParaRPr>
            </a:p>
          </p:txBody>
        </p:sp>
        <p:sp>
          <p:nvSpPr>
            <p:cNvPr id="24" name="TextBox 23">
              <a:extLst>
                <a:ext uri="{FF2B5EF4-FFF2-40B4-BE49-F238E27FC236}">
                  <a16:creationId xmlns:a16="http://schemas.microsoft.com/office/drawing/2014/main" id="{99DFCA77-F943-330F-AB70-58C111FBB997}"/>
                </a:ext>
              </a:extLst>
            </p:cNvPr>
            <p:cNvSpPr txBox="1"/>
            <p:nvPr/>
          </p:nvSpPr>
          <p:spPr>
            <a:xfrm>
              <a:off x="9851610" y="4961247"/>
              <a:ext cx="446204" cy="369332"/>
            </a:xfrm>
            <a:prstGeom prst="rect">
              <a:avLst/>
            </a:prstGeom>
            <a:noFill/>
          </p:spPr>
          <p:txBody>
            <a:bodyPr wrap="square" rtlCol="0">
              <a:spAutoFit/>
            </a:bodyPr>
            <a:lstStyle/>
            <a:p>
              <a:pPr algn="l"/>
              <a:r>
                <a:rPr lang="da-DK" dirty="0">
                  <a:solidFill>
                    <a:srgbClr val="666666"/>
                  </a:solidFill>
                </a:rPr>
                <a:t>12</a:t>
              </a:r>
              <a:endParaRPr lang="en-GB" dirty="0">
                <a:solidFill>
                  <a:srgbClr val="666666"/>
                </a:solidFill>
              </a:endParaRPr>
            </a:p>
          </p:txBody>
        </p:sp>
      </p:grpSp>
      <p:sp>
        <p:nvSpPr>
          <p:cNvPr id="26" name="Arrow: Down 25">
            <a:extLst>
              <a:ext uri="{FF2B5EF4-FFF2-40B4-BE49-F238E27FC236}">
                <a16:creationId xmlns:a16="http://schemas.microsoft.com/office/drawing/2014/main" id="{C06CF89D-D202-29BC-8A23-701FF7F7A19A}"/>
              </a:ext>
            </a:extLst>
          </p:cNvPr>
          <p:cNvSpPr/>
          <p:nvPr/>
        </p:nvSpPr>
        <p:spPr>
          <a:xfrm>
            <a:off x="5851078" y="3461602"/>
            <a:ext cx="941445" cy="11816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A903274-EE68-917D-753D-9F8B920443A5}"/>
                  </a:ext>
                </a:extLst>
              </p:cNvPr>
              <p:cNvSpPr txBox="1"/>
              <p:nvPr/>
            </p:nvSpPr>
            <p:spPr>
              <a:xfrm>
                <a:off x="5566401" y="2535837"/>
                <a:ext cx="1855443" cy="276999"/>
              </a:xfrm>
              <a:prstGeom prst="rect">
                <a:avLst/>
              </a:prstGeom>
              <a:noFill/>
            </p:spPr>
            <p:txBody>
              <a:bodyPr wrap="none" lIns="0" tIns="0" rIns="0" bIns="0" rtlCol="0">
                <a:spAutoFit/>
              </a:bodyPr>
              <a:lstStyle/>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=6.5±0.01 </m:t>
                      </m:r>
                      <m:r>
                        <m:rPr>
                          <m:sty m:val="p"/>
                        </m:rPr>
                        <a:rPr lang="da-DK" b="0" i="0" smtClean="0">
                          <a:solidFill>
                            <a:srgbClr val="666666"/>
                          </a:solidFill>
                          <a:latin typeface="Cambria Math" panose="02040503050406030204" pitchFamily="18" charset="0"/>
                        </a:rPr>
                        <m:t>cm</m:t>
                      </m:r>
                    </m:oMath>
                  </m:oMathPara>
                </a14:m>
                <a:endParaRPr lang="da-DK" b="0" dirty="0">
                  <a:solidFill>
                    <a:srgbClr val="666666"/>
                  </a:solidFill>
                </a:endParaRPr>
              </a:p>
            </p:txBody>
          </p:sp>
        </mc:Choice>
        <mc:Fallback xmlns="">
          <p:sp>
            <p:nvSpPr>
              <p:cNvPr id="28" name="TextBox 27">
                <a:extLst>
                  <a:ext uri="{FF2B5EF4-FFF2-40B4-BE49-F238E27FC236}">
                    <a16:creationId xmlns:a16="http://schemas.microsoft.com/office/drawing/2014/main" id="{DA903274-EE68-917D-753D-9F8B920443A5}"/>
                  </a:ext>
                </a:extLst>
              </p:cNvPr>
              <p:cNvSpPr txBox="1">
                <a:spLocks noRot="1" noChangeAspect="1" noMove="1" noResize="1" noEditPoints="1" noAdjustHandles="1" noChangeArrowheads="1" noChangeShapeType="1" noTextEdit="1"/>
              </p:cNvSpPr>
              <p:nvPr/>
            </p:nvSpPr>
            <p:spPr>
              <a:xfrm>
                <a:off x="5566401" y="2535837"/>
                <a:ext cx="1855443" cy="276999"/>
              </a:xfrm>
              <a:prstGeom prst="rect">
                <a:avLst/>
              </a:prstGeom>
              <a:blipFill>
                <a:blip r:embed="rId4"/>
                <a:stretch>
                  <a:fillRect l="-2632" t="-22222" r="-1645" b="-3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48E385F-90BD-4E54-C2F2-CE97FA8FDEB0}"/>
                  </a:ext>
                </a:extLst>
              </p:cNvPr>
              <p:cNvSpPr txBox="1"/>
              <p:nvPr/>
            </p:nvSpPr>
            <p:spPr>
              <a:xfrm>
                <a:off x="5566401" y="2214774"/>
                <a:ext cx="1046569" cy="276999"/>
              </a:xfrm>
              <a:prstGeom prst="rect">
                <a:avLst/>
              </a:prstGeom>
              <a:noFill/>
            </p:spPr>
            <p:txBody>
              <a:bodyPr wrap="none" lIns="0" tIns="0" rIns="0" bIns="0" rtlCol="0">
                <a:spAutoFit/>
              </a:bodyPr>
              <a:lstStyle/>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m:t>
                      </m:r>
                      <m:r>
                        <a:rPr lang="da-DK" b="0" i="1" smtClean="0">
                          <a:solidFill>
                            <a:srgbClr val="666666"/>
                          </a:solidFill>
                          <a:latin typeface="Cambria Math" panose="02040503050406030204" pitchFamily="18" charset="0"/>
                        </a:rPr>
                        <m:t>𝜇</m:t>
                      </m:r>
                      <m:r>
                        <a:rPr lang="da-DK" b="0" i="1" smtClean="0">
                          <a:solidFill>
                            <a:srgbClr val="666666"/>
                          </a:solidFill>
                          <a:latin typeface="Cambria Math" panose="02040503050406030204" pitchFamily="18" charset="0"/>
                        </a:rPr>
                        <m:t>±</m:t>
                      </m:r>
                      <m:r>
                        <a:rPr lang="da-DK" b="0" i="1" smtClean="0">
                          <a:solidFill>
                            <a:srgbClr val="666666"/>
                          </a:solidFill>
                          <a:latin typeface="Cambria Math" panose="02040503050406030204" pitchFamily="18" charset="0"/>
                        </a:rPr>
                        <m:t>𝜎</m:t>
                      </m:r>
                    </m:oMath>
                  </m:oMathPara>
                </a14:m>
                <a:endParaRPr lang="da-DK" b="0" dirty="0">
                  <a:solidFill>
                    <a:srgbClr val="666666"/>
                  </a:solidFill>
                </a:endParaRPr>
              </a:p>
            </p:txBody>
          </p:sp>
        </mc:Choice>
        <mc:Fallback xmlns="">
          <p:sp>
            <p:nvSpPr>
              <p:cNvPr id="10" name="TextBox 9">
                <a:extLst>
                  <a:ext uri="{FF2B5EF4-FFF2-40B4-BE49-F238E27FC236}">
                    <a16:creationId xmlns:a16="http://schemas.microsoft.com/office/drawing/2014/main" id="{D48E385F-90BD-4E54-C2F2-CE97FA8FDEB0}"/>
                  </a:ext>
                </a:extLst>
              </p:cNvPr>
              <p:cNvSpPr txBox="1">
                <a:spLocks noRot="1" noChangeAspect="1" noMove="1" noResize="1" noEditPoints="1" noAdjustHandles="1" noChangeArrowheads="1" noChangeShapeType="1" noTextEdit="1"/>
              </p:cNvSpPr>
              <p:nvPr/>
            </p:nvSpPr>
            <p:spPr>
              <a:xfrm>
                <a:off x="5566401" y="2214774"/>
                <a:ext cx="1046569" cy="276999"/>
              </a:xfrm>
              <a:prstGeom prst="rect">
                <a:avLst/>
              </a:prstGeom>
              <a:blipFill>
                <a:blip r:embed="rId5"/>
                <a:stretch>
                  <a:fillRect l="-4651" t="-19565" r="-1744" b="-28261"/>
                </a:stretch>
              </a:blipFill>
            </p:spPr>
            <p:txBody>
              <a:bodyPr/>
              <a:lstStyle/>
              <a:p>
                <a:r>
                  <a:rPr lang="en-GB">
                    <a:noFill/>
                  </a:rPr>
                  <a:t> </a:t>
                </a:r>
              </a:p>
            </p:txBody>
          </p:sp>
        </mc:Fallback>
      </mc:AlternateContent>
    </p:spTree>
    <p:extLst>
      <p:ext uri="{BB962C8B-B14F-4D97-AF65-F5344CB8AC3E}">
        <p14:creationId xmlns:p14="http://schemas.microsoft.com/office/powerpoint/2010/main" val="400903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18EDD-ECA5-F29F-30FA-55D4318548B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37439CD-7743-7B48-2060-6920E797588A}"/>
              </a:ext>
            </a:extLst>
          </p:cNvPr>
          <p:cNvPicPr>
            <a:picLocks noChangeAspect="1"/>
          </p:cNvPicPr>
          <p:nvPr/>
        </p:nvPicPr>
        <p:blipFill>
          <a:blip r:embed="rId3"/>
          <a:stretch>
            <a:fillRect/>
          </a:stretch>
        </p:blipFill>
        <p:spPr>
          <a:xfrm>
            <a:off x="3550025" y="2118277"/>
            <a:ext cx="5543550" cy="4171950"/>
          </a:xfrm>
          <a:prstGeom prst="rect">
            <a:avLst/>
          </a:prstGeom>
        </p:spPr>
      </p:pic>
      <p:sp>
        <p:nvSpPr>
          <p:cNvPr id="2" name="Title 1">
            <a:extLst>
              <a:ext uri="{FF2B5EF4-FFF2-40B4-BE49-F238E27FC236}">
                <a16:creationId xmlns:a16="http://schemas.microsoft.com/office/drawing/2014/main" id="{536074CD-4A53-A15D-E3ED-1BA65C59B943}"/>
              </a:ext>
            </a:extLst>
          </p:cNvPr>
          <p:cNvSpPr>
            <a:spLocks noGrp="1"/>
          </p:cNvSpPr>
          <p:nvPr>
            <p:ph type="title"/>
          </p:nvPr>
        </p:nvSpPr>
        <p:spPr>
          <a:xfrm>
            <a:off x="1103709" y="265373"/>
            <a:ext cx="9360000" cy="1181687"/>
          </a:xfrm>
        </p:spPr>
        <p:txBody>
          <a:bodyPr/>
          <a:lstStyle/>
          <a:p>
            <a:r>
              <a:rPr lang="en-GB" sz="3600" dirty="0"/>
              <a:t>Thinking about data probabilistically</a:t>
            </a:r>
          </a:p>
        </p:txBody>
      </p:sp>
      <p:sp>
        <p:nvSpPr>
          <p:cNvPr id="4" name="Slide Number Placeholder 3">
            <a:extLst>
              <a:ext uri="{FF2B5EF4-FFF2-40B4-BE49-F238E27FC236}">
                <a16:creationId xmlns:a16="http://schemas.microsoft.com/office/drawing/2014/main" id="{3863E94A-EE55-FCDB-A02B-35978E9BEAA8}"/>
              </a:ext>
            </a:extLst>
          </p:cNvPr>
          <p:cNvSpPr>
            <a:spLocks noGrp="1"/>
          </p:cNvSpPr>
          <p:nvPr>
            <p:ph type="sldNum" sz="quarter" idx="12"/>
          </p:nvPr>
        </p:nvSpPr>
        <p:spPr/>
        <p:txBody>
          <a:bodyPr/>
          <a:lstStyle/>
          <a:p>
            <a:fld id="{F7283078-D760-1647-8B80-66BA8B52336D}" type="slidenum">
              <a:rPr lang="en-GB" smtClean="0"/>
              <a:t>11</a:t>
            </a:fld>
            <a:endParaRPr lang="en-GB"/>
          </a:p>
        </p:txBody>
      </p:sp>
      <p:sp>
        <p:nvSpPr>
          <p:cNvPr id="8" name="Date Placeholder 7">
            <a:extLst>
              <a:ext uri="{FF2B5EF4-FFF2-40B4-BE49-F238E27FC236}">
                <a16:creationId xmlns:a16="http://schemas.microsoft.com/office/drawing/2014/main" id="{4BCF95D3-1C9B-8513-164B-E8AE1A0B7D9B}"/>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A9A3EA4-C170-9ADB-FCBD-22AF5FE79686}"/>
                  </a:ext>
                </a:extLst>
              </p:cNvPr>
              <p:cNvSpPr txBox="1"/>
              <p:nvPr/>
            </p:nvSpPr>
            <p:spPr>
              <a:xfrm>
                <a:off x="5566401" y="2535837"/>
                <a:ext cx="1855444" cy="276999"/>
              </a:xfrm>
              <a:prstGeom prst="rect">
                <a:avLst/>
              </a:prstGeom>
              <a:noFill/>
            </p:spPr>
            <p:txBody>
              <a:bodyPr wrap="none" lIns="0" tIns="0" rIns="0" bIns="0" rtlCol="0">
                <a:spAutoFit/>
              </a:bodyPr>
              <a:lstStyle/>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=6.5±0.01 </m:t>
                      </m:r>
                      <m:r>
                        <m:rPr>
                          <m:sty m:val="p"/>
                        </m:rPr>
                        <a:rPr lang="da-DK" b="0" i="0" smtClean="0">
                          <a:solidFill>
                            <a:srgbClr val="666666"/>
                          </a:solidFill>
                          <a:latin typeface="Cambria Math" panose="02040503050406030204" pitchFamily="18" charset="0"/>
                        </a:rPr>
                        <m:t>cm</m:t>
                      </m:r>
                    </m:oMath>
                  </m:oMathPara>
                </a14:m>
                <a:endParaRPr lang="da-DK" b="0" dirty="0">
                  <a:solidFill>
                    <a:srgbClr val="666666"/>
                  </a:solidFill>
                </a:endParaRPr>
              </a:p>
            </p:txBody>
          </p:sp>
        </mc:Choice>
        <mc:Fallback xmlns="">
          <p:sp>
            <p:nvSpPr>
              <p:cNvPr id="28" name="TextBox 27">
                <a:extLst>
                  <a:ext uri="{FF2B5EF4-FFF2-40B4-BE49-F238E27FC236}">
                    <a16:creationId xmlns:a16="http://schemas.microsoft.com/office/drawing/2014/main" id="{7A9A3EA4-C170-9ADB-FCBD-22AF5FE79686}"/>
                  </a:ext>
                </a:extLst>
              </p:cNvPr>
              <p:cNvSpPr txBox="1">
                <a:spLocks noRot="1" noChangeAspect="1" noMove="1" noResize="1" noEditPoints="1" noAdjustHandles="1" noChangeArrowheads="1" noChangeShapeType="1" noTextEdit="1"/>
              </p:cNvSpPr>
              <p:nvPr/>
            </p:nvSpPr>
            <p:spPr>
              <a:xfrm>
                <a:off x="5566401" y="2535837"/>
                <a:ext cx="1855444" cy="276999"/>
              </a:xfrm>
              <a:prstGeom prst="rect">
                <a:avLst/>
              </a:prstGeom>
              <a:blipFill>
                <a:blip r:embed="rId4"/>
                <a:stretch>
                  <a:fillRect l="-2632" t="-22222" r="-1645" b="-31111"/>
                </a:stretch>
              </a:blipFill>
            </p:spPr>
            <p:txBody>
              <a:bodyPr/>
              <a:lstStyle/>
              <a:p>
                <a:r>
                  <a:rPr lang="en-GB">
                    <a:noFill/>
                  </a:rPr>
                  <a:t> </a:t>
                </a:r>
              </a:p>
            </p:txBody>
          </p:sp>
        </mc:Fallback>
      </mc:AlternateContent>
      <p:pic>
        <p:nvPicPr>
          <p:cNvPr id="3" name="Picture 2" descr="Decision Making Coins Set of 2 - Ele Heads / Tails | Roots of Creation">
            <a:extLst>
              <a:ext uri="{FF2B5EF4-FFF2-40B4-BE49-F238E27FC236}">
                <a16:creationId xmlns:a16="http://schemas.microsoft.com/office/drawing/2014/main" id="{2F9E3FB7-5442-C87D-2CC0-A055B0F3B7CE}"/>
              </a:ext>
            </a:extLst>
          </p:cNvPr>
          <p:cNvPicPr>
            <a:picLocks noChangeAspect="1"/>
          </p:cNvPicPr>
          <p:nvPr/>
        </p:nvPicPr>
        <p:blipFill>
          <a:blip r:embed="rId5"/>
          <a:srcRect t="22472" r="50937" b="18448"/>
          <a:stretch>
            <a:fillRect/>
          </a:stretch>
        </p:blipFill>
        <p:spPr>
          <a:xfrm>
            <a:off x="1379481" y="2121984"/>
            <a:ext cx="1413250" cy="1328057"/>
          </a:xfrm>
          <a:prstGeom prst="rect">
            <a:avLst/>
          </a:prstGeom>
        </p:spPr>
      </p:pic>
      <p:pic>
        <p:nvPicPr>
          <p:cNvPr id="6" name="Picture 5" descr="Decision Making Coins Set of 2 - Ele Heads / Tails | Roots of Creation">
            <a:extLst>
              <a:ext uri="{FF2B5EF4-FFF2-40B4-BE49-F238E27FC236}">
                <a16:creationId xmlns:a16="http://schemas.microsoft.com/office/drawing/2014/main" id="{CEED0653-0B43-4A54-A49F-02B15D4FC3CB}"/>
              </a:ext>
            </a:extLst>
          </p:cNvPr>
          <p:cNvPicPr>
            <a:picLocks noChangeAspect="1"/>
          </p:cNvPicPr>
          <p:nvPr/>
        </p:nvPicPr>
        <p:blipFill>
          <a:blip r:embed="rId5"/>
          <a:srcRect l="51331" t="16985" b="21353"/>
          <a:stretch>
            <a:fillRect/>
          </a:stretch>
        </p:blipFill>
        <p:spPr>
          <a:xfrm>
            <a:off x="1390822" y="4356183"/>
            <a:ext cx="1401909" cy="138611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CF4B9F6-DA69-72C0-888D-AEFB2CD9E76D}"/>
                  </a:ext>
                </a:extLst>
              </p:cNvPr>
              <p:cNvSpPr txBox="1"/>
              <p:nvPr/>
            </p:nvSpPr>
            <p:spPr>
              <a:xfrm>
                <a:off x="1291772" y="1322748"/>
                <a:ext cx="1690914" cy="646331"/>
              </a:xfrm>
              <a:prstGeom prst="rect">
                <a:avLst/>
              </a:prstGeom>
              <a:noFill/>
            </p:spPr>
            <p:txBody>
              <a:bodyPr wrap="square" rtlCol="0">
                <a:spAutoFit/>
              </a:bodyPr>
              <a:lstStyle/>
              <a:p>
                <a:pPr algn="l"/>
                <a:r>
                  <a:rPr lang="da-DK" dirty="0" err="1">
                    <a:solidFill>
                      <a:srgbClr val="666666"/>
                    </a:solidFill>
                  </a:rPr>
                  <a:t>Heads</a:t>
                </a:r>
                <a:endParaRPr lang="da-DK" dirty="0">
                  <a:solidFill>
                    <a:srgbClr val="666666"/>
                  </a:solidFill>
                </a:endParaRPr>
              </a:p>
              <a:p>
                <a:pPr algn="l"/>
                <a14:m>
                  <m:oMathPara xmlns:m="http://schemas.openxmlformats.org/officeDocument/2006/math">
                    <m:oMath>
                      <m:r>
                        <a:rPr lang="da-DK" b="0" i="1" smtClean="0">
                          <a:solidFill>
                            <a:srgbClr val="666666"/>
                          </a:solidFill>
                          <a:latin typeface="Cambria Math" panose="02040503050406030204" pitchFamily="18" charset="0"/>
                        </a:rPr>
                        <m:t>𝑝</m:t>
                      </m:r>
                      <m:d>
                        <m:dPr>
                          <m:ctrlPr>
                            <a:rPr lang="da-DK" b="0" i="0" smtClean="0">
                              <a:solidFill>
                                <a:srgbClr val="666666"/>
                              </a:solidFill>
                              <a:latin typeface="Cambria Math" panose="02040503050406030204" pitchFamily="18" charset="0"/>
                            </a:rPr>
                          </m:ctrlPr>
                        </m:dPr>
                        <m:e>
                          <m:r>
                            <m:rPr>
                              <m:nor/>
                            </m:rPr>
                            <a:rPr lang="da-DK" b="0" i="0" smtClean="0">
                              <a:solidFill>
                                <a:srgbClr val="666666"/>
                              </a:solidFill>
                              <a:latin typeface="Cambria Math" panose="02040503050406030204" pitchFamily="18" charset="0"/>
                            </a:rPr>
                            <m:t>heads</m:t>
                          </m:r>
                        </m:e>
                      </m:d>
                      <m:r>
                        <a:rPr lang="da-DK" b="0" i="1" smtClean="0">
                          <a:solidFill>
                            <a:srgbClr val="666666"/>
                          </a:solidFill>
                          <a:latin typeface="Cambria Math" panose="02040503050406030204" pitchFamily="18" charset="0"/>
                        </a:rPr>
                        <m:t>=0.5</m:t>
                      </m:r>
                    </m:oMath>
                  </m:oMathPara>
                </a14:m>
                <a:endParaRPr lang="en-GB" dirty="0">
                  <a:solidFill>
                    <a:srgbClr val="666666"/>
                  </a:solidFill>
                </a:endParaRPr>
              </a:p>
            </p:txBody>
          </p:sp>
        </mc:Choice>
        <mc:Fallback xmlns="">
          <p:sp>
            <p:nvSpPr>
              <p:cNvPr id="7" name="TextBox 6">
                <a:extLst>
                  <a:ext uri="{FF2B5EF4-FFF2-40B4-BE49-F238E27FC236}">
                    <a16:creationId xmlns:a16="http://schemas.microsoft.com/office/drawing/2014/main" id="{CCF4B9F6-DA69-72C0-888D-AEFB2CD9E76D}"/>
                  </a:ext>
                </a:extLst>
              </p:cNvPr>
              <p:cNvSpPr txBox="1">
                <a:spLocks noRot="1" noChangeAspect="1" noMove="1" noResize="1" noEditPoints="1" noAdjustHandles="1" noChangeArrowheads="1" noChangeShapeType="1" noTextEdit="1"/>
              </p:cNvSpPr>
              <p:nvPr/>
            </p:nvSpPr>
            <p:spPr>
              <a:xfrm>
                <a:off x="1291772" y="1322748"/>
                <a:ext cx="1690914" cy="646331"/>
              </a:xfrm>
              <a:prstGeom prst="rect">
                <a:avLst/>
              </a:prstGeom>
              <a:blipFill>
                <a:blip r:embed="rId6"/>
                <a:stretch>
                  <a:fillRect l="-3249" t="-4717" b="-47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0438A36-5AF8-96D7-087E-C9F2ADEE3047}"/>
                  </a:ext>
                </a:extLst>
              </p:cNvPr>
              <p:cNvSpPr txBox="1"/>
              <p:nvPr/>
            </p:nvSpPr>
            <p:spPr>
              <a:xfrm>
                <a:off x="1379481" y="3623211"/>
                <a:ext cx="1523376" cy="646331"/>
              </a:xfrm>
              <a:prstGeom prst="rect">
                <a:avLst/>
              </a:prstGeom>
              <a:noFill/>
            </p:spPr>
            <p:txBody>
              <a:bodyPr wrap="square" rtlCol="0">
                <a:spAutoFit/>
              </a:bodyPr>
              <a:lstStyle/>
              <a:p>
                <a:pPr algn="l"/>
                <a:r>
                  <a:rPr lang="da-DK" dirty="0" err="1">
                    <a:solidFill>
                      <a:srgbClr val="666666"/>
                    </a:solidFill>
                  </a:rPr>
                  <a:t>Tails</a:t>
                </a:r>
                <a:r>
                  <a:rPr lang="da-DK" dirty="0">
                    <a:solidFill>
                      <a:srgbClr val="666666"/>
                    </a:solidFill>
                  </a:rPr>
                  <a:t>:</a:t>
                </a:r>
              </a:p>
              <a:p>
                <a:pPr algn="l"/>
                <a14:m>
                  <m:oMathPara xmlns:m="http://schemas.openxmlformats.org/officeDocument/2006/math">
                    <m:oMath>
                      <m:r>
                        <a:rPr lang="da-DK" b="0" i="1" smtClean="0">
                          <a:solidFill>
                            <a:srgbClr val="666666"/>
                          </a:solidFill>
                          <a:latin typeface="Cambria Math" panose="02040503050406030204" pitchFamily="18" charset="0"/>
                        </a:rPr>
                        <m:t>𝑝</m:t>
                      </m:r>
                      <m:d>
                        <m:dPr>
                          <m:ctrlPr>
                            <a:rPr lang="da-DK" b="0" i="0" smtClean="0">
                              <a:solidFill>
                                <a:srgbClr val="666666"/>
                              </a:solidFill>
                              <a:latin typeface="Cambria Math" panose="02040503050406030204" pitchFamily="18" charset="0"/>
                            </a:rPr>
                          </m:ctrlPr>
                        </m:dPr>
                        <m:e>
                          <m:r>
                            <m:rPr>
                              <m:nor/>
                            </m:rPr>
                            <a:rPr lang="da-DK" b="0" i="0" smtClean="0">
                              <a:solidFill>
                                <a:srgbClr val="666666"/>
                              </a:solidFill>
                              <a:latin typeface="Cambria Math" panose="02040503050406030204" pitchFamily="18" charset="0"/>
                            </a:rPr>
                            <m:t>tails</m:t>
                          </m:r>
                        </m:e>
                      </m:d>
                      <m:r>
                        <a:rPr lang="da-DK" b="0" i="1" smtClean="0">
                          <a:solidFill>
                            <a:srgbClr val="666666"/>
                          </a:solidFill>
                          <a:latin typeface="Cambria Math" panose="02040503050406030204" pitchFamily="18" charset="0"/>
                        </a:rPr>
                        <m:t>=0.5</m:t>
                      </m:r>
                    </m:oMath>
                  </m:oMathPara>
                </a14:m>
                <a:endParaRPr lang="en-GB" dirty="0">
                  <a:solidFill>
                    <a:srgbClr val="666666"/>
                  </a:solidFill>
                </a:endParaRPr>
              </a:p>
            </p:txBody>
          </p:sp>
        </mc:Choice>
        <mc:Fallback xmlns="">
          <p:sp>
            <p:nvSpPr>
              <p:cNvPr id="11" name="TextBox 10">
                <a:extLst>
                  <a:ext uri="{FF2B5EF4-FFF2-40B4-BE49-F238E27FC236}">
                    <a16:creationId xmlns:a16="http://schemas.microsoft.com/office/drawing/2014/main" id="{90438A36-5AF8-96D7-087E-C9F2ADEE3047}"/>
                  </a:ext>
                </a:extLst>
              </p:cNvPr>
              <p:cNvSpPr txBox="1">
                <a:spLocks noRot="1" noChangeAspect="1" noMove="1" noResize="1" noEditPoints="1" noAdjustHandles="1" noChangeArrowheads="1" noChangeShapeType="1" noTextEdit="1"/>
              </p:cNvSpPr>
              <p:nvPr/>
            </p:nvSpPr>
            <p:spPr>
              <a:xfrm>
                <a:off x="1379481" y="3623211"/>
                <a:ext cx="1523376" cy="646331"/>
              </a:xfrm>
              <a:prstGeom prst="rect">
                <a:avLst/>
              </a:prstGeom>
              <a:blipFill>
                <a:blip r:embed="rId7"/>
                <a:stretch>
                  <a:fillRect l="-3200" t="-3774" b="-5660"/>
                </a:stretch>
              </a:blipFill>
            </p:spPr>
            <p:txBody>
              <a:bodyPr/>
              <a:lstStyle/>
              <a:p>
                <a:r>
                  <a:rPr lang="en-GB">
                    <a:noFill/>
                  </a:rPr>
                  <a:t> </a:t>
                </a:r>
              </a:p>
            </p:txBody>
          </p:sp>
        </mc:Fallback>
      </mc:AlternateContent>
    </p:spTree>
    <p:extLst>
      <p:ext uri="{BB962C8B-B14F-4D97-AF65-F5344CB8AC3E}">
        <p14:creationId xmlns:p14="http://schemas.microsoft.com/office/powerpoint/2010/main" val="4143382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3352C-4F1A-82CE-FA5E-E8DE1A87827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C6AF6D6E-87A1-30D4-0E2C-53F63C0BBA1F}"/>
              </a:ext>
            </a:extLst>
          </p:cNvPr>
          <p:cNvPicPr>
            <a:picLocks noChangeAspect="1"/>
          </p:cNvPicPr>
          <p:nvPr/>
        </p:nvPicPr>
        <p:blipFill>
          <a:blip r:embed="rId3"/>
          <a:srcRect/>
          <a:stretch/>
        </p:blipFill>
        <p:spPr>
          <a:xfrm>
            <a:off x="3569075" y="2118277"/>
            <a:ext cx="5505450" cy="4171950"/>
          </a:xfrm>
          <a:prstGeom prst="rect">
            <a:avLst/>
          </a:prstGeom>
        </p:spPr>
      </p:pic>
      <p:sp>
        <p:nvSpPr>
          <p:cNvPr id="2" name="Title 1">
            <a:extLst>
              <a:ext uri="{FF2B5EF4-FFF2-40B4-BE49-F238E27FC236}">
                <a16:creationId xmlns:a16="http://schemas.microsoft.com/office/drawing/2014/main" id="{91F4A81D-D646-2997-9595-F0DB55DB2FD9}"/>
              </a:ext>
            </a:extLst>
          </p:cNvPr>
          <p:cNvSpPr>
            <a:spLocks noGrp="1"/>
          </p:cNvSpPr>
          <p:nvPr>
            <p:ph type="title"/>
          </p:nvPr>
        </p:nvSpPr>
        <p:spPr>
          <a:xfrm>
            <a:off x="1103709" y="265373"/>
            <a:ext cx="9360000" cy="1181687"/>
          </a:xfrm>
        </p:spPr>
        <p:txBody>
          <a:bodyPr/>
          <a:lstStyle/>
          <a:p>
            <a:r>
              <a:rPr lang="en-GB" sz="3600" dirty="0"/>
              <a:t>Thinking about data probabilistically</a:t>
            </a:r>
          </a:p>
        </p:txBody>
      </p:sp>
      <p:sp>
        <p:nvSpPr>
          <p:cNvPr id="4" name="Slide Number Placeholder 3">
            <a:extLst>
              <a:ext uri="{FF2B5EF4-FFF2-40B4-BE49-F238E27FC236}">
                <a16:creationId xmlns:a16="http://schemas.microsoft.com/office/drawing/2014/main" id="{5A0070F3-F098-7A4D-ABCD-A091D4E13B7D}"/>
              </a:ext>
            </a:extLst>
          </p:cNvPr>
          <p:cNvSpPr>
            <a:spLocks noGrp="1"/>
          </p:cNvSpPr>
          <p:nvPr>
            <p:ph type="sldNum" sz="quarter" idx="12"/>
          </p:nvPr>
        </p:nvSpPr>
        <p:spPr/>
        <p:txBody>
          <a:bodyPr/>
          <a:lstStyle/>
          <a:p>
            <a:fld id="{F7283078-D760-1647-8B80-66BA8B52336D}" type="slidenum">
              <a:rPr lang="en-GB" smtClean="0"/>
              <a:t>12</a:t>
            </a:fld>
            <a:endParaRPr lang="en-GB"/>
          </a:p>
        </p:txBody>
      </p:sp>
      <p:sp>
        <p:nvSpPr>
          <p:cNvPr id="8" name="Date Placeholder 7">
            <a:extLst>
              <a:ext uri="{FF2B5EF4-FFF2-40B4-BE49-F238E27FC236}">
                <a16:creationId xmlns:a16="http://schemas.microsoft.com/office/drawing/2014/main" id="{5412BD0A-0187-0804-5C5E-30C29C280B12}"/>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676348D-1C32-8A58-F404-681E109D66E7}"/>
                  </a:ext>
                </a:extLst>
              </p:cNvPr>
              <p:cNvSpPr txBox="1"/>
              <p:nvPr/>
            </p:nvSpPr>
            <p:spPr>
              <a:xfrm>
                <a:off x="5566401" y="2535837"/>
                <a:ext cx="1510798" cy="276999"/>
              </a:xfrm>
              <a:prstGeom prst="rect">
                <a:avLst/>
              </a:prstGeom>
              <a:noFill/>
            </p:spPr>
            <p:txBody>
              <a:bodyPr wrap="none" lIns="0" tIns="0" rIns="0" bIns="0" rtlCol="0">
                <a:spAutoFit/>
              </a:bodyPr>
              <a:lstStyle/>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=6.5±0.01</m:t>
                      </m:r>
                    </m:oMath>
                  </m:oMathPara>
                </a14:m>
                <a:endParaRPr lang="da-DK" b="0" dirty="0">
                  <a:solidFill>
                    <a:srgbClr val="666666"/>
                  </a:solidFill>
                </a:endParaRPr>
              </a:p>
            </p:txBody>
          </p:sp>
        </mc:Choice>
        <mc:Fallback xmlns="">
          <p:sp>
            <p:nvSpPr>
              <p:cNvPr id="28" name="TextBox 27">
                <a:extLst>
                  <a:ext uri="{FF2B5EF4-FFF2-40B4-BE49-F238E27FC236}">
                    <a16:creationId xmlns:a16="http://schemas.microsoft.com/office/drawing/2014/main" id="{DA903274-EE68-917D-753D-9F8B920443A5}"/>
                  </a:ext>
                </a:extLst>
              </p:cNvPr>
              <p:cNvSpPr txBox="1">
                <a:spLocks noRot="1" noChangeAspect="1" noMove="1" noResize="1" noEditPoints="1" noAdjustHandles="1" noChangeArrowheads="1" noChangeShapeType="1" noTextEdit="1"/>
              </p:cNvSpPr>
              <p:nvPr/>
            </p:nvSpPr>
            <p:spPr>
              <a:xfrm>
                <a:off x="5566401" y="2535837"/>
                <a:ext cx="1510798" cy="276999"/>
              </a:xfrm>
              <a:prstGeom prst="rect">
                <a:avLst/>
              </a:prstGeom>
              <a:blipFill>
                <a:blip r:embed="rId4"/>
                <a:stretch>
                  <a:fillRect l="-3226" t="-22222" r="-3226" b="-3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E84CB69-58F2-B428-FFA9-F640A64C602C}"/>
                  </a:ext>
                </a:extLst>
              </p:cNvPr>
              <p:cNvSpPr txBox="1"/>
              <p:nvPr/>
            </p:nvSpPr>
            <p:spPr>
              <a:xfrm>
                <a:off x="899885" y="1933234"/>
                <a:ext cx="2669190" cy="3970318"/>
              </a:xfrm>
              <a:prstGeom prst="rect">
                <a:avLst/>
              </a:prstGeom>
              <a:noFill/>
            </p:spPr>
            <p:txBody>
              <a:bodyPr wrap="square" rtlCol="0">
                <a:spAutoFit/>
              </a:bodyPr>
              <a:lstStyle/>
              <a:p>
                <a:pPr algn="l"/>
                <a:r>
                  <a:rPr lang="da-DK" b="1" dirty="0">
                    <a:solidFill>
                      <a:srgbClr val="666666"/>
                    </a:solidFill>
                  </a:rPr>
                  <a:t>Central Limit </a:t>
                </a:r>
                <a:r>
                  <a:rPr lang="da-DK" b="1" dirty="0" err="1">
                    <a:solidFill>
                      <a:srgbClr val="666666"/>
                    </a:solidFill>
                  </a:rPr>
                  <a:t>Theorem</a:t>
                </a:r>
                <a:r>
                  <a:rPr lang="da-DK" b="1" dirty="0">
                    <a:solidFill>
                      <a:srgbClr val="666666"/>
                    </a:solidFill>
                  </a:rPr>
                  <a:t>:</a:t>
                </a:r>
              </a:p>
              <a:p>
                <a:pPr algn="l"/>
                <a:endParaRPr lang="da-DK" i="1" dirty="0">
                  <a:solidFill>
                    <a:srgbClr val="666666"/>
                  </a:solidFill>
                </a:endParaRPr>
              </a:p>
              <a:p>
                <a:pPr algn="l"/>
                <a:r>
                  <a:rPr lang="da-DK" i="1" dirty="0">
                    <a:solidFill>
                      <a:srgbClr val="666666"/>
                    </a:solidFill>
                  </a:rPr>
                  <a:t>Let </a:t>
                </a:r>
                <a14:m>
                  <m:oMath xmlns:m="http://schemas.openxmlformats.org/officeDocument/2006/math">
                    <m:r>
                      <a:rPr lang="da-DK" b="0" i="1" smtClean="0">
                        <a:solidFill>
                          <a:srgbClr val="666666"/>
                        </a:solidFill>
                        <a:latin typeface="Cambria Math" panose="02040503050406030204" pitchFamily="18" charset="0"/>
                      </a:rPr>
                      <m:t>𝜇</m:t>
                    </m:r>
                  </m:oMath>
                </a14:m>
                <a:r>
                  <a:rPr lang="en-GB" i="1" dirty="0">
                    <a:solidFill>
                      <a:srgbClr val="666666"/>
                    </a:solidFill>
                  </a:rPr>
                  <a:t> be the expected value (average) of a random population with variance </a:t>
                </a:r>
                <a14:m>
                  <m:oMath xmlns:m="http://schemas.openxmlformats.org/officeDocument/2006/math">
                    <m:sSup>
                      <m:sSupPr>
                        <m:ctrlPr>
                          <a:rPr lang="da-DK" b="0" i="1" smtClean="0">
                            <a:solidFill>
                              <a:srgbClr val="666666"/>
                            </a:solidFill>
                            <a:latin typeface="Cambria Math" panose="02040503050406030204" pitchFamily="18" charset="0"/>
                          </a:rPr>
                        </m:ctrlPr>
                      </m:sSupPr>
                      <m:e>
                        <m:r>
                          <a:rPr lang="da-DK" b="0" i="1" smtClean="0">
                            <a:solidFill>
                              <a:srgbClr val="666666"/>
                            </a:solidFill>
                            <a:latin typeface="Cambria Math" panose="02040503050406030204" pitchFamily="18" charset="0"/>
                          </a:rPr>
                          <m:t>𝜎</m:t>
                        </m:r>
                      </m:e>
                      <m:sup>
                        <m:r>
                          <a:rPr lang="da-DK" b="0" i="1" smtClean="0">
                            <a:solidFill>
                              <a:srgbClr val="666666"/>
                            </a:solidFill>
                            <a:latin typeface="Cambria Math" panose="02040503050406030204" pitchFamily="18" charset="0"/>
                          </a:rPr>
                          <m:t>2</m:t>
                        </m:r>
                      </m:sup>
                    </m:sSup>
                  </m:oMath>
                </a14:m>
                <a:r>
                  <a:rPr lang="en-GB" i="1" dirty="0">
                    <a:solidFill>
                      <a:srgbClr val="666666"/>
                    </a:solidFill>
                  </a:rPr>
                  <a:t>. The mean of a sample of the distribution will approach </a:t>
                </a:r>
                <a14:m>
                  <m:oMath xmlns:m="http://schemas.openxmlformats.org/officeDocument/2006/math">
                    <m:r>
                      <a:rPr lang="da-DK" b="0" i="1" smtClean="0">
                        <a:solidFill>
                          <a:srgbClr val="666666"/>
                        </a:solidFill>
                        <a:latin typeface="Cambria Math" panose="02040503050406030204" pitchFamily="18" charset="0"/>
                      </a:rPr>
                      <m:t>𝜇</m:t>
                    </m:r>
                  </m:oMath>
                </a14:m>
                <a:r>
                  <a:rPr lang="en-GB" i="1" dirty="0">
                    <a:solidFill>
                      <a:srgbClr val="666666"/>
                    </a:solidFill>
                  </a:rPr>
                  <a:t> and be normally distributed with variance </a:t>
                </a:r>
                <a14:m>
                  <m:oMath xmlns:m="http://schemas.openxmlformats.org/officeDocument/2006/math">
                    <m:sSup>
                      <m:sSupPr>
                        <m:ctrlPr>
                          <a:rPr lang="da-DK" b="0" i="1" smtClean="0">
                            <a:solidFill>
                              <a:srgbClr val="666666"/>
                            </a:solidFill>
                            <a:latin typeface="Cambria Math" panose="02040503050406030204" pitchFamily="18" charset="0"/>
                          </a:rPr>
                        </m:ctrlPr>
                      </m:sSupPr>
                      <m:e>
                        <m:r>
                          <a:rPr lang="da-DK" b="0" i="1" smtClean="0">
                            <a:solidFill>
                              <a:srgbClr val="666666"/>
                            </a:solidFill>
                            <a:latin typeface="Cambria Math" panose="02040503050406030204" pitchFamily="18" charset="0"/>
                          </a:rPr>
                          <m:t>𝜎</m:t>
                        </m:r>
                      </m:e>
                      <m:sup>
                        <m:r>
                          <a:rPr lang="da-DK" b="0" i="1" smtClean="0">
                            <a:solidFill>
                              <a:srgbClr val="666666"/>
                            </a:solidFill>
                            <a:latin typeface="Cambria Math" panose="02040503050406030204" pitchFamily="18" charset="0"/>
                          </a:rPr>
                          <m:t>2</m:t>
                        </m:r>
                      </m:sup>
                    </m:sSup>
                  </m:oMath>
                </a14:m>
                <a:r>
                  <a:rPr lang="en-GB" i="1" dirty="0">
                    <a:solidFill>
                      <a:srgbClr val="666666"/>
                    </a:solidFill>
                  </a:rPr>
                  <a:t> as the sample size increases, no matter the underlying probability distribution.</a:t>
                </a:r>
              </a:p>
            </p:txBody>
          </p:sp>
        </mc:Choice>
        <mc:Fallback xmlns="">
          <p:sp>
            <p:nvSpPr>
              <p:cNvPr id="3" name="TextBox 2">
                <a:extLst>
                  <a:ext uri="{FF2B5EF4-FFF2-40B4-BE49-F238E27FC236}">
                    <a16:creationId xmlns:a16="http://schemas.microsoft.com/office/drawing/2014/main" id="{5E84CB69-58F2-B428-FFA9-F640A64C602C}"/>
                  </a:ext>
                </a:extLst>
              </p:cNvPr>
              <p:cNvSpPr txBox="1">
                <a:spLocks noRot="1" noChangeAspect="1" noMove="1" noResize="1" noEditPoints="1" noAdjustHandles="1" noChangeArrowheads="1" noChangeShapeType="1" noTextEdit="1"/>
              </p:cNvSpPr>
              <p:nvPr/>
            </p:nvSpPr>
            <p:spPr>
              <a:xfrm>
                <a:off x="899885" y="1933234"/>
                <a:ext cx="2669190" cy="3970318"/>
              </a:xfrm>
              <a:prstGeom prst="rect">
                <a:avLst/>
              </a:prstGeom>
              <a:blipFill>
                <a:blip r:embed="rId5"/>
                <a:stretch>
                  <a:fillRect l="-2059" t="-614" r="-4348" b="-1690"/>
                </a:stretch>
              </a:blipFill>
            </p:spPr>
            <p:txBody>
              <a:bodyPr/>
              <a:lstStyle/>
              <a:p>
                <a:r>
                  <a:rPr lang="en-GB">
                    <a:noFill/>
                  </a:rPr>
                  <a:t> </a:t>
                </a:r>
              </a:p>
            </p:txBody>
          </p:sp>
        </mc:Fallback>
      </mc:AlternateContent>
    </p:spTree>
    <p:extLst>
      <p:ext uri="{BB962C8B-B14F-4D97-AF65-F5344CB8AC3E}">
        <p14:creationId xmlns:p14="http://schemas.microsoft.com/office/powerpoint/2010/main" val="2442807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527BF-9D0F-DB3F-2079-2497A717E46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874EDE0-57EC-680E-E12E-274E1C928768}"/>
              </a:ext>
            </a:extLst>
          </p:cNvPr>
          <p:cNvPicPr>
            <a:picLocks noChangeAspect="1"/>
          </p:cNvPicPr>
          <p:nvPr/>
        </p:nvPicPr>
        <p:blipFill>
          <a:blip r:embed="rId3"/>
          <a:srcRect/>
          <a:stretch/>
        </p:blipFill>
        <p:spPr>
          <a:xfrm>
            <a:off x="1103709" y="2118277"/>
            <a:ext cx="5505450" cy="4171950"/>
          </a:xfrm>
          <a:prstGeom prst="rect">
            <a:avLst/>
          </a:prstGeom>
        </p:spPr>
      </p:pic>
      <p:sp>
        <p:nvSpPr>
          <p:cNvPr id="2" name="Title 1">
            <a:extLst>
              <a:ext uri="{FF2B5EF4-FFF2-40B4-BE49-F238E27FC236}">
                <a16:creationId xmlns:a16="http://schemas.microsoft.com/office/drawing/2014/main" id="{BC0F9EA6-C527-5797-369B-C62E34EF3209}"/>
              </a:ext>
            </a:extLst>
          </p:cNvPr>
          <p:cNvSpPr>
            <a:spLocks noGrp="1"/>
          </p:cNvSpPr>
          <p:nvPr>
            <p:ph type="title"/>
          </p:nvPr>
        </p:nvSpPr>
        <p:spPr>
          <a:xfrm>
            <a:off x="1103709" y="265373"/>
            <a:ext cx="9360000" cy="1181687"/>
          </a:xfrm>
        </p:spPr>
        <p:txBody>
          <a:bodyPr/>
          <a:lstStyle/>
          <a:p>
            <a:r>
              <a:rPr lang="en-GB" sz="3600" dirty="0"/>
              <a:t>Thinking about data probabilistically</a:t>
            </a:r>
          </a:p>
        </p:txBody>
      </p:sp>
      <p:sp>
        <p:nvSpPr>
          <p:cNvPr id="4" name="Slide Number Placeholder 3">
            <a:extLst>
              <a:ext uri="{FF2B5EF4-FFF2-40B4-BE49-F238E27FC236}">
                <a16:creationId xmlns:a16="http://schemas.microsoft.com/office/drawing/2014/main" id="{F5478A78-3C00-0419-4A51-B392B2443EF3}"/>
              </a:ext>
            </a:extLst>
          </p:cNvPr>
          <p:cNvSpPr>
            <a:spLocks noGrp="1"/>
          </p:cNvSpPr>
          <p:nvPr>
            <p:ph type="sldNum" sz="quarter" idx="12"/>
          </p:nvPr>
        </p:nvSpPr>
        <p:spPr/>
        <p:txBody>
          <a:bodyPr/>
          <a:lstStyle/>
          <a:p>
            <a:fld id="{F7283078-D760-1647-8B80-66BA8B52336D}" type="slidenum">
              <a:rPr lang="en-GB" smtClean="0"/>
              <a:t>13</a:t>
            </a:fld>
            <a:endParaRPr lang="en-GB"/>
          </a:p>
        </p:txBody>
      </p:sp>
      <p:sp>
        <p:nvSpPr>
          <p:cNvPr id="8" name="Date Placeholder 7">
            <a:extLst>
              <a:ext uri="{FF2B5EF4-FFF2-40B4-BE49-F238E27FC236}">
                <a16:creationId xmlns:a16="http://schemas.microsoft.com/office/drawing/2014/main" id="{477F1A0A-3F87-BD77-1AF4-A8A699F0FFFB}"/>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A9D70A1-BFBA-09B3-E0A9-42B10343B44C}"/>
                  </a:ext>
                </a:extLst>
              </p:cNvPr>
              <p:cNvSpPr txBox="1"/>
              <p:nvPr/>
            </p:nvSpPr>
            <p:spPr>
              <a:xfrm>
                <a:off x="3174384" y="2547135"/>
                <a:ext cx="1510798" cy="276999"/>
              </a:xfrm>
              <a:prstGeom prst="rect">
                <a:avLst/>
              </a:prstGeom>
              <a:noFill/>
            </p:spPr>
            <p:txBody>
              <a:bodyPr wrap="none" lIns="0" tIns="0" rIns="0" bIns="0" rtlCol="0">
                <a:spAutoFit/>
              </a:bodyPr>
              <a:lstStyle/>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=6.5±0.01</m:t>
                      </m:r>
                    </m:oMath>
                  </m:oMathPara>
                </a14:m>
                <a:endParaRPr lang="da-DK" b="0" dirty="0">
                  <a:solidFill>
                    <a:srgbClr val="666666"/>
                  </a:solidFill>
                </a:endParaRPr>
              </a:p>
            </p:txBody>
          </p:sp>
        </mc:Choice>
        <mc:Fallback xmlns="">
          <p:sp>
            <p:nvSpPr>
              <p:cNvPr id="28" name="TextBox 27">
                <a:extLst>
                  <a:ext uri="{FF2B5EF4-FFF2-40B4-BE49-F238E27FC236}">
                    <a16:creationId xmlns:a16="http://schemas.microsoft.com/office/drawing/2014/main" id="{2A9D70A1-BFBA-09B3-E0A9-42B10343B44C}"/>
                  </a:ext>
                </a:extLst>
              </p:cNvPr>
              <p:cNvSpPr txBox="1">
                <a:spLocks noRot="1" noChangeAspect="1" noMove="1" noResize="1" noEditPoints="1" noAdjustHandles="1" noChangeArrowheads="1" noChangeShapeType="1" noTextEdit="1"/>
              </p:cNvSpPr>
              <p:nvPr/>
            </p:nvSpPr>
            <p:spPr>
              <a:xfrm>
                <a:off x="3174384" y="2547135"/>
                <a:ext cx="1510798" cy="276999"/>
              </a:xfrm>
              <a:prstGeom prst="rect">
                <a:avLst/>
              </a:prstGeom>
              <a:blipFill>
                <a:blip r:embed="rId4"/>
                <a:stretch>
                  <a:fillRect l="-3226" t="-22222" r="-2823" b="-3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94D5F81-0423-6A05-02B9-942E9816784B}"/>
                  </a:ext>
                </a:extLst>
              </p:cNvPr>
              <p:cNvSpPr txBox="1"/>
              <p:nvPr/>
            </p:nvSpPr>
            <p:spPr>
              <a:xfrm>
                <a:off x="7109791" y="2348948"/>
                <a:ext cx="3523337" cy="1576072"/>
              </a:xfrm>
              <a:prstGeom prst="rect">
                <a:avLst/>
              </a:prstGeom>
              <a:noFill/>
            </p:spPr>
            <p:txBody>
              <a:bodyPr wrap="none" lIns="0" tIns="0" rIns="0" bIns="0" rtlCol="0">
                <a:spAutoFit/>
              </a:bodyPr>
              <a:lstStyle/>
              <a:p>
                <a:pPr algn="l"/>
                <a14:m>
                  <m:oMathPara xmlns:m="http://schemas.openxmlformats.org/officeDocument/2006/math">
                    <m:oMath>
                      <m:borderBox>
                        <m:borderBoxPr>
                          <m:ctrlPr>
                            <a:rPr lang="da-DK" b="0" i="1" smtClean="0">
                              <a:solidFill>
                                <a:srgbClr val="0099DC"/>
                              </a:solidFill>
                              <a:latin typeface="Cambria Math" panose="02040503050406030204" pitchFamily="18" charset="0"/>
                            </a:rPr>
                          </m:ctrlPr>
                        </m:borderBoxPr>
                        <m:e>
                          <m:r>
                            <a:rPr lang="da-DK" b="0" i="1" smtClean="0">
                              <a:solidFill>
                                <a:srgbClr val="0099DC"/>
                              </a:solidFill>
                              <a:latin typeface="Cambria Math" panose="02040503050406030204" pitchFamily="18" charset="0"/>
                            </a:rPr>
                            <m:t>𝑝</m:t>
                          </m:r>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𝑦</m:t>
                              </m:r>
                            </m:e>
                          </m:d>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1</m:t>
                              </m:r>
                            </m:num>
                            <m:den>
                              <m:r>
                                <a:rPr lang="da-DK" b="0" i="1" smtClean="0">
                                  <a:solidFill>
                                    <a:srgbClr val="0099DC"/>
                                  </a:solidFill>
                                  <a:latin typeface="Cambria Math" panose="02040503050406030204" pitchFamily="18" charset="0"/>
                                </a:rPr>
                                <m:t>𝜎</m:t>
                              </m:r>
                              <m:rad>
                                <m:radPr>
                                  <m:degHide m:val="on"/>
                                  <m:ctrlPr>
                                    <a:rPr lang="da-DK" b="0" i="1" smtClean="0">
                                      <a:solidFill>
                                        <a:srgbClr val="0099DC"/>
                                      </a:solidFill>
                                      <a:latin typeface="Cambria Math" panose="02040503050406030204" pitchFamily="18" charset="0"/>
                                    </a:rPr>
                                  </m:ctrlPr>
                                </m:radPr>
                                <m:deg/>
                                <m:e>
                                  <m:r>
                                    <a:rPr lang="da-DK" b="0" i="1" smtClean="0">
                                      <a:solidFill>
                                        <a:srgbClr val="0099DC"/>
                                      </a:solidFill>
                                      <a:latin typeface="Cambria Math" panose="02040503050406030204" pitchFamily="18" charset="0"/>
                                    </a:rPr>
                                    <m:t>2</m:t>
                                  </m:r>
                                  <m:r>
                                    <a:rPr lang="da-DK" b="0" i="1" smtClean="0">
                                      <a:solidFill>
                                        <a:srgbClr val="0099DC"/>
                                      </a:solidFill>
                                      <a:latin typeface="Cambria Math" panose="02040503050406030204" pitchFamily="18" charset="0"/>
                                    </a:rPr>
                                    <m:t>𝜋</m:t>
                                  </m:r>
                                </m:e>
                              </m:rad>
                            </m:den>
                          </m:f>
                          <m:func>
                            <m:funcPr>
                              <m:ctrlPr>
                                <a:rPr lang="da-DK" b="0" i="0" smtClean="0">
                                  <a:solidFill>
                                    <a:srgbClr val="0099DC"/>
                                  </a:solidFill>
                                  <a:latin typeface="Cambria Math" panose="02040503050406030204" pitchFamily="18" charset="0"/>
                                </a:rPr>
                              </m:ctrlPr>
                            </m:funcPr>
                            <m:fName>
                              <m:r>
                                <m:rPr>
                                  <m:sty m:val="p"/>
                                </m:rPr>
                                <a:rPr lang="da-DK" b="0" i="0" smtClean="0">
                                  <a:solidFill>
                                    <a:srgbClr val="0099DC"/>
                                  </a:solidFill>
                                  <a:latin typeface="Cambria Math" panose="02040503050406030204" pitchFamily="18" charset="0"/>
                                </a:rPr>
                                <m:t>exp</m:t>
                              </m:r>
                            </m:fName>
                            <m:e>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1</m:t>
                                      </m:r>
                                    </m:num>
                                    <m:den>
                                      <m:r>
                                        <a:rPr lang="da-DK" b="0" i="1" smtClean="0">
                                          <a:solidFill>
                                            <a:srgbClr val="0099DC"/>
                                          </a:solidFill>
                                          <a:latin typeface="Cambria Math" panose="02040503050406030204" pitchFamily="18" charset="0"/>
                                        </a:rPr>
                                        <m:t>2</m:t>
                                      </m:r>
                                    </m:den>
                                  </m:f>
                                  <m:sSup>
                                    <m:sSupPr>
                                      <m:ctrlPr>
                                        <a:rPr lang="da-DK" b="0" i="1" smtClean="0">
                                          <a:solidFill>
                                            <a:srgbClr val="0099DC"/>
                                          </a:solidFill>
                                          <a:latin typeface="Cambria Math" panose="02040503050406030204" pitchFamily="18" charset="0"/>
                                        </a:rPr>
                                      </m:ctrlPr>
                                    </m:sSupPr>
                                    <m:e>
                                      <m:d>
                                        <m:dPr>
                                          <m:ctrlPr>
                                            <a:rPr lang="da-DK" b="0" i="1" smtClean="0">
                                              <a:solidFill>
                                                <a:srgbClr val="0099DC"/>
                                              </a:solidFill>
                                              <a:latin typeface="Cambria Math" panose="02040503050406030204" pitchFamily="18" charset="0"/>
                                            </a:rPr>
                                          </m:ctrlPr>
                                        </m:dPr>
                                        <m:e>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𝑦</m:t>
                                              </m:r>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𝜇</m:t>
                                              </m:r>
                                            </m:num>
                                            <m:den>
                                              <m:r>
                                                <a:rPr lang="da-DK" b="0" i="1" smtClean="0">
                                                  <a:solidFill>
                                                    <a:srgbClr val="0099DC"/>
                                                  </a:solidFill>
                                                  <a:latin typeface="Cambria Math" panose="02040503050406030204" pitchFamily="18" charset="0"/>
                                                </a:rPr>
                                                <m:t>𝜎</m:t>
                                              </m:r>
                                            </m:den>
                                          </m:f>
                                        </m:e>
                                      </m:d>
                                    </m:e>
                                    <m:sup>
                                      <m:r>
                                        <a:rPr lang="da-DK" b="0" i="1" smtClean="0">
                                          <a:solidFill>
                                            <a:srgbClr val="0099DC"/>
                                          </a:solidFill>
                                          <a:latin typeface="Cambria Math" panose="02040503050406030204" pitchFamily="18" charset="0"/>
                                        </a:rPr>
                                        <m:t>2</m:t>
                                      </m:r>
                                    </m:sup>
                                  </m:sSup>
                                </m:e>
                              </m:d>
                            </m:e>
                          </m:func>
                        </m:e>
                      </m:borderBox>
                    </m:oMath>
                  </m:oMathPara>
                </a14:m>
                <a:endParaRPr lang="da-DK" dirty="0">
                  <a:solidFill>
                    <a:srgbClr val="666666"/>
                  </a:solidFill>
                </a:endParaRPr>
              </a:p>
              <a:p>
                <a:pPr algn="l"/>
                <a:r>
                  <a:rPr lang="da-DK" b="0" dirty="0">
                    <a:solidFill>
                      <a:srgbClr val="666666"/>
                    </a:solidFill>
                  </a:rPr>
                  <a:t> </a:t>
                </a:r>
                <a:endParaRPr lang="da-DK" b="0" i="1" dirty="0">
                  <a:solidFill>
                    <a:srgbClr val="0099DC"/>
                  </a:solidFill>
                  <a:latin typeface="Cambria Math" panose="02040503050406030204" pitchFamily="18" charset="0"/>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𝜇</m:t>
                    </m:r>
                    <m:r>
                      <a:rPr lang="da-DK" b="0" i="1" smtClean="0">
                        <a:solidFill>
                          <a:srgbClr val="0099DC"/>
                        </a:solidFill>
                        <a:latin typeface="Cambria Math" panose="02040503050406030204" pitchFamily="18" charset="0"/>
                      </a:rPr>
                      <m:t>=6.5</m:t>
                    </m:r>
                  </m:oMath>
                </a14:m>
                <a:endParaRPr lang="da-DK" b="0" dirty="0">
                  <a:solidFill>
                    <a:srgbClr val="0099DC"/>
                  </a:solidFill>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𝜎</m:t>
                    </m:r>
                    <m:r>
                      <a:rPr lang="da-DK" b="0" i="1" smtClean="0">
                        <a:solidFill>
                          <a:srgbClr val="0099DC"/>
                        </a:solidFill>
                        <a:latin typeface="Cambria Math" panose="02040503050406030204" pitchFamily="18" charset="0"/>
                      </a:rPr>
                      <m:t>=0.01</m:t>
                    </m:r>
                  </m:oMath>
                </a14:m>
                <a:endParaRPr lang="en-GB" dirty="0">
                  <a:solidFill>
                    <a:srgbClr val="0099DC"/>
                  </a:solidFill>
                </a:endParaRPr>
              </a:p>
            </p:txBody>
          </p:sp>
        </mc:Choice>
        <mc:Fallback xmlns="">
          <p:sp>
            <p:nvSpPr>
              <p:cNvPr id="3" name="TextBox 2">
                <a:extLst>
                  <a:ext uri="{FF2B5EF4-FFF2-40B4-BE49-F238E27FC236}">
                    <a16:creationId xmlns:a16="http://schemas.microsoft.com/office/drawing/2014/main" id="{E94D5F81-0423-6A05-02B9-942E9816784B}"/>
                  </a:ext>
                </a:extLst>
              </p:cNvPr>
              <p:cNvSpPr txBox="1">
                <a:spLocks noRot="1" noChangeAspect="1" noMove="1" noResize="1" noEditPoints="1" noAdjustHandles="1" noChangeArrowheads="1" noChangeShapeType="1" noTextEdit="1"/>
              </p:cNvSpPr>
              <p:nvPr/>
            </p:nvSpPr>
            <p:spPr>
              <a:xfrm>
                <a:off x="7109791" y="2348948"/>
                <a:ext cx="3523337" cy="1576072"/>
              </a:xfrm>
              <a:prstGeom prst="rect">
                <a:avLst/>
              </a:prstGeom>
              <a:blipFill>
                <a:blip r:embed="rId5"/>
                <a:stretch>
                  <a:fillRect l="-519" b="-1158"/>
                </a:stretch>
              </a:blipFill>
            </p:spPr>
            <p:txBody>
              <a:bodyPr/>
              <a:lstStyle/>
              <a:p>
                <a:r>
                  <a:rPr lang="en-GB">
                    <a:noFill/>
                  </a:rPr>
                  <a:t> </a:t>
                </a:r>
              </a:p>
            </p:txBody>
          </p:sp>
        </mc:Fallback>
      </mc:AlternateContent>
    </p:spTree>
    <p:extLst>
      <p:ext uri="{BB962C8B-B14F-4D97-AF65-F5344CB8AC3E}">
        <p14:creationId xmlns:p14="http://schemas.microsoft.com/office/powerpoint/2010/main" val="3076314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83E76-6232-C320-1BDD-329C3C886B1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C1DD849E-8C14-71F6-3183-7C2356E3FE64}"/>
              </a:ext>
            </a:extLst>
          </p:cNvPr>
          <p:cNvPicPr>
            <a:picLocks noChangeAspect="1"/>
          </p:cNvPicPr>
          <p:nvPr/>
        </p:nvPicPr>
        <p:blipFill>
          <a:blip r:embed="rId3"/>
          <a:srcRect/>
          <a:stretch/>
        </p:blipFill>
        <p:spPr>
          <a:xfrm>
            <a:off x="1103709" y="2118277"/>
            <a:ext cx="5505450" cy="4171949"/>
          </a:xfrm>
          <a:prstGeom prst="rect">
            <a:avLst/>
          </a:prstGeom>
        </p:spPr>
      </p:pic>
      <p:sp>
        <p:nvSpPr>
          <p:cNvPr id="2" name="Title 1">
            <a:extLst>
              <a:ext uri="{FF2B5EF4-FFF2-40B4-BE49-F238E27FC236}">
                <a16:creationId xmlns:a16="http://schemas.microsoft.com/office/drawing/2014/main" id="{809B0813-49BF-08E8-844F-7C0E1DA0814F}"/>
              </a:ext>
            </a:extLst>
          </p:cNvPr>
          <p:cNvSpPr>
            <a:spLocks noGrp="1"/>
          </p:cNvSpPr>
          <p:nvPr>
            <p:ph type="title"/>
          </p:nvPr>
        </p:nvSpPr>
        <p:spPr>
          <a:xfrm>
            <a:off x="1103709" y="265373"/>
            <a:ext cx="9360000" cy="1181687"/>
          </a:xfrm>
        </p:spPr>
        <p:txBody>
          <a:bodyPr/>
          <a:lstStyle/>
          <a:p>
            <a:r>
              <a:rPr lang="en-GB" sz="3600" dirty="0"/>
              <a:t>Thinking about data probabilistically</a:t>
            </a:r>
          </a:p>
        </p:txBody>
      </p:sp>
      <p:sp>
        <p:nvSpPr>
          <p:cNvPr id="4" name="Slide Number Placeholder 3">
            <a:extLst>
              <a:ext uri="{FF2B5EF4-FFF2-40B4-BE49-F238E27FC236}">
                <a16:creationId xmlns:a16="http://schemas.microsoft.com/office/drawing/2014/main" id="{8F589731-FFBB-59D2-9E72-CB7CDED558F8}"/>
              </a:ext>
            </a:extLst>
          </p:cNvPr>
          <p:cNvSpPr>
            <a:spLocks noGrp="1"/>
          </p:cNvSpPr>
          <p:nvPr>
            <p:ph type="sldNum" sz="quarter" idx="12"/>
          </p:nvPr>
        </p:nvSpPr>
        <p:spPr/>
        <p:txBody>
          <a:bodyPr/>
          <a:lstStyle/>
          <a:p>
            <a:fld id="{F7283078-D760-1647-8B80-66BA8B52336D}" type="slidenum">
              <a:rPr lang="en-GB" smtClean="0"/>
              <a:t>14</a:t>
            </a:fld>
            <a:endParaRPr lang="en-GB"/>
          </a:p>
        </p:txBody>
      </p:sp>
      <p:sp>
        <p:nvSpPr>
          <p:cNvPr id="8" name="Date Placeholder 7">
            <a:extLst>
              <a:ext uri="{FF2B5EF4-FFF2-40B4-BE49-F238E27FC236}">
                <a16:creationId xmlns:a16="http://schemas.microsoft.com/office/drawing/2014/main" id="{E3491BAD-A866-2E15-EDB9-74A5C4CF3D3D}"/>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B145996-658B-0434-85EB-EE3B84A6FA28}"/>
                  </a:ext>
                </a:extLst>
              </p:cNvPr>
              <p:cNvSpPr txBox="1"/>
              <p:nvPr/>
            </p:nvSpPr>
            <p:spPr>
              <a:xfrm>
                <a:off x="3174384" y="2547135"/>
                <a:ext cx="1510798" cy="276999"/>
              </a:xfrm>
              <a:prstGeom prst="rect">
                <a:avLst/>
              </a:prstGeom>
              <a:noFill/>
            </p:spPr>
            <p:txBody>
              <a:bodyPr wrap="none" lIns="0" tIns="0" rIns="0" bIns="0" rtlCol="0">
                <a:spAutoFit/>
              </a:bodyPr>
              <a:lstStyle/>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=6.5±0.01</m:t>
                      </m:r>
                    </m:oMath>
                  </m:oMathPara>
                </a14:m>
                <a:endParaRPr lang="da-DK" b="0" dirty="0">
                  <a:solidFill>
                    <a:srgbClr val="666666"/>
                  </a:solidFill>
                </a:endParaRPr>
              </a:p>
            </p:txBody>
          </p:sp>
        </mc:Choice>
        <mc:Fallback xmlns="">
          <p:sp>
            <p:nvSpPr>
              <p:cNvPr id="28" name="TextBox 27">
                <a:extLst>
                  <a:ext uri="{FF2B5EF4-FFF2-40B4-BE49-F238E27FC236}">
                    <a16:creationId xmlns:a16="http://schemas.microsoft.com/office/drawing/2014/main" id="{FB145996-658B-0434-85EB-EE3B84A6FA28}"/>
                  </a:ext>
                </a:extLst>
              </p:cNvPr>
              <p:cNvSpPr txBox="1">
                <a:spLocks noRot="1" noChangeAspect="1" noMove="1" noResize="1" noEditPoints="1" noAdjustHandles="1" noChangeArrowheads="1" noChangeShapeType="1" noTextEdit="1"/>
              </p:cNvSpPr>
              <p:nvPr/>
            </p:nvSpPr>
            <p:spPr>
              <a:xfrm>
                <a:off x="3174384" y="2547135"/>
                <a:ext cx="1510798" cy="276999"/>
              </a:xfrm>
              <a:prstGeom prst="rect">
                <a:avLst/>
              </a:prstGeom>
              <a:blipFill>
                <a:blip r:embed="rId4"/>
                <a:stretch>
                  <a:fillRect l="-3226" t="-22222" r="-2823" b="-3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E52D1EB-0EA6-7829-B374-9F405E7BD900}"/>
                  </a:ext>
                </a:extLst>
              </p:cNvPr>
              <p:cNvSpPr txBox="1"/>
              <p:nvPr/>
            </p:nvSpPr>
            <p:spPr>
              <a:xfrm>
                <a:off x="7109791" y="2348948"/>
                <a:ext cx="3536161" cy="2130070"/>
              </a:xfrm>
              <a:prstGeom prst="rect">
                <a:avLst/>
              </a:prstGeom>
              <a:noFill/>
            </p:spPr>
            <p:txBody>
              <a:bodyPr wrap="none" lIns="0" tIns="0" rIns="0" bIns="0" rtlCol="0">
                <a:spAutoFit/>
              </a:bodyPr>
              <a:lstStyle/>
              <a:p>
                <a:pPr algn="l"/>
                <a14:m>
                  <m:oMathPara xmlns:m="http://schemas.openxmlformats.org/officeDocument/2006/math">
                    <m:oMath>
                      <m:borderBox>
                        <m:borderBoxPr>
                          <m:ctrlPr>
                            <a:rPr lang="da-DK" b="0" i="1" smtClean="0">
                              <a:solidFill>
                                <a:srgbClr val="0099DC"/>
                              </a:solidFill>
                              <a:latin typeface="Cambria Math" panose="02040503050406030204" pitchFamily="18" charset="0"/>
                            </a:rPr>
                          </m:ctrlPr>
                        </m:borderBoxPr>
                        <m:e>
                          <m:r>
                            <a:rPr lang="da-DK" b="0" i="1" smtClean="0">
                              <a:solidFill>
                                <a:srgbClr val="0099DC"/>
                              </a:solidFill>
                              <a:latin typeface="Cambria Math" panose="02040503050406030204" pitchFamily="18" charset="0"/>
                            </a:rPr>
                            <m:t>𝑝</m:t>
                          </m:r>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𝑦</m:t>
                              </m:r>
                            </m:e>
                          </m:d>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1</m:t>
                              </m:r>
                            </m:num>
                            <m:den>
                              <m:r>
                                <a:rPr lang="da-DK" b="0" i="1" smtClean="0">
                                  <a:solidFill>
                                    <a:srgbClr val="0099DC"/>
                                  </a:solidFill>
                                  <a:latin typeface="Cambria Math" panose="02040503050406030204" pitchFamily="18" charset="0"/>
                                </a:rPr>
                                <m:t>𝜎</m:t>
                              </m:r>
                              <m:rad>
                                <m:radPr>
                                  <m:degHide m:val="on"/>
                                  <m:ctrlPr>
                                    <a:rPr lang="da-DK" b="0" i="1" smtClean="0">
                                      <a:solidFill>
                                        <a:srgbClr val="0099DC"/>
                                      </a:solidFill>
                                      <a:latin typeface="Cambria Math" panose="02040503050406030204" pitchFamily="18" charset="0"/>
                                    </a:rPr>
                                  </m:ctrlPr>
                                </m:radPr>
                                <m:deg/>
                                <m:e>
                                  <m:r>
                                    <a:rPr lang="da-DK" b="0" i="1" smtClean="0">
                                      <a:solidFill>
                                        <a:srgbClr val="0099DC"/>
                                      </a:solidFill>
                                      <a:latin typeface="Cambria Math" panose="02040503050406030204" pitchFamily="18" charset="0"/>
                                    </a:rPr>
                                    <m:t>2</m:t>
                                  </m:r>
                                  <m:r>
                                    <a:rPr lang="da-DK" b="0" i="1" smtClean="0">
                                      <a:solidFill>
                                        <a:srgbClr val="0099DC"/>
                                      </a:solidFill>
                                      <a:latin typeface="Cambria Math" panose="02040503050406030204" pitchFamily="18" charset="0"/>
                                    </a:rPr>
                                    <m:t>𝜋</m:t>
                                  </m:r>
                                </m:e>
                              </m:rad>
                            </m:den>
                          </m:f>
                          <m:func>
                            <m:funcPr>
                              <m:ctrlPr>
                                <a:rPr lang="da-DK" b="0" i="0" smtClean="0">
                                  <a:solidFill>
                                    <a:srgbClr val="0099DC"/>
                                  </a:solidFill>
                                  <a:latin typeface="Cambria Math" panose="02040503050406030204" pitchFamily="18" charset="0"/>
                                </a:rPr>
                              </m:ctrlPr>
                            </m:funcPr>
                            <m:fName>
                              <m:r>
                                <m:rPr>
                                  <m:sty m:val="p"/>
                                </m:rPr>
                                <a:rPr lang="da-DK" b="0" i="0" smtClean="0">
                                  <a:solidFill>
                                    <a:srgbClr val="0099DC"/>
                                  </a:solidFill>
                                  <a:latin typeface="Cambria Math" panose="02040503050406030204" pitchFamily="18" charset="0"/>
                                </a:rPr>
                                <m:t>exp</m:t>
                              </m:r>
                            </m:fName>
                            <m:e>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1</m:t>
                                      </m:r>
                                    </m:num>
                                    <m:den>
                                      <m:r>
                                        <a:rPr lang="da-DK" b="0" i="1" smtClean="0">
                                          <a:solidFill>
                                            <a:srgbClr val="0099DC"/>
                                          </a:solidFill>
                                          <a:latin typeface="Cambria Math" panose="02040503050406030204" pitchFamily="18" charset="0"/>
                                        </a:rPr>
                                        <m:t>2</m:t>
                                      </m:r>
                                    </m:den>
                                  </m:f>
                                  <m:sSup>
                                    <m:sSupPr>
                                      <m:ctrlPr>
                                        <a:rPr lang="da-DK" b="0" i="1" smtClean="0">
                                          <a:solidFill>
                                            <a:srgbClr val="0099DC"/>
                                          </a:solidFill>
                                          <a:latin typeface="Cambria Math" panose="02040503050406030204" pitchFamily="18" charset="0"/>
                                        </a:rPr>
                                      </m:ctrlPr>
                                    </m:sSupPr>
                                    <m:e>
                                      <m:d>
                                        <m:dPr>
                                          <m:ctrlPr>
                                            <a:rPr lang="da-DK" b="0" i="1" smtClean="0">
                                              <a:solidFill>
                                                <a:srgbClr val="0099DC"/>
                                              </a:solidFill>
                                              <a:latin typeface="Cambria Math" panose="02040503050406030204" pitchFamily="18" charset="0"/>
                                            </a:rPr>
                                          </m:ctrlPr>
                                        </m:dPr>
                                        <m:e>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𝑦</m:t>
                                              </m:r>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𝜇</m:t>
                                              </m:r>
                                            </m:num>
                                            <m:den>
                                              <m:r>
                                                <a:rPr lang="da-DK" b="0" i="1" smtClean="0">
                                                  <a:solidFill>
                                                    <a:srgbClr val="0099DC"/>
                                                  </a:solidFill>
                                                  <a:latin typeface="Cambria Math" panose="02040503050406030204" pitchFamily="18" charset="0"/>
                                                </a:rPr>
                                                <m:t>𝜎</m:t>
                                              </m:r>
                                            </m:den>
                                          </m:f>
                                        </m:e>
                                      </m:d>
                                    </m:e>
                                    <m:sup>
                                      <m:r>
                                        <a:rPr lang="da-DK" b="0" i="1" smtClean="0">
                                          <a:solidFill>
                                            <a:srgbClr val="0099DC"/>
                                          </a:solidFill>
                                          <a:latin typeface="Cambria Math" panose="02040503050406030204" pitchFamily="18" charset="0"/>
                                        </a:rPr>
                                        <m:t>2</m:t>
                                      </m:r>
                                    </m:sup>
                                  </m:sSup>
                                </m:e>
                              </m:d>
                            </m:e>
                          </m:func>
                        </m:e>
                      </m:borderBox>
                    </m:oMath>
                  </m:oMathPara>
                </a14:m>
                <a:endParaRPr lang="da-DK" dirty="0">
                  <a:solidFill>
                    <a:srgbClr val="666666"/>
                  </a:solidFill>
                </a:endParaRPr>
              </a:p>
              <a:p>
                <a:pPr algn="l"/>
                <a:r>
                  <a:rPr lang="da-DK" b="0" dirty="0">
                    <a:solidFill>
                      <a:srgbClr val="666666"/>
                    </a:solidFill>
                  </a:rPr>
                  <a:t> </a:t>
                </a:r>
                <a:endParaRPr lang="da-DK" b="0" i="1" dirty="0">
                  <a:solidFill>
                    <a:srgbClr val="0099DC"/>
                  </a:solidFill>
                  <a:latin typeface="Cambria Math" panose="02040503050406030204" pitchFamily="18" charset="0"/>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𝜇</m:t>
                    </m:r>
                    <m:r>
                      <a:rPr lang="da-DK" b="0" i="1" smtClean="0">
                        <a:solidFill>
                          <a:srgbClr val="0099DC"/>
                        </a:solidFill>
                        <a:latin typeface="Cambria Math" panose="02040503050406030204" pitchFamily="18" charset="0"/>
                      </a:rPr>
                      <m:t>=6.5</m:t>
                    </m:r>
                  </m:oMath>
                </a14:m>
                <a:endParaRPr lang="da-DK" b="0" dirty="0">
                  <a:solidFill>
                    <a:srgbClr val="0099DC"/>
                  </a:solidFill>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𝜎</m:t>
                    </m:r>
                    <m:r>
                      <a:rPr lang="da-DK" b="0" i="1" smtClean="0">
                        <a:solidFill>
                          <a:srgbClr val="0099DC"/>
                        </a:solidFill>
                        <a:latin typeface="Cambria Math" panose="02040503050406030204" pitchFamily="18" charset="0"/>
                      </a:rPr>
                      <m:t>=0.01</m:t>
                    </m:r>
                  </m:oMath>
                </a14:m>
                <a:endParaRPr lang="da-DK" b="0" i="1" dirty="0">
                  <a:solidFill>
                    <a:srgbClr val="0099DC"/>
                  </a:solidFill>
                  <a:latin typeface="Cambria Math" panose="02040503050406030204" pitchFamily="18" charset="0"/>
                </a:endParaRPr>
              </a:p>
              <a:p>
                <a:pPr algn="l"/>
                <a:r>
                  <a:rPr lang="da-DK" b="0" dirty="0">
                    <a:solidFill>
                      <a:srgbClr val="0099DC"/>
                    </a:solidFill>
                  </a:rPr>
                  <a:t> </a:t>
                </a:r>
              </a:p>
              <a:p>
                <a:pPr algn="l"/>
                <a:r>
                  <a:rPr lang="da-DK"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𝑝</m:t>
                    </m:r>
                    <m:d>
                      <m:dPr>
                        <m:ctrlPr>
                          <a:rPr lang="da-DK" b="0" i="1" smtClean="0">
                            <a:solidFill>
                              <a:srgbClr val="FFC000"/>
                            </a:solidFill>
                            <a:latin typeface="Cambria Math" panose="02040503050406030204" pitchFamily="18" charset="0"/>
                          </a:rPr>
                        </m:ctrlPr>
                      </m:dPr>
                      <m:e>
                        <m:r>
                          <a:rPr lang="da-DK" b="0" i="1" smtClean="0">
                            <a:solidFill>
                              <a:srgbClr val="FFC000"/>
                            </a:solidFill>
                            <a:latin typeface="Cambria Math" panose="02040503050406030204" pitchFamily="18" charset="0"/>
                          </a:rPr>
                          <m:t>𝜇</m:t>
                        </m:r>
                        <m:r>
                          <a:rPr lang="da-DK" b="0" i="1" smtClean="0">
                            <a:solidFill>
                              <a:srgbClr val="FFC000"/>
                            </a:solidFill>
                            <a:latin typeface="Cambria Math" panose="02040503050406030204" pitchFamily="18" charset="0"/>
                          </a:rPr>
                          <m:t>±</m:t>
                        </m:r>
                        <m:r>
                          <a:rPr lang="da-DK" b="0" i="1" smtClean="0">
                            <a:solidFill>
                              <a:srgbClr val="FFC000"/>
                            </a:solidFill>
                            <a:latin typeface="Cambria Math" panose="02040503050406030204" pitchFamily="18" charset="0"/>
                          </a:rPr>
                          <m:t>𝜎</m:t>
                        </m:r>
                      </m:e>
                    </m:d>
                    <m:r>
                      <a:rPr lang="da-DK" b="0" i="1" smtClean="0">
                        <a:solidFill>
                          <a:srgbClr val="0099DC"/>
                        </a:solidFill>
                        <a:latin typeface="Cambria Math" panose="02040503050406030204" pitchFamily="18" charset="0"/>
                      </a:rPr>
                      <m:t>≈</m:t>
                    </m:r>
                    <m:r>
                      <a:rPr lang="da-DK" b="0" i="1" smtClean="0">
                        <a:solidFill>
                          <a:srgbClr val="FFC000"/>
                        </a:solidFill>
                        <a:latin typeface="Cambria Math" panose="02040503050406030204" pitchFamily="18" charset="0"/>
                      </a:rPr>
                      <m:t>68%</m:t>
                    </m:r>
                  </m:oMath>
                </a14:m>
                <a:endParaRPr lang="en-GB" dirty="0">
                  <a:solidFill>
                    <a:srgbClr val="0099DC"/>
                  </a:solidFill>
                </a:endParaRPr>
              </a:p>
            </p:txBody>
          </p:sp>
        </mc:Choice>
        <mc:Fallback xmlns="">
          <p:sp>
            <p:nvSpPr>
              <p:cNvPr id="3" name="TextBox 2">
                <a:extLst>
                  <a:ext uri="{FF2B5EF4-FFF2-40B4-BE49-F238E27FC236}">
                    <a16:creationId xmlns:a16="http://schemas.microsoft.com/office/drawing/2014/main" id="{CE52D1EB-0EA6-7829-B374-9F405E7BD900}"/>
                  </a:ext>
                </a:extLst>
              </p:cNvPr>
              <p:cNvSpPr txBox="1">
                <a:spLocks noRot="1" noChangeAspect="1" noMove="1" noResize="1" noEditPoints="1" noAdjustHandles="1" noChangeArrowheads="1" noChangeShapeType="1" noTextEdit="1"/>
              </p:cNvSpPr>
              <p:nvPr/>
            </p:nvSpPr>
            <p:spPr>
              <a:xfrm>
                <a:off x="7109791" y="2348948"/>
                <a:ext cx="3536161" cy="2130070"/>
              </a:xfrm>
              <a:prstGeom prst="rect">
                <a:avLst/>
              </a:prstGeom>
              <a:blipFill>
                <a:blip r:embed="rId5"/>
                <a:stretch>
                  <a:fillRect l="-690" b="-2857"/>
                </a:stretch>
              </a:blipFill>
            </p:spPr>
            <p:txBody>
              <a:bodyPr/>
              <a:lstStyle/>
              <a:p>
                <a:r>
                  <a:rPr lang="en-GB">
                    <a:noFill/>
                  </a:rPr>
                  <a:t> </a:t>
                </a:r>
              </a:p>
            </p:txBody>
          </p:sp>
        </mc:Fallback>
      </mc:AlternateContent>
    </p:spTree>
    <p:extLst>
      <p:ext uri="{BB962C8B-B14F-4D97-AF65-F5344CB8AC3E}">
        <p14:creationId xmlns:p14="http://schemas.microsoft.com/office/powerpoint/2010/main" val="591335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2B7E-7B62-12DB-99F4-D3B2614D983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6CEDB90-73A0-4D33-C658-19BC0212B0AD}"/>
              </a:ext>
            </a:extLst>
          </p:cNvPr>
          <p:cNvPicPr>
            <a:picLocks noChangeAspect="1"/>
          </p:cNvPicPr>
          <p:nvPr/>
        </p:nvPicPr>
        <p:blipFill>
          <a:blip r:embed="rId3"/>
          <a:srcRect/>
          <a:stretch/>
        </p:blipFill>
        <p:spPr>
          <a:xfrm>
            <a:off x="1103710" y="2118277"/>
            <a:ext cx="5505448" cy="4171949"/>
          </a:xfrm>
          <a:prstGeom prst="rect">
            <a:avLst/>
          </a:prstGeom>
        </p:spPr>
      </p:pic>
      <p:sp>
        <p:nvSpPr>
          <p:cNvPr id="2" name="Title 1">
            <a:extLst>
              <a:ext uri="{FF2B5EF4-FFF2-40B4-BE49-F238E27FC236}">
                <a16:creationId xmlns:a16="http://schemas.microsoft.com/office/drawing/2014/main" id="{A54DB9F1-5CF7-674B-D96C-17D2710347ED}"/>
              </a:ext>
            </a:extLst>
          </p:cNvPr>
          <p:cNvSpPr>
            <a:spLocks noGrp="1"/>
          </p:cNvSpPr>
          <p:nvPr>
            <p:ph type="title"/>
          </p:nvPr>
        </p:nvSpPr>
        <p:spPr>
          <a:xfrm>
            <a:off x="1103709" y="265373"/>
            <a:ext cx="9360000" cy="1181687"/>
          </a:xfrm>
        </p:spPr>
        <p:txBody>
          <a:bodyPr/>
          <a:lstStyle/>
          <a:p>
            <a:r>
              <a:rPr lang="en-GB" sz="3600" dirty="0"/>
              <a:t>Thinking about data probabilistically</a:t>
            </a:r>
          </a:p>
        </p:txBody>
      </p:sp>
      <p:sp>
        <p:nvSpPr>
          <p:cNvPr id="4" name="Slide Number Placeholder 3">
            <a:extLst>
              <a:ext uri="{FF2B5EF4-FFF2-40B4-BE49-F238E27FC236}">
                <a16:creationId xmlns:a16="http://schemas.microsoft.com/office/drawing/2014/main" id="{21C272C4-8DEB-2B03-6FFA-C30808ABD8F9}"/>
              </a:ext>
            </a:extLst>
          </p:cNvPr>
          <p:cNvSpPr>
            <a:spLocks noGrp="1"/>
          </p:cNvSpPr>
          <p:nvPr>
            <p:ph type="sldNum" sz="quarter" idx="12"/>
          </p:nvPr>
        </p:nvSpPr>
        <p:spPr/>
        <p:txBody>
          <a:bodyPr/>
          <a:lstStyle/>
          <a:p>
            <a:fld id="{F7283078-D760-1647-8B80-66BA8B52336D}" type="slidenum">
              <a:rPr lang="en-GB" smtClean="0"/>
              <a:t>15</a:t>
            </a:fld>
            <a:endParaRPr lang="en-GB"/>
          </a:p>
        </p:txBody>
      </p:sp>
      <p:sp>
        <p:nvSpPr>
          <p:cNvPr id="8" name="Date Placeholder 7">
            <a:extLst>
              <a:ext uri="{FF2B5EF4-FFF2-40B4-BE49-F238E27FC236}">
                <a16:creationId xmlns:a16="http://schemas.microsoft.com/office/drawing/2014/main" id="{4565C9C3-811F-907C-4F23-F0EF880DEDBC}"/>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ABF0FF4-9AA6-3933-FE37-4F891C3D32CC}"/>
                  </a:ext>
                </a:extLst>
              </p:cNvPr>
              <p:cNvSpPr txBox="1"/>
              <p:nvPr/>
            </p:nvSpPr>
            <p:spPr>
              <a:xfrm>
                <a:off x="3174384" y="2547135"/>
                <a:ext cx="1510798" cy="276999"/>
              </a:xfrm>
              <a:prstGeom prst="rect">
                <a:avLst/>
              </a:prstGeom>
              <a:noFill/>
            </p:spPr>
            <p:txBody>
              <a:bodyPr wrap="none" lIns="0" tIns="0" rIns="0" bIns="0" rtlCol="0">
                <a:spAutoFit/>
              </a:bodyPr>
              <a:lstStyle/>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=6.5±0.01</m:t>
                      </m:r>
                    </m:oMath>
                  </m:oMathPara>
                </a14:m>
                <a:endParaRPr lang="da-DK" b="0" dirty="0">
                  <a:solidFill>
                    <a:srgbClr val="666666"/>
                  </a:solidFill>
                </a:endParaRPr>
              </a:p>
            </p:txBody>
          </p:sp>
        </mc:Choice>
        <mc:Fallback xmlns="">
          <p:sp>
            <p:nvSpPr>
              <p:cNvPr id="28" name="TextBox 27">
                <a:extLst>
                  <a:ext uri="{FF2B5EF4-FFF2-40B4-BE49-F238E27FC236}">
                    <a16:creationId xmlns:a16="http://schemas.microsoft.com/office/drawing/2014/main" id="{CABF0FF4-9AA6-3933-FE37-4F891C3D32CC}"/>
                  </a:ext>
                </a:extLst>
              </p:cNvPr>
              <p:cNvSpPr txBox="1">
                <a:spLocks noRot="1" noChangeAspect="1" noMove="1" noResize="1" noEditPoints="1" noAdjustHandles="1" noChangeArrowheads="1" noChangeShapeType="1" noTextEdit="1"/>
              </p:cNvSpPr>
              <p:nvPr/>
            </p:nvSpPr>
            <p:spPr>
              <a:xfrm>
                <a:off x="3174384" y="2547135"/>
                <a:ext cx="1510798" cy="276999"/>
              </a:xfrm>
              <a:prstGeom prst="rect">
                <a:avLst/>
              </a:prstGeom>
              <a:blipFill>
                <a:blip r:embed="rId4"/>
                <a:stretch>
                  <a:fillRect l="-3226" t="-22222" r="-2823" b="-3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2AD6228-5154-1C3D-EF79-1F1D9B679042}"/>
                  </a:ext>
                </a:extLst>
              </p:cNvPr>
              <p:cNvSpPr txBox="1"/>
              <p:nvPr/>
            </p:nvSpPr>
            <p:spPr>
              <a:xfrm>
                <a:off x="7109791" y="2348948"/>
                <a:ext cx="3536161" cy="2407069"/>
              </a:xfrm>
              <a:prstGeom prst="rect">
                <a:avLst/>
              </a:prstGeom>
              <a:noFill/>
            </p:spPr>
            <p:txBody>
              <a:bodyPr wrap="none" lIns="0" tIns="0" rIns="0" bIns="0" rtlCol="0">
                <a:spAutoFit/>
              </a:bodyPr>
              <a:lstStyle/>
              <a:p>
                <a:pPr algn="l"/>
                <a14:m>
                  <m:oMathPara xmlns:m="http://schemas.openxmlformats.org/officeDocument/2006/math">
                    <m:oMath>
                      <m:borderBox>
                        <m:borderBoxPr>
                          <m:ctrlPr>
                            <a:rPr lang="da-DK" b="0" i="1" smtClean="0">
                              <a:solidFill>
                                <a:srgbClr val="0099DC"/>
                              </a:solidFill>
                              <a:latin typeface="Cambria Math" panose="02040503050406030204" pitchFamily="18" charset="0"/>
                            </a:rPr>
                          </m:ctrlPr>
                        </m:borderBoxPr>
                        <m:e>
                          <m:r>
                            <a:rPr lang="da-DK" b="0" i="1" smtClean="0">
                              <a:solidFill>
                                <a:srgbClr val="0099DC"/>
                              </a:solidFill>
                              <a:latin typeface="Cambria Math" panose="02040503050406030204" pitchFamily="18" charset="0"/>
                            </a:rPr>
                            <m:t>𝑝</m:t>
                          </m:r>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𝑦</m:t>
                              </m:r>
                            </m:e>
                          </m:d>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1</m:t>
                              </m:r>
                            </m:num>
                            <m:den>
                              <m:r>
                                <a:rPr lang="da-DK" b="0" i="1" smtClean="0">
                                  <a:solidFill>
                                    <a:srgbClr val="0099DC"/>
                                  </a:solidFill>
                                  <a:latin typeface="Cambria Math" panose="02040503050406030204" pitchFamily="18" charset="0"/>
                                </a:rPr>
                                <m:t>𝜎</m:t>
                              </m:r>
                              <m:rad>
                                <m:radPr>
                                  <m:degHide m:val="on"/>
                                  <m:ctrlPr>
                                    <a:rPr lang="da-DK" b="0" i="1" smtClean="0">
                                      <a:solidFill>
                                        <a:srgbClr val="0099DC"/>
                                      </a:solidFill>
                                      <a:latin typeface="Cambria Math" panose="02040503050406030204" pitchFamily="18" charset="0"/>
                                    </a:rPr>
                                  </m:ctrlPr>
                                </m:radPr>
                                <m:deg/>
                                <m:e>
                                  <m:r>
                                    <a:rPr lang="da-DK" b="0" i="1" smtClean="0">
                                      <a:solidFill>
                                        <a:srgbClr val="0099DC"/>
                                      </a:solidFill>
                                      <a:latin typeface="Cambria Math" panose="02040503050406030204" pitchFamily="18" charset="0"/>
                                    </a:rPr>
                                    <m:t>2</m:t>
                                  </m:r>
                                  <m:r>
                                    <a:rPr lang="da-DK" b="0" i="1" smtClean="0">
                                      <a:solidFill>
                                        <a:srgbClr val="0099DC"/>
                                      </a:solidFill>
                                      <a:latin typeface="Cambria Math" panose="02040503050406030204" pitchFamily="18" charset="0"/>
                                    </a:rPr>
                                    <m:t>𝜋</m:t>
                                  </m:r>
                                </m:e>
                              </m:rad>
                            </m:den>
                          </m:f>
                          <m:func>
                            <m:funcPr>
                              <m:ctrlPr>
                                <a:rPr lang="da-DK" b="0" i="0" smtClean="0">
                                  <a:solidFill>
                                    <a:srgbClr val="0099DC"/>
                                  </a:solidFill>
                                  <a:latin typeface="Cambria Math" panose="02040503050406030204" pitchFamily="18" charset="0"/>
                                </a:rPr>
                              </m:ctrlPr>
                            </m:funcPr>
                            <m:fName>
                              <m:r>
                                <m:rPr>
                                  <m:sty m:val="p"/>
                                </m:rPr>
                                <a:rPr lang="da-DK" b="0" i="0" smtClean="0">
                                  <a:solidFill>
                                    <a:srgbClr val="0099DC"/>
                                  </a:solidFill>
                                  <a:latin typeface="Cambria Math" panose="02040503050406030204" pitchFamily="18" charset="0"/>
                                </a:rPr>
                                <m:t>exp</m:t>
                              </m:r>
                            </m:fName>
                            <m:e>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1</m:t>
                                      </m:r>
                                    </m:num>
                                    <m:den>
                                      <m:r>
                                        <a:rPr lang="da-DK" b="0" i="1" smtClean="0">
                                          <a:solidFill>
                                            <a:srgbClr val="0099DC"/>
                                          </a:solidFill>
                                          <a:latin typeface="Cambria Math" panose="02040503050406030204" pitchFamily="18" charset="0"/>
                                        </a:rPr>
                                        <m:t>2</m:t>
                                      </m:r>
                                    </m:den>
                                  </m:f>
                                  <m:sSup>
                                    <m:sSupPr>
                                      <m:ctrlPr>
                                        <a:rPr lang="da-DK" b="0" i="1" smtClean="0">
                                          <a:solidFill>
                                            <a:srgbClr val="0099DC"/>
                                          </a:solidFill>
                                          <a:latin typeface="Cambria Math" panose="02040503050406030204" pitchFamily="18" charset="0"/>
                                        </a:rPr>
                                      </m:ctrlPr>
                                    </m:sSupPr>
                                    <m:e>
                                      <m:d>
                                        <m:dPr>
                                          <m:ctrlPr>
                                            <a:rPr lang="da-DK" b="0" i="1" smtClean="0">
                                              <a:solidFill>
                                                <a:srgbClr val="0099DC"/>
                                              </a:solidFill>
                                              <a:latin typeface="Cambria Math" panose="02040503050406030204" pitchFamily="18" charset="0"/>
                                            </a:rPr>
                                          </m:ctrlPr>
                                        </m:dPr>
                                        <m:e>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𝑦</m:t>
                                              </m:r>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𝜇</m:t>
                                              </m:r>
                                            </m:num>
                                            <m:den>
                                              <m:r>
                                                <a:rPr lang="da-DK" b="0" i="1" smtClean="0">
                                                  <a:solidFill>
                                                    <a:srgbClr val="0099DC"/>
                                                  </a:solidFill>
                                                  <a:latin typeface="Cambria Math" panose="02040503050406030204" pitchFamily="18" charset="0"/>
                                                </a:rPr>
                                                <m:t>𝜎</m:t>
                                              </m:r>
                                            </m:den>
                                          </m:f>
                                        </m:e>
                                      </m:d>
                                    </m:e>
                                    <m:sup>
                                      <m:r>
                                        <a:rPr lang="da-DK" b="0" i="1" smtClean="0">
                                          <a:solidFill>
                                            <a:srgbClr val="0099DC"/>
                                          </a:solidFill>
                                          <a:latin typeface="Cambria Math" panose="02040503050406030204" pitchFamily="18" charset="0"/>
                                        </a:rPr>
                                        <m:t>2</m:t>
                                      </m:r>
                                    </m:sup>
                                  </m:sSup>
                                </m:e>
                              </m:d>
                            </m:e>
                          </m:func>
                        </m:e>
                      </m:borderBox>
                    </m:oMath>
                  </m:oMathPara>
                </a14:m>
                <a:endParaRPr lang="da-DK" dirty="0">
                  <a:solidFill>
                    <a:srgbClr val="666666"/>
                  </a:solidFill>
                </a:endParaRPr>
              </a:p>
              <a:p>
                <a:pPr algn="l"/>
                <a:r>
                  <a:rPr lang="da-DK" b="0" dirty="0">
                    <a:solidFill>
                      <a:srgbClr val="666666"/>
                    </a:solidFill>
                  </a:rPr>
                  <a:t> </a:t>
                </a:r>
                <a:endParaRPr lang="da-DK" b="0" i="1" dirty="0">
                  <a:solidFill>
                    <a:srgbClr val="0099DC"/>
                  </a:solidFill>
                  <a:latin typeface="Cambria Math" panose="02040503050406030204" pitchFamily="18" charset="0"/>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𝜇</m:t>
                    </m:r>
                    <m:r>
                      <a:rPr lang="da-DK" b="0" i="1" smtClean="0">
                        <a:solidFill>
                          <a:srgbClr val="0099DC"/>
                        </a:solidFill>
                        <a:latin typeface="Cambria Math" panose="02040503050406030204" pitchFamily="18" charset="0"/>
                      </a:rPr>
                      <m:t>=6.5</m:t>
                    </m:r>
                  </m:oMath>
                </a14:m>
                <a:endParaRPr lang="da-DK" b="0" dirty="0">
                  <a:solidFill>
                    <a:srgbClr val="0099DC"/>
                  </a:solidFill>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𝜎</m:t>
                    </m:r>
                    <m:r>
                      <a:rPr lang="da-DK" b="0" i="1" smtClean="0">
                        <a:solidFill>
                          <a:srgbClr val="0099DC"/>
                        </a:solidFill>
                        <a:latin typeface="Cambria Math" panose="02040503050406030204" pitchFamily="18" charset="0"/>
                      </a:rPr>
                      <m:t>=0.01</m:t>
                    </m:r>
                  </m:oMath>
                </a14:m>
                <a:endParaRPr lang="da-DK" b="0" i="1" dirty="0">
                  <a:solidFill>
                    <a:srgbClr val="0099DC"/>
                  </a:solidFill>
                  <a:latin typeface="Cambria Math" panose="02040503050406030204" pitchFamily="18" charset="0"/>
                </a:endParaRPr>
              </a:p>
              <a:p>
                <a:pPr algn="l"/>
                <a:r>
                  <a:rPr lang="da-DK" b="0" dirty="0">
                    <a:solidFill>
                      <a:srgbClr val="0099DC"/>
                    </a:solidFill>
                  </a:rPr>
                  <a:t> </a:t>
                </a:r>
              </a:p>
              <a:p>
                <a:pPr algn="l"/>
                <a:r>
                  <a:rPr lang="da-DK"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𝑝</m:t>
                    </m:r>
                    <m:d>
                      <m:dPr>
                        <m:ctrlPr>
                          <a:rPr lang="da-DK" b="0" i="1" smtClean="0">
                            <a:solidFill>
                              <a:srgbClr val="FFC000"/>
                            </a:solidFill>
                            <a:latin typeface="Cambria Math" panose="02040503050406030204" pitchFamily="18" charset="0"/>
                          </a:rPr>
                        </m:ctrlPr>
                      </m:dPr>
                      <m:e>
                        <m:r>
                          <a:rPr lang="da-DK" b="0" i="1" smtClean="0">
                            <a:solidFill>
                              <a:srgbClr val="FFC000"/>
                            </a:solidFill>
                            <a:latin typeface="Cambria Math" panose="02040503050406030204" pitchFamily="18" charset="0"/>
                          </a:rPr>
                          <m:t>𝜇</m:t>
                        </m:r>
                        <m:r>
                          <a:rPr lang="da-DK" b="0" i="1" smtClean="0">
                            <a:solidFill>
                              <a:srgbClr val="FFC000"/>
                            </a:solidFill>
                            <a:latin typeface="Cambria Math" panose="02040503050406030204" pitchFamily="18" charset="0"/>
                          </a:rPr>
                          <m:t>±</m:t>
                        </m:r>
                        <m:r>
                          <a:rPr lang="da-DK" b="0" i="1" smtClean="0">
                            <a:solidFill>
                              <a:srgbClr val="FFC000"/>
                            </a:solidFill>
                            <a:latin typeface="Cambria Math" panose="02040503050406030204" pitchFamily="18" charset="0"/>
                          </a:rPr>
                          <m:t>𝜎</m:t>
                        </m:r>
                      </m:e>
                    </m:d>
                    <m:r>
                      <a:rPr lang="da-DK" b="0" i="1" smtClean="0">
                        <a:solidFill>
                          <a:srgbClr val="0099DC"/>
                        </a:solidFill>
                        <a:latin typeface="Cambria Math" panose="02040503050406030204" pitchFamily="18" charset="0"/>
                      </a:rPr>
                      <m:t>≈</m:t>
                    </m:r>
                    <m:r>
                      <a:rPr lang="da-DK" b="0" i="1" smtClean="0">
                        <a:solidFill>
                          <a:srgbClr val="FFC000"/>
                        </a:solidFill>
                        <a:latin typeface="Cambria Math" panose="02040503050406030204" pitchFamily="18" charset="0"/>
                      </a:rPr>
                      <m:t>68%</m:t>
                    </m:r>
                  </m:oMath>
                </a14:m>
                <a:endParaRPr lang="en-GB" dirty="0">
                  <a:solidFill>
                    <a:srgbClr val="0099DC"/>
                  </a:solidFill>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𝑝</m:t>
                    </m:r>
                    <m:d>
                      <m:dPr>
                        <m:ctrlPr>
                          <a:rPr lang="da-DK" b="0" i="1" smtClean="0">
                            <a:solidFill>
                              <a:srgbClr val="7030A0"/>
                            </a:solidFill>
                            <a:latin typeface="Cambria Math" panose="02040503050406030204" pitchFamily="18" charset="0"/>
                          </a:rPr>
                        </m:ctrlPr>
                      </m:dPr>
                      <m:e>
                        <m:r>
                          <a:rPr lang="da-DK" b="0" i="1" smtClean="0">
                            <a:solidFill>
                              <a:srgbClr val="7030A0"/>
                            </a:solidFill>
                            <a:latin typeface="Cambria Math" panose="02040503050406030204" pitchFamily="18" charset="0"/>
                          </a:rPr>
                          <m:t>𝜇</m:t>
                        </m:r>
                        <m:r>
                          <a:rPr lang="da-DK" b="0" i="1" smtClean="0">
                            <a:solidFill>
                              <a:srgbClr val="7030A0"/>
                            </a:solidFill>
                            <a:latin typeface="Cambria Math" panose="02040503050406030204" pitchFamily="18" charset="0"/>
                          </a:rPr>
                          <m:t>±2</m:t>
                        </m:r>
                        <m:r>
                          <a:rPr lang="da-DK" b="0" i="1" smtClean="0">
                            <a:solidFill>
                              <a:srgbClr val="7030A0"/>
                            </a:solidFill>
                            <a:latin typeface="Cambria Math" panose="02040503050406030204" pitchFamily="18" charset="0"/>
                          </a:rPr>
                          <m:t>𝜎</m:t>
                        </m:r>
                      </m:e>
                    </m:d>
                    <m:r>
                      <a:rPr lang="da-DK" b="0" i="1" smtClean="0">
                        <a:solidFill>
                          <a:srgbClr val="0099DC"/>
                        </a:solidFill>
                        <a:latin typeface="Cambria Math" panose="02040503050406030204" pitchFamily="18" charset="0"/>
                      </a:rPr>
                      <m:t>≈</m:t>
                    </m:r>
                    <m:r>
                      <a:rPr lang="da-DK" b="0" i="1" smtClean="0">
                        <a:solidFill>
                          <a:srgbClr val="7030A0"/>
                        </a:solidFill>
                        <a:latin typeface="Cambria Math" panose="02040503050406030204" pitchFamily="18" charset="0"/>
                      </a:rPr>
                      <m:t>95%</m:t>
                    </m:r>
                  </m:oMath>
                </a14:m>
                <a:endParaRPr lang="en-GB" dirty="0">
                  <a:solidFill>
                    <a:srgbClr val="0099DC"/>
                  </a:solidFill>
                </a:endParaRPr>
              </a:p>
            </p:txBody>
          </p:sp>
        </mc:Choice>
        <mc:Fallback xmlns="">
          <p:sp>
            <p:nvSpPr>
              <p:cNvPr id="3" name="TextBox 2">
                <a:extLst>
                  <a:ext uri="{FF2B5EF4-FFF2-40B4-BE49-F238E27FC236}">
                    <a16:creationId xmlns:a16="http://schemas.microsoft.com/office/drawing/2014/main" id="{42AD6228-5154-1C3D-EF79-1F1D9B679042}"/>
                  </a:ext>
                </a:extLst>
              </p:cNvPr>
              <p:cNvSpPr txBox="1">
                <a:spLocks noRot="1" noChangeAspect="1" noMove="1" noResize="1" noEditPoints="1" noAdjustHandles="1" noChangeArrowheads="1" noChangeShapeType="1" noTextEdit="1"/>
              </p:cNvSpPr>
              <p:nvPr/>
            </p:nvSpPr>
            <p:spPr>
              <a:xfrm>
                <a:off x="7109791" y="2348948"/>
                <a:ext cx="3536161" cy="2407069"/>
              </a:xfrm>
              <a:prstGeom prst="rect">
                <a:avLst/>
              </a:prstGeom>
              <a:blipFill>
                <a:blip r:embed="rId5"/>
                <a:stretch>
                  <a:fillRect l="-690" b="-2532"/>
                </a:stretch>
              </a:blipFill>
            </p:spPr>
            <p:txBody>
              <a:bodyPr/>
              <a:lstStyle/>
              <a:p>
                <a:r>
                  <a:rPr lang="en-GB">
                    <a:noFill/>
                  </a:rPr>
                  <a:t> </a:t>
                </a:r>
              </a:p>
            </p:txBody>
          </p:sp>
        </mc:Fallback>
      </mc:AlternateContent>
    </p:spTree>
    <p:extLst>
      <p:ext uri="{BB962C8B-B14F-4D97-AF65-F5344CB8AC3E}">
        <p14:creationId xmlns:p14="http://schemas.microsoft.com/office/powerpoint/2010/main" val="101825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53ECE-1096-4F10-BB81-3E2CF2ECB8C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E26EE10-1C82-EF6A-7318-0188C22CF6E3}"/>
              </a:ext>
            </a:extLst>
          </p:cNvPr>
          <p:cNvPicPr>
            <a:picLocks noChangeAspect="1"/>
          </p:cNvPicPr>
          <p:nvPr/>
        </p:nvPicPr>
        <p:blipFill>
          <a:blip r:embed="rId3"/>
          <a:srcRect/>
          <a:stretch/>
        </p:blipFill>
        <p:spPr>
          <a:xfrm>
            <a:off x="1103710" y="2118277"/>
            <a:ext cx="5505448" cy="4171948"/>
          </a:xfrm>
          <a:prstGeom prst="rect">
            <a:avLst/>
          </a:prstGeom>
        </p:spPr>
      </p:pic>
      <p:sp>
        <p:nvSpPr>
          <p:cNvPr id="2" name="Title 1">
            <a:extLst>
              <a:ext uri="{FF2B5EF4-FFF2-40B4-BE49-F238E27FC236}">
                <a16:creationId xmlns:a16="http://schemas.microsoft.com/office/drawing/2014/main" id="{9C979119-8FEA-A31B-45CA-6BA0CCFEC132}"/>
              </a:ext>
            </a:extLst>
          </p:cNvPr>
          <p:cNvSpPr>
            <a:spLocks noGrp="1"/>
          </p:cNvSpPr>
          <p:nvPr>
            <p:ph type="title"/>
          </p:nvPr>
        </p:nvSpPr>
        <p:spPr>
          <a:xfrm>
            <a:off x="1103709" y="265373"/>
            <a:ext cx="9360000" cy="1181687"/>
          </a:xfrm>
        </p:spPr>
        <p:txBody>
          <a:bodyPr/>
          <a:lstStyle/>
          <a:p>
            <a:r>
              <a:rPr lang="en-GB" sz="3600" dirty="0"/>
              <a:t>Thinking about data probabilistically</a:t>
            </a:r>
          </a:p>
        </p:txBody>
      </p:sp>
      <p:sp>
        <p:nvSpPr>
          <p:cNvPr id="4" name="Slide Number Placeholder 3">
            <a:extLst>
              <a:ext uri="{FF2B5EF4-FFF2-40B4-BE49-F238E27FC236}">
                <a16:creationId xmlns:a16="http://schemas.microsoft.com/office/drawing/2014/main" id="{CA244236-DBBA-44DA-84BD-B65E9049D1CA}"/>
              </a:ext>
            </a:extLst>
          </p:cNvPr>
          <p:cNvSpPr>
            <a:spLocks noGrp="1"/>
          </p:cNvSpPr>
          <p:nvPr>
            <p:ph type="sldNum" sz="quarter" idx="12"/>
          </p:nvPr>
        </p:nvSpPr>
        <p:spPr/>
        <p:txBody>
          <a:bodyPr/>
          <a:lstStyle/>
          <a:p>
            <a:fld id="{F7283078-D760-1647-8B80-66BA8B52336D}" type="slidenum">
              <a:rPr lang="en-GB" smtClean="0"/>
              <a:t>16</a:t>
            </a:fld>
            <a:endParaRPr lang="en-GB"/>
          </a:p>
        </p:txBody>
      </p:sp>
      <p:sp>
        <p:nvSpPr>
          <p:cNvPr id="8" name="Date Placeholder 7">
            <a:extLst>
              <a:ext uri="{FF2B5EF4-FFF2-40B4-BE49-F238E27FC236}">
                <a16:creationId xmlns:a16="http://schemas.microsoft.com/office/drawing/2014/main" id="{4BC0C96D-1007-5274-A81C-88D6014CD0CB}"/>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0CF9B55-5DB3-A0D7-9704-FC06F67FCBF0}"/>
                  </a:ext>
                </a:extLst>
              </p:cNvPr>
              <p:cNvSpPr txBox="1"/>
              <p:nvPr/>
            </p:nvSpPr>
            <p:spPr>
              <a:xfrm>
                <a:off x="3174384" y="2547135"/>
                <a:ext cx="1510798" cy="276999"/>
              </a:xfrm>
              <a:prstGeom prst="rect">
                <a:avLst/>
              </a:prstGeom>
              <a:noFill/>
            </p:spPr>
            <p:txBody>
              <a:bodyPr wrap="none" lIns="0" tIns="0" rIns="0" bIns="0" rtlCol="0">
                <a:spAutoFit/>
              </a:bodyPr>
              <a:lstStyle/>
              <a:p>
                <a:pPr algn="l"/>
                <a14:m>
                  <m:oMathPara xmlns:m="http://schemas.openxmlformats.org/officeDocument/2006/math">
                    <m:oMath>
                      <m:acc>
                        <m:accPr>
                          <m:chr m:val="̂"/>
                          <m:ctrlPr>
                            <a:rPr lang="da-DK" b="0" i="1" smtClean="0">
                              <a:solidFill>
                                <a:srgbClr val="666666"/>
                              </a:solidFill>
                              <a:latin typeface="Cambria Math" panose="02040503050406030204" pitchFamily="18" charset="0"/>
                            </a:rPr>
                          </m:ctrlPr>
                        </m:accPr>
                        <m:e>
                          <m:r>
                            <a:rPr lang="da-DK" b="0" i="1" smtClean="0">
                              <a:solidFill>
                                <a:srgbClr val="666666"/>
                              </a:solidFill>
                              <a:latin typeface="Cambria Math" panose="02040503050406030204" pitchFamily="18" charset="0"/>
                            </a:rPr>
                            <m:t>𝑦</m:t>
                          </m:r>
                        </m:e>
                      </m:acc>
                      <m:r>
                        <a:rPr lang="da-DK" b="0" i="1" smtClean="0">
                          <a:solidFill>
                            <a:srgbClr val="666666"/>
                          </a:solidFill>
                          <a:latin typeface="Cambria Math" panose="02040503050406030204" pitchFamily="18" charset="0"/>
                        </a:rPr>
                        <m:t>=6.5±0.01</m:t>
                      </m:r>
                    </m:oMath>
                  </m:oMathPara>
                </a14:m>
                <a:endParaRPr lang="da-DK" b="0" dirty="0">
                  <a:solidFill>
                    <a:srgbClr val="666666"/>
                  </a:solidFill>
                </a:endParaRPr>
              </a:p>
            </p:txBody>
          </p:sp>
        </mc:Choice>
        <mc:Fallback xmlns="">
          <p:sp>
            <p:nvSpPr>
              <p:cNvPr id="28" name="TextBox 27">
                <a:extLst>
                  <a:ext uri="{FF2B5EF4-FFF2-40B4-BE49-F238E27FC236}">
                    <a16:creationId xmlns:a16="http://schemas.microsoft.com/office/drawing/2014/main" id="{20CF9B55-5DB3-A0D7-9704-FC06F67FCBF0}"/>
                  </a:ext>
                </a:extLst>
              </p:cNvPr>
              <p:cNvSpPr txBox="1">
                <a:spLocks noRot="1" noChangeAspect="1" noMove="1" noResize="1" noEditPoints="1" noAdjustHandles="1" noChangeArrowheads="1" noChangeShapeType="1" noTextEdit="1"/>
              </p:cNvSpPr>
              <p:nvPr/>
            </p:nvSpPr>
            <p:spPr>
              <a:xfrm>
                <a:off x="3174384" y="2547135"/>
                <a:ext cx="1510798" cy="276999"/>
              </a:xfrm>
              <a:prstGeom prst="rect">
                <a:avLst/>
              </a:prstGeom>
              <a:blipFill>
                <a:blip r:embed="rId4"/>
                <a:stretch>
                  <a:fillRect l="-3226" t="-22222" r="-2823" b="-3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3775523-9E8A-0E55-0739-9D2F547F3B40}"/>
                  </a:ext>
                </a:extLst>
              </p:cNvPr>
              <p:cNvSpPr txBox="1"/>
              <p:nvPr/>
            </p:nvSpPr>
            <p:spPr>
              <a:xfrm>
                <a:off x="7109791" y="2348948"/>
                <a:ext cx="3536161" cy="2684068"/>
              </a:xfrm>
              <a:prstGeom prst="rect">
                <a:avLst/>
              </a:prstGeom>
              <a:noFill/>
            </p:spPr>
            <p:txBody>
              <a:bodyPr wrap="none" lIns="0" tIns="0" rIns="0" bIns="0" rtlCol="0">
                <a:spAutoFit/>
              </a:bodyPr>
              <a:lstStyle/>
              <a:p>
                <a:pPr algn="l"/>
                <a14:m>
                  <m:oMathPara xmlns:m="http://schemas.openxmlformats.org/officeDocument/2006/math">
                    <m:oMath>
                      <m:borderBox>
                        <m:borderBoxPr>
                          <m:ctrlPr>
                            <a:rPr lang="da-DK" b="0" i="1" smtClean="0">
                              <a:solidFill>
                                <a:srgbClr val="0099DC"/>
                              </a:solidFill>
                              <a:latin typeface="Cambria Math" panose="02040503050406030204" pitchFamily="18" charset="0"/>
                            </a:rPr>
                          </m:ctrlPr>
                        </m:borderBoxPr>
                        <m:e>
                          <m:r>
                            <a:rPr lang="da-DK" b="0" i="1" smtClean="0">
                              <a:solidFill>
                                <a:srgbClr val="0099DC"/>
                              </a:solidFill>
                              <a:latin typeface="Cambria Math" panose="02040503050406030204" pitchFamily="18" charset="0"/>
                            </a:rPr>
                            <m:t>𝑝</m:t>
                          </m:r>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𝑦</m:t>
                              </m:r>
                            </m:e>
                          </m:d>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1</m:t>
                              </m:r>
                            </m:num>
                            <m:den>
                              <m:r>
                                <a:rPr lang="da-DK" b="0" i="1" smtClean="0">
                                  <a:solidFill>
                                    <a:srgbClr val="0099DC"/>
                                  </a:solidFill>
                                  <a:latin typeface="Cambria Math" panose="02040503050406030204" pitchFamily="18" charset="0"/>
                                </a:rPr>
                                <m:t>𝜎</m:t>
                              </m:r>
                              <m:rad>
                                <m:radPr>
                                  <m:degHide m:val="on"/>
                                  <m:ctrlPr>
                                    <a:rPr lang="da-DK" b="0" i="1" smtClean="0">
                                      <a:solidFill>
                                        <a:srgbClr val="0099DC"/>
                                      </a:solidFill>
                                      <a:latin typeface="Cambria Math" panose="02040503050406030204" pitchFamily="18" charset="0"/>
                                    </a:rPr>
                                  </m:ctrlPr>
                                </m:radPr>
                                <m:deg/>
                                <m:e>
                                  <m:r>
                                    <a:rPr lang="da-DK" b="0" i="1" smtClean="0">
                                      <a:solidFill>
                                        <a:srgbClr val="0099DC"/>
                                      </a:solidFill>
                                      <a:latin typeface="Cambria Math" panose="02040503050406030204" pitchFamily="18" charset="0"/>
                                    </a:rPr>
                                    <m:t>2</m:t>
                                  </m:r>
                                  <m:r>
                                    <a:rPr lang="da-DK" b="0" i="1" smtClean="0">
                                      <a:solidFill>
                                        <a:srgbClr val="0099DC"/>
                                      </a:solidFill>
                                      <a:latin typeface="Cambria Math" panose="02040503050406030204" pitchFamily="18" charset="0"/>
                                    </a:rPr>
                                    <m:t>𝜋</m:t>
                                  </m:r>
                                </m:e>
                              </m:rad>
                            </m:den>
                          </m:f>
                          <m:func>
                            <m:funcPr>
                              <m:ctrlPr>
                                <a:rPr lang="da-DK" b="0" i="0" smtClean="0">
                                  <a:solidFill>
                                    <a:srgbClr val="0099DC"/>
                                  </a:solidFill>
                                  <a:latin typeface="Cambria Math" panose="02040503050406030204" pitchFamily="18" charset="0"/>
                                </a:rPr>
                              </m:ctrlPr>
                            </m:funcPr>
                            <m:fName>
                              <m:r>
                                <m:rPr>
                                  <m:sty m:val="p"/>
                                </m:rPr>
                                <a:rPr lang="da-DK" b="0" i="0" smtClean="0">
                                  <a:solidFill>
                                    <a:srgbClr val="0099DC"/>
                                  </a:solidFill>
                                  <a:latin typeface="Cambria Math" panose="02040503050406030204" pitchFamily="18" charset="0"/>
                                </a:rPr>
                                <m:t>exp</m:t>
                              </m:r>
                            </m:fName>
                            <m:e>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1</m:t>
                                      </m:r>
                                    </m:num>
                                    <m:den>
                                      <m:r>
                                        <a:rPr lang="da-DK" b="0" i="1" smtClean="0">
                                          <a:solidFill>
                                            <a:srgbClr val="0099DC"/>
                                          </a:solidFill>
                                          <a:latin typeface="Cambria Math" panose="02040503050406030204" pitchFamily="18" charset="0"/>
                                        </a:rPr>
                                        <m:t>2</m:t>
                                      </m:r>
                                    </m:den>
                                  </m:f>
                                  <m:sSup>
                                    <m:sSupPr>
                                      <m:ctrlPr>
                                        <a:rPr lang="da-DK" b="0" i="1" smtClean="0">
                                          <a:solidFill>
                                            <a:srgbClr val="0099DC"/>
                                          </a:solidFill>
                                          <a:latin typeface="Cambria Math" panose="02040503050406030204" pitchFamily="18" charset="0"/>
                                        </a:rPr>
                                      </m:ctrlPr>
                                    </m:sSupPr>
                                    <m:e>
                                      <m:d>
                                        <m:dPr>
                                          <m:ctrlPr>
                                            <a:rPr lang="da-DK" b="0" i="1" smtClean="0">
                                              <a:solidFill>
                                                <a:srgbClr val="0099DC"/>
                                              </a:solidFill>
                                              <a:latin typeface="Cambria Math" panose="02040503050406030204" pitchFamily="18" charset="0"/>
                                            </a:rPr>
                                          </m:ctrlPr>
                                        </m:dPr>
                                        <m:e>
                                          <m:f>
                                            <m:fPr>
                                              <m:ctrlPr>
                                                <a:rPr lang="da-DK" b="0" i="1" smtClean="0">
                                                  <a:solidFill>
                                                    <a:srgbClr val="0099DC"/>
                                                  </a:solidFill>
                                                  <a:latin typeface="Cambria Math" panose="02040503050406030204" pitchFamily="18" charset="0"/>
                                                </a:rPr>
                                              </m:ctrlPr>
                                            </m:fPr>
                                            <m:num>
                                              <m:r>
                                                <a:rPr lang="da-DK" b="0" i="1" smtClean="0">
                                                  <a:solidFill>
                                                    <a:srgbClr val="0099DC"/>
                                                  </a:solidFill>
                                                  <a:latin typeface="Cambria Math" panose="02040503050406030204" pitchFamily="18" charset="0"/>
                                                </a:rPr>
                                                <m:t>𝑦</m:t>
                                              </m:r>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𝜇</m:t>
                                              </m:r>
                                            </m:num>
                                            <m:den>
                                              <m:r>
                                                <a:rPr lang="da-DK" b="0" i="1" smtClean="0">
                                                  <a:solidFill>
                                                    <a:srgbClr val="0099DC"/>
                                                  </a:solidFill>
                                                  <a:latin typeface="Cambria Math" panose="02040503050406030204" pitchFamily="18" charset="0"/>
                                                </a:rPr>
                                                <m:t>𝜎</m:t>
                                              </m:r>
                                            </m:den>
                                          </m:f>
                                        </m:e>
                                      </m:d>
                                    </m:e>
                                    <m:sup>
                                      <m:r>
                                        <a:rPr lang="da-DK" b="0" i="1" smtClean="0">
                                          <a:solidFill>
                                            <a:srgbClr val="0099DC"/>
                                          </a:solidFill>
                                          <a:latin typeface="Cambria Math" panose="02040503050406030204" pitchFamily="18" charset="0"/>
                                        </a:rPr>
                                        <m:t>2</m:t>
                                      </m:r>
                                    </m:sup>
                                  </m:sSup>
                                </m:e>
                              </m:d>
                            </m:e>
                          </m:func>
                        </m:e>
                      </m:borderBox>
                    </m:oMath>
                  </m:oMathPara>
                </a14:m>
                <a:endParaRPr lang="da-DK" dirty="0">
                  <a:solidFill>
                    <a:srgbClr val="666666"/>
                  </a:solidFill>
                </a:endParaRPr>
              </a:p>
              <a:p>
                <a:pPr algn="l"/>
                <a:r>
                  <a:rPr lang="da-DK" b="0" dirty="0">
                    <a:solidFill>
                      <a:srgbClr val="666666"/>
                    </a:solidFill>
                  </a:rPr>
                  <a:t> </a:t>
                </a:r>
                <a:endParaRPr lang="da-DK" b="0" i="1" dirty="0">
                  <a:solidFill>
                    <a:srgbClr val="0099DC"/>
                  </a:solidFill>
                  <a:latin typeface="Cambria Math" panose="02040503050406030204" pitchFamily="18" charset="0"/>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𝜇</m:t>
                    </m:r>
                    <m:r>
                      <a:rPr lang="da-DK" b="0" i="1" smtClean="0">
                        <a:solidFill>
                          <a:srgbClr val="0099DC"/>
                        </a:solidFill>
                        <a:latin typeface="Cambria Math" panose="02040503050406030204" pitchFamily="18" charset="0"/>
                      </a:rPr>
                      <m:t>=6.5</m:t>
                    </m:r>
                  </m:oMath>
                </a14:m>
                <a:endParaRPr lang="da-DK" b="0" dirty="0">
                  <a:solidFill>
                    <a:srgbClr val="0099DC"/>
                  </a:solidFill>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𝜎</m:t>
                    </m:r>
                    <m:r>
                      <a:rPr lang="da-DK" b="0" i="1" smtClean="0">
                        <a:solidFill>
                          <a:srgbClr val="0099DC"/>
                        </a:solidFill>
                        <a:latin typeface="Cambria Math" panose="02040503050406030204" pitchFamily="18" charset="0"/>
                      </a:rPr>
                      <m:t>=0.01</m:t>
                    </m:r>
                  </m:oMath>
                </a14:m>
                <a:endParaRPr lang="da-DK" b="0" i="1" dirty="0">
                  <a:solidFill>
                    <a:srgbClr val="0099DC"/>
                  </a:solidFill>
                  <a:latin typeface="Cambria Math" panose="02040503050406030204" pitchFamily="18" charset="0"/>
                </a:endParaRPr>
              </a:p>
              <a:p>
                <a:pPr algn="l"/>
                <a:r>
                  <a:rPr lang="da-DK" b="0" dirty="0">
                    <a:solidFill>
                      <a:srgbClr val="0099DC"/>
                    </a:solidFill>
                  </a:rPr>
                  <a:t> </a:t>
                </a:r>
              </a:p>
              <a:p>
                <a:pPr algn="l"/>
                <a:r>
                  <a:rPr lang="da-DK"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𝑝</m:t>
                    </m:r>
                    <m:d>
                      <m:dPr>
                        <m:ctrlPr>
                          <a:rPr lang="da-DK" b="0" i="1" smtClean="0">
                            <a:solidFill>
                              <a:srgbClr val="FFC000"/>
                            </a:solidFill>
                            <a:latin typeface="Cambria Math" panose="02040503050406030204" pitchFamily="18" charset="0"/>
                          </a:rPr>
                        </m:ctrlPr>
                      </m:dPr>
                      <m:e>
                        <m:r>
                          <a:rPr lang="da-DK" b="0" i="1" smtClean="0">
                            <a:solidFill>
                              <a:srgbClr val="FFC000"/>
                            </a:solidFill>
                            <a:latin typeface="Cambria Math" panose="02040503050406030204" pitchFamily="18" charset="0"/>
                          </a:rPr>
                          <m:t>𝜇</m:t>
                        </m:r>
                        <m:r>
                          <a:rPr lang="da-DK" b="0" i="1" smtClean="0">
                            <a:solidFill>
                              <a:srgbClr val="FFC000"/>
                            </a:solidFill>
                            <a:latin typeface="Cambria Math" panose="02040503050406030204" pitchFamily="18" charset="0"/>
                          </a:rPr>
                          <m:t>±</m:t>
                        </m:r>
                        <m:r>
                          <a:rPr lang="da-DK" b="0" i="1" smtClean="0">
                            <a:solidFill>
                              <a:srgbClr val="FFC000"/>
                            </a:solidFill>
                            <a:latin typeface="Cambria Math" panose="02040503050406030204" pitchFamily="18" charset="0"/>
                          </a:rPr>
                          <m:t>𝜎</m:t>
                        </m:r>
                      </m:e>
                    </m:d>
                    <m:r>
                      <a:rPr lang="da-DK" b="0" i="1" smtClean="0">
                        <a:solidFill>
                          <a:srgbClr val="0099DC"/>
                        </a:solidFill>
                        <a:latin typeface="Cambria Math" panose="02040503050406030204" pitchFamily="18" charset="0"/>
                      </a:rPr>
                      <m:t>≈</m:t>
                    </m:r>
                    <m:r>
                      <a:rPr lang="da-DK" b="0" i="1" smtClean="0">
                        <a:solidFill>
                          <a:srgbClr val="FFC000"/>
                        </a:solidFill>
                        <a:latin typeface="Cambria Math" panose="02040503050406030204" pitchFamily="18" charset="0"/>
                      </a:rPr>
                      <m:t>68%</m:t>
                    </m:r>
                  </m:oMath>
                </a14:m>
                <a:endParaRPr lang="en-GB" dirty="0">
                  <a:solidFill>
                    <a:srgbClr val="0099DC"/>
                  </a:solidFill>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𝑝</m:t>
                    </m:r>
                    <m:d>
                      <m:dPr>
                        <m:ctrlPr>
                          <a:rPr lang="da-DK" b="0" i="1" smtClean="0">
                            <a:solidFill>
                              <a:srgbClr val="7030A0"/>
                            </a:solidFill>
                            <a:latin typeface="Cambria Math" panose="02040503050406030204" pitchFamily="18" charset="0"/>
                          </a:rPr>
                        </m:ctrlPr>
                      </m:dPr>
                      <m:e>
                        <m:r>
                          <a:rPr lang="da-DK" b="0" i="1" smtClean="0">
                            <a:solidFill>
                              <a:srgbClr val="7030A0"/>
                            </a:solidFill>
                            <a:latin typeface="Cambria Math" panose="02040503050406030204" pitchFamily="18" charset="0"/>
                          </a:rPr>
                          <m:t>𝜇</m:t>
                        </m:r>
                        <m:r>
                          <a:rPr lang="da-DK" b="0" i="1" smtClean="0">
                            <a:solidFill>
                              <a:srgbClr val="7030A0"/>
                            </a:solidFill>
                            <a:latin typeface="Cambria Math" panose="02040503050406030204" pitchFamily="18" charset="0"/>
                          </a:rPr>
                          <m:t>±2</m:t>
                        </m:r>
                        <m:r>
                          <a:rPr lang="da-DK" b="0" i="1" smtClean="0">
                            <a:solidFill>
                              <a:srgbClr val="7030A0"/>
                            </a:solidFill>
                            <a:latin typeface="Cambria Math" panose="02040503050406030204" pitchFamily="18" charset="0"/>
                          </a:rPr>
                          <m:t>𝜎</m:t>
                        </m:r>
                      </m:e>
                    </m:d>
                    <m:r>
                      <a:rPr lang="da-DK" b="0" i="1" smtClean="0">
                        <a:solidFill>
                          <a:srgbClr val="0099DC"/>
                        </a:solidFill>
                        <a:latin typeface="Cambria Math" panose="02040503050406030204" pitchFamily="18" charset="0"/>
                      </a:rPr>
                      <m:t>≈</m:t>
                    </m:r>
                    <m:r>
                      <a:rPr lang="da-DK" b="0" i="1" smtClean="0">
                        <a:solidFill>
                          <a:srgbClr val="7030A0"/>
                        </a:solidFill>
                        <a:latin typeface="Cambria Math" panose="02040503050406030204" pitchFamily="18" charset="0"/>
                      </a:rPr>
                      <m:t>95%</m:t>
                    </m:r>
                  </m:oMath>
                </a14:m>
                <a:endParaRPr lang="en-GB" dirty="0">
                  <a:solidFill>
                    <a:srgbClr val="0099DC"/>
                  </a:solidFill>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𝑝</m:t>
                    </m:r>
                    <m:d>
                      <m:dPr>
                        <m:ctrlPr>
                          <a:rPr lang="da-DK" b="0" i="1" smtClean="0">
                            <a:solidFill>
                              <a:schemeClr val="accent3">
                                <a:lumMod val="75000"/>
                              </a:schemeClr>
                            </a:solidFill>
                            <a:latin typeface="Cambria Math" panose="02040503050406030204" pitchFamily="18" charset="0"/>
                          </a:rPr>
                        </m:ctrlPr>
                      </m:dPr>
                      <m:e>
                        <m:r>
                          <a:rPr lang="da-DK" b="0" i="1" smtClean="0">
                            <a:solidFill>
                              <a:schemeClr val="accent3">
                                <a:lumMod val="75000"/>
                              </a:schemeClr>
                            </a:solidFill>
                            <a:latin typeface="Cambria Math" panose="02040503050406030204" pitchFamily="18" charset="0"/>
                          </a:rPr>
                          <m:t>𝜇</m:t>
                        </m:r>
                        <m:r>
                          <a:rPr lang="da-DK" b="0" i="1" smtClean="0">
                            <a:solidFill>
                              <a:schemeClr val="accent3">
                                <a:lumMod val="75000"/>
                              </a:schemeClr>
                            </a:solidFill>
                            <a:latin typeface="Cambria Math" panose="02040503050406030204" pitchFamily="18" charset="0"/>
                          </a:rPr>
                          <m:t>±3</m:t>
                        </m:r>
                        <m:r>
                          <a:rPr lang="da-DK" b="0" i="1" smtClean="0">
                            <a:solidFill>
                              <a:schemeClr val="accent3">
                                <a:lumMod val="75000"/>
                              </a:schemeClr>
                            </a:solidFill>
                            <a:latin typeface="Cambria Math" panose="02040503050406030204" pitchFamily="18" charset="0"/>
                          </a:rPr>
                          <m:t>𝜎</m:t>
                        </m:r>
                      </m:e>
                    </m:d>
                    <m:r>
                      <a:rPr lang="da-DK" b="0" i="1" smtClean="0">
                        <a:solidFill>
                          <a:srgbClr val="0099DC"/>
                        </a:solidFill>
                        <a:latin typeface="Cambria Math" panose="02040503050406030204" pitchFamily="18" charset="0"/>
                      </a:rPr>
                      <m:t>≈</m:t>
                    </m:r>
                    <m:r>
                      <a:rPr lang="da-DK" b="0" i="1" smtClean="0">
                        <a:solidFill>
                          <a:schemeClr val="accent3">
                            <a:lumMod val="75000"/>
                          </a:schemeClr>
                        </a:solidFill>
                        <a:latin typeface="Cambria Math" panose="02040503050406030204" pitchFamily="18" charset="0"/>
                      </a:rPr>
                      <m:t>99.7%</m:t>
                    </m:r>
                  </m:oMath>
                </a14:m>
                <a:endParaRPr lang="en-GB" dirty="0">
                  <a:solidFill>
                    <a:srgbClr val="0099DC"/>
                  </a:solidFill>
                </a:endParaRPr>
              </a:p>
            </p:txBody>
          </p:sp>
        </mc:Choice>
        <mc:Fallback xmlns="">
          <p:sp>
            <p:nvSpPr>
              <p:cNvPr id="3" name="TextBox 2">
                <a:extLst>
                  <a:ext uri="{FF2B5EF4-FFF2-40B4-BE49-F238E27FC236}">
                    <a16:creationId xmlns:a16="http://schemas.microsoft.com/office/drawing/2014/main" id="{03775523-9E8A-0E55-0739-9D2F547F3B40}"/>
                  </a:ext>
                </a:extLst>
              </p:cNvPr>
              <p:cNvSpPr txBox="1">
                <a:spLocks noRot="1" noChangeAspect="1" noMove="1" noResize="1" noEditPoints="1" noAdjustHandles="1" noChangeArrowheads="1" noChangeShapeType="1" noTextEdit="1"/>
              </p:cNvSpPr>
              <p:nvPr/>
            </p:nvSpPr>
            <p:spPr>
              <a:xfrm>
                <a:off x="7109791" y="2348948"/>
                <a:ext cx="3536161" cy="2684068"/>
              </a:xfrm>
              <a:prstGeom prst="rect">
                <a:avLst/>
              </a:prstGeom>
              <a:blipFill>
                <a:blip r:embed="rId5"/>
                <a:stretch>
                  <a:fillRect l="-690" b="-2041"/>
                </a:stretch>
              </a:blipFill>
            </p:spPr>
            <p:txBody>
              <a:bodyPr/>
              <a:lstStyle/>
              <a:p>
                <a:r>
                  <a:rPr lang="en-GB">
                    <a:noFill/>
                  </a:rPr>
                  <a:t> </a:t>
                </a:r>
              </a:p>
            </p:txBody>
          </p:sp>
        </mc:Fallback>
      </mc:AlternateContent>
    </p:spTree>
    <p:extLst>
      <p:ext uri="{BB962C8B-B14F-4D97-AF65-F5344CB8AC3E}">
        <p14:creationId xmlns:p14="http://schemas.microsoft.com/office/powerpoint/2010/main" val="3180147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B82D8-202D-301B-7344-0BE7B33EE1D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53F4AC0-C7D8-F0A2-76CA-C4C912A12E15}"/>
              </a:ext>
            </a:extLst>
          </p:cNvPr>
          <p:cNvPicPr>
            <a:picLocks noChangeAspect="1"/>
          </p:cNvPicPr>
          <p:nvPr/>
        </p:nvPicPr>
        <p:blipFill>
          <a:blip r:embed="rId3"/>
          <a:srcRect/>
          <a:stretch/>
        </p:blipFill>
        <p:spPr>
          <a:xfrm>
            <a:off x="1103710" y="2139708"/>
            <a:ext cx="5505448" cy="4129086"/>
          </a:xfrm>
          <a:prstGeom prst="rect">
            <a:avLst/>
          </a:prstGeom>
        </p:spPr>
      </p:pic>
      <p:sp>
        <p:nvSpPr>
          <p:cNvPr id="2" name="Title 1">
            <a:extLst>
              <a:ext uri="{FF2B5EF4-FFF2-40B4-BE49-F238E27FC236}">
                <a16:creationId xmlns:a16="http://schemas.microsoft.com/office/drawing/2014/main" id="{5B57E17E-D06C-5E67-5AB9-A2F98BC8DA56}"/>
              </a:ext>
            </a:extLst>
          </p:cNvPr>
          <p:cNvSpPr>
            <a:spLocks noGrp="1"/>
          </p:cNvSpPr>
          <p:nvPr>
            <p:ph type="title"/>
          </p:nvPr>
        </p:nvSpPr>
        <p:spPr>
          <a:xfrm>
            <a:off x="1103709" y="265373"/>
            <a:ext cx="9360000" cy="1181687"/>
          </a:xfrm>
        </p:spPr>
        <p:txBody>
          <a:bodyPr/>
          <a:lstStyle/>
          <a:p>
            <a:r>
              <a:rPr lang="en-GB" sz="3600" dirty="0"/>
              <a:t>Neutron counts follow the discrete Poisson distribution</a:t>
            </a:r>
          </a:p>
        </p:txBody>
      </p:sp>
      <p:sp>
        <p:nvSpPr>
          <p:cNvPr id="4" name="Slide Number Placeholder 3">
            <a:extLst>
              <a:ext uri="{FF2B5EF4-FFF2-40B4-BE49-F238E27FC236}">
                <a16:creationId xmlns:a16="http://schemas.microsoft.com/office/drawing/2014/main" id="{5AD21603-2311-DFE0-DDA4-C6F2163394E8}"/>
              </a:ext>
            </a:extLst>
          </p:cNvPr>
          <p:cNvSpPr>
            <a:spLocks noGrp="1"/>
          </p:cNvSpPr>
          <p:nvPr>
            <p:ph type="sldNum" sz="quarter" idx="12"/>
          </p:nvPr>
        </p:nvSpPr>
        <p:spPr/>
        <p:txBody>
          <a:bodyPr/>
          <a:lstStyle/>
          <a:p>
            <a:fld id="{F7283078-D760-1647-8B80-66BA8B52336D}" type="slidenum">
              <a:rPr lang="en-GB" smtClean="0"/>
              <a:t>17</a:t>
            </a:fld>
            <a:endParaRPr lang="en-GB"/>
          </a:p>
        </p:txBody>
      </p:sp>
      <p:sp>
        <p:nvSpPr>
          <p:cNvPr id="8" name="Date Placeholder 7">
            <a:extLst>
              <a:ext uri="{FF2B5EF4-FFF2-40B4-BE49-F238E27FC236}">
                <a16:creationId xmlns:a16="http://schemas.microsoft.com/office/drawing/2014/main" id="{8F3EB9BA-7718-BA7E-052C-D4A857DEAD42}"/>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294A48E-24EB-6188-49AC-A4AFA4245466}"/>
                  </a:ext>
                </a:extLst>
              </p:cNvPr>
              <p:cNvSpPr txBox="1"/>
              <p:nvPr/>
            </p:nvSpPr>
            <p:spPr>
              <a:xfrm>
                <a:off x="7109791" y="2348948"/>
                <a:ext cx="4106060" cy="1509516"/>
              </a:xfrm>
              <a:prstGeom prst="rect">
                <a:avLst/>
              </a:prstGeom>
              <a:noFill/>
            </p:spPr>
            <p:txBody>
              <a:bodyPr wrap="none" lIns="0" tIns="0" rIns="0" bIns="0" rtlCol="0">
                <a:spAutoFit/>
              </a:bodyPr>
              <a:lstStyle/>
              <a:p>
                <a:pPr algn="l"/>
                <a14:m>
                  <m:oMathPara xmlns:m="http://schemas.openxmlformats.org/officeDocument/2006/math">
                    <m:oMath>
                      <m:borderBox>
                        <m:borderBoxPr>
                          <m:ctrlPr>
                            <a:rPr lang="da-DK" b="0" i="1" smtClean="0">
                              <a:solidFill>
                                <a:srgbClr val="0099DC"/>
                              </a:solidFill>
                              <a:latin typeface="Cambria Math" panose="02040503050406030204" pitchFamily="18" charset="0"/>
                            </a:rPr>
                          </m:ctrlPr>
                        </m:borderBoxPr>
                        <m:e>
                          <m:r>
                            <a:rPr lang="da-DK" b="0" i="1" smtClean="0">
                              <a:solidFill>
                                <a:srgbClr val="0099DC"/>
                              </a:solidFill>
                              <a:latin typeface="Cambria Math" panose="02040503050406030204" pitchFamily="18" charset="0"/>
                            </a:rPr>
                            <m:t>𝑝</m:t>
                          </m:r>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𝑘</m:t>
                              </m:r>
                            </m:e>
                          </m:d>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sSup>
                                <m:sSupPr>
                                  <m:ctrlPr>
                                    <a:rPr lang="da-DK" b="0" i="1" smtClean="0">
                                      <a:solidFill>
                                        <a:srgbClr val="0099DC"/>
                                      </a:solidFill>
                                      <a:latin typeface="Cambria Math" panose="02040503050406030204" pitchFamily="18" charset="0"/>
                                    </a:rPr>
                                  </m:ctrlPr>
                                </m:sSupPr>
                                <m:e>
                                  <m:r>
                                    <a:rPr lang="da-DK" b="0" i="1" smtClean="0">
                                      <a:solidFill>
                                        <a:srgbClr val="0099DC"/>
                                      </a:solidFill>
                                      <a:latin typeface="Cambria Math" panose="02040503050406030204" pitchFamily="18" charset="0"/>
                                    </a:rPr>
                                    <m:t>𝜆</m:t>
                                  </m:r>
                                </m:e>
                                <m:sup>
                                  <m:r>
                                    <a:rPr lang="da-DK" b="0" i="1" smtClean="0">
                                      <a:solidFill>
                                        <a:srgbClr val="0099DC"/>
                                      </a:solidFill>
                                      <a:latin typeface="Cambria Math" panose="02040503050406030204" pitchFamily="18" charset="0"/>
                                    </a:rPr>
                                    <m:t>2</m:t>
                                  </m:r>
                                </m:sup>
                              </m:sSup>
                              <m:func>
                                <m:funcPr>
                                  <m:ctrlPr>
                                    <a:rPr lang="da-DK" b="0" i="0" smtClean="0">
                                      <a:solidFill>
                                        <a:srgbClr val="0099DC"/>
                                      </a:solidFill>
                                      <a:latin typeface="Cambria Math" panose="02040503050406030204" pitchFamily="18" charset="0"/>
                                    </a:rPr>
                                  </m:ctrlPr>
                                </m:funcPr>
                                <m:fName>
                                  <m:r>
                                    <m:rPr>
                                      <m:sty m:val="p"/>
                                    </m:rPr>
                                    <a:rPr lang="da-DK" b="0" i="0" smtClean="0">
                                      <a:solidFill>
                                        <a:srgbClr val="0099DC"/>
                                      </a:solidFill>
                                      <a:latin typeface="Cambria Math" panose="02040503050406030204" pitchFamily="18" charset="0"/>
                                    </a:rPr>
                                    <m:t>exp</m:t>
                                  </m:r>
                                </m:fName>
                                <m:e>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𝜆</m:t>
                                      </m:r>
                                    </m:e>
                                  </m:d>
                                </m:e>
                              </m:func>
                            </m:num>
                            <m:den>
                              <m:r>
                                <a:rPr lang="da-DK" b="0" i="1" smtClean="0">
                                  <a:solidFill>
                                    <a:srgbClr val="0099DC"/>
                                  </a:solidFill>
                                  <a:latin typeface="Cambria Math" panose="02040503050406030204" pitchFamily="18" charset="0"/>
                                </a:rPr>
                                <m:t>𝑘</m:t>
                              </m:r>
                              <m:r>
                                <a:rPr lang="da-DK" b="0" i="1" smtClean="0">
                                  <a:solidFill>
                                    <a:srgbClr val="0099DC"/>
                                  </a:solidFill>
                                  <a:latin typeface="Cambria Math" panose="02040503050406030204" pitchFamily="18" charset="0"/>
                                </a:rPr>
                                <m:t>!</m:t>
                              </m:r>
                            </m:den>
                          </m:f>
                        </m:e>
                      </m:borderBox>
                    </m:oMath>
                  </m:oMathPara>
                </a14:m>
                <a:endParaRPr lang="da-DK" dirty="0">
                  <a:solidFill>
                    <a:srgbClr val="666666"/>
                  </a:solidFill>
                </a:endParaRPr>
              </a:p>
              <a:p>
                <a:pPr algn="l"/>
                <a:r>
                  <a:rPr lang="da-DK" b="0" dirty="0">
                    <a:solidFill>
                      <a:srgbClr val="666666"/>
                    </a:solidFill>
                  </a:rPr>
                  <a:t> </a:t>
                </a:r>
                <a:endParaRPr lang="da-DK" b="0" i="1" dirty="0">
                  <a:solidFill>
                    <a:srgbClr val="0099DC"/>
                  </a:solidFill>
                  <a:latin typeface="Cambria Math" panose="02040503050406030204" pitchFamily="18" charset="0"/>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𝑘</m:t>
                    </m:r>
                    <m:r>
                      <a:rPr lang="da-DK" b="0" i="1" smtClean="0">
                        <a:solidFill>
                          <a:srgbClr val="0099DC"/>
                        </a:solidFill>
                        <a:latin typeface="Cambria Math" panose="02040503050406030204" pitchFamily="18" charset="0"/>
                      </a:rPr>
                      <m:t>=</m:t>
                    </m:r>
                    <m:r>
                      <m:rPr>
                        <m:nor/>
                      </m:rPr>
                      <a:rPr lang="da-DK" b="0" i="0" smtClean="0">
                        <a:solidFill>
                          <a:srgbClr val="0099DC"/>
                        </a:solidFill>
                        <a:latin typeface="Cambria Math" panose="02040503050406030204" pitchFamily="18" charset="0"/>
                      </a:rPr>
                      <m:t>neutron counts</m:t>
                    </m:r>
                  </m:oMath>
                </a14:m>
                <a:endParaRPr lang="da-DK" b="0" dirty="0">
                  <a:solidFill>
                    <a:srgbClr val="0099DC"/>
                  </a:solidFill>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𝜆</m:t>
                    </m:r>
                    <m:r>
                      <a:rPr lang="da-DK" b="0" i="1" smtClean="0">
                        <a:solidFill>
                          <a:srgbClr val="0099DC"/>
                        </a:solidFill>
                        <a:latin typeface="Cambria Math" panose="02040503050406030204" pitchFamily="18" charset="0"/>
                      </a:rPr>
                      <m:t>=</m:t>
                    </m:r>
                    <m:r>
                      <m:rPr>
                        <m:nor/>
                      </m:rPr>
                      <a:rPr lang="da-DK" b="0" i="0" smtClean="0">
                        <a:solidFill>
                          <a:srgbClr val="0099DC"/>
                        </a:solidFill>
                        <a:latin typeface="Cambria Math" panose="02040503050406030204" pitchFamily="18" charset="0"/>
                      </a:rPr>
                      <m:t>count rate</m:t>
                    </m:r>
                    <m:r>
                      <a:rPr lang="da-DK" b="0" i="1" smtClean="0">
                        <a:solidFill>
                          <a:srgbClr val="0099DC"/>
                        </a:solidFill>
                        <a:latin typeface="Cambria Math" panose="02040503050406030204" pitchFamily="18" charset="0"/>
                      </a:rPr>
                      <m:t>×</m:t>
                    </m:r>
                    <m:r>
                      <m:rPr>
                        <m:nor/>
                      </m:rPr>
                      <a:rPr lang="da-DK" b="0" i="0" smtClean="0">
                        <a:solidFill>
                          <a:srgbClr val="0099DC"/>
                        </a:solidFill>
                        <a:latin typeface="Cambria Math" panose="02040503050406030204" pitchFamily="18" charset="0"/>
                      </a:rPr>
                      <m:t>time</m:t>
                    </m:r>
                    <m:r>
                      <a:rPr lang="da-DK" b="0" i="1" dirty="0" smtClean="0">
                        <a:solidFill>
                          <a:srgbClr val="0099DC"/>
                        </a:solidFill>
                        <a:latin typeface="Cambria Math" panose="02040503050406030204" pitchFamily="18" charset="0"/>
                      </a:rPr>
                      <m:t>=</m:t>
                    </m:r>
                    <m:r>
                      <m:rPr>
                        <m:nor/>
                      </m:rPr>
                      <a:rPr lang="da-DK" b="0" i="0" dirty="0" smtClean="0">
                        <a:solidFill>
                          <a:srgbClr val="0099DC"/>
                        </a:solidFill>
                        <a:latin typeface="Cambria Math" panose="02040503050406030204" pitchFamily="18" charset="0"/>
                      </a:rPr>
                      <m:t>expected counts</m:t>
                    </m:r>
                  </m:oMath>
                </a14:m>
                <a:endParaRPr lang="en-GB" dirty="0">
                  <a:solidFill>
                    <a:srgbClr val="0099DC"/>
                  </a:solidFill>
                </a:endParaRPr>
              </a:p>
            </p:txBody>
          </p:sp>
        </mc:Choice>
        <mc:Fallback xmlns="">
          <p:sp>
            <p:nvSpPr>
              <p:cNvPr id="3" name="TextBox 2">
                <a:extLst>
                  <a:ext uri="{FF2B5EF4-FFF2-40B4-BE49-F238E27FC236}">
                    <a16:creationId xmlns:a16="http://schemas.microsoft.com/office/drawing/2014/main" id="{E294A48E-24EB-6188-49AC-A4AFA4245466}"/>
                  </a:ext>
                </a:extLst>
              </p:cNvPr>
              <p:cNvSpPr txBox="1">
                <a:spLocks noRot="1" noChangeAspect="1" noMove="1" noResize="1" noEditPoints="1" noAdjustHandles="1" noChangeArrowheads="1" noChangeShapeType="1" noTextEdit="1"/>
              </p:cNvSpPr>
              <p:nvPr/>
            </p:nvSpPr>
            <p:spPr>
              <a:xfrm>
                <a:off x="7109791" y="2348948"/>
                <a:ext cx="4106060" cy="1509516"/>
              </a:xfrm>
              <a:prstGeom prst="rect">
                <a:avLst/>
              </a:prstGeom>
              <a:blipFill>
                <a:blip r:embed="rId4"/>
                <a:stretch>
                  <a:fillRect l="-593" r="-1039" b="-6048"/>
                </a:stretch>
              </a:blipFill>
            </p:spPr>
            <p:txBody>
              <a:bodyPr/>
              <a:lstStyle/>
              <a:p>
                <a:r>
                  <a:rPr lang="en-GB">
                    <a:noFill/>
                  </a:rPr>
                  <a:t> </a:t>
                </a:r>
              </a:p>
            </p:txBody>
          </p:sp>
        </mc:Fallback>
      </mc:AlternateContent>
    </p:spTree>
    <p:extLst>
      <p:ext uri="{BB962C8B-B14F-4D97-AF65-F5344CB8AC3E}">
        <p14:creationId xmlns:p14="http://schemas.microsoft.com/office/powerpoint/2010/main" val="243009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BBE3B-5662-1F31-3D4B-6F097A5C9E2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E36030B-4BD7-2CDE-8A56-983B34D98EE9}"/>
              </a:ext>
            </a:extLst>
          </p:cNvPr>
          <p:cNvPicPr>
            <a:picLocks noChangeAspect="1"/>
          </p:cNvPicPr>
          <p:nvPr/>
        </p:nvPicPr>
        <p:blipFill>
          <a:blip r:embed="rId3"/>
          <a:srcRect/>
          <a:stretch/>
        </p:blipFill>
        <p:spPr>
          <a:xfrm>
            <a:off x="1141419" y="2139708"/>
            <a:ext cx="5430030" cy="4129086"/>
          </a:xfrm>
          <a:prstGeom prst="rect">
            <a:avLst/>
          </a:prstGeom>
        </p:spPr>
      </p:pic>
      <p:sp>
        <p:nvSpPr>
          <p:cNvPr id="2" name="Title 1">
            <a:extLst>
              <a:ext uri="{FF2B5EF4-FFF2-40B4-BE49-F238E27FC236}">
                <a16:creationId xmlns:a16="http://schemas.microsoft.com/office/drawing/2014/main" id="{3A8C303D-A4A9-BA75-B3A4-46AD368F8240}"/>
              </a:ext>
            </a:extLst>
          </p:cNvPr>
          <p:cNvSpPr>
            <a:spLocks noGrp="1"/>
          </p:cNvSpPr>
          <p:nvPr>
            <p:ph type="title"/>
          </p:nvPr>
        </p:nvSpPr>
        <p:spPr>
          <a:xfrm>
            <a:off x="1103709" y="265373"/>
            <a:ext cx="9360000" cy="1181687"/>
          </a:xfrm>
        </p:spPr>
        <p:txBody>
          <a:bodyPr/>
          <a:lstStyle/>
          <a:p>
            <a:r>
              <a:rPr lang="en-GB" sz="3600" dirty="0"/>
              <a:t>Neutron counts follow the discrete Poisson distribution</a:t>
            </a:r>
          </a:p>
        </p:txBody>
      </p:sp>
      <p:sp>
        <p:nvSpPr>
          <p:cNvPr id="4" name="Slide Number Placeholder 3">
            <a:extLst>
              <a:ext uri="{FF2B5EF4-FFF2-40B4-BE49-F238E27FC236}">
                <a16:creationId xmlns:a16="http://schemas.microsoft.com/office/drawing/2014/main" id="{84BE3B98-2D64-45D9-2458-6F94EAF36A94}"/>
              </a:ext>
            </a:extLst>
          </p:cNvPr>
          <p:cNvSpPr>
            <a:spLocks noGrp="1"/>
          </p:cNvSpPr>
          <p:nvPr>
            <p:ph type="sldNum" sz="quarter" idx="12"/>
          </p:nvPr>
        </p:nvSpPr>
        <p:spPr/>
        <p:txBody>
          <a:bodyPr/>
          <a:lstStyle/>
          <a:p>
            <a:fld id="{F7283078-D760-1647-8B80-66BA8B52336D}" type="slidenum">
              <a:rPr lang="en-GB" smtClean="0"/>
              <a:t>18</a:t>
            </a:fld>
            <a:endParaRPr lang="en-GB"/>
          </a:p>
        </p:txBody>
      </p:sp>
      <p:sp>
        <p:nvSpPr>
          <p:cNvPr id="8" name="Date Placeholder 7">
            <a:extLst>
              <a:ext uri="{FF2B5EF4-FFF2-40B4-BE49-F238E27FC236}">
                <a16:creationId xmlns:a16="http://schemas.microsoft.com/office/drawing/2014/main" id="{0C79FEFD-696B-5EB8-E938-6D17273607A2}"/>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119492E-93C6-E1F7-BA9A-BAADCEE85BFD}"/>
                  </a:ext>
                </a:extLst>
              </p:cNvPr>
              <p:cNvSpPr txBox="1"/>
              <p:nvPr/>
            </p:nvSpPr>
            <p:spPr>
              <a:xfrm>
                <a:off x="6971906" y="2348948"/>
                <a:ext cx="4378265" cy="3945439"/>
              </a:xfrm>
              <a:prstGeom prst="rect">
                <a:avLst/>
              </a:prstGeom>
              <a:noFill/>
            </p:spPr>
            <p:txBody>
              <a:bodyPr wrap="square" lIns="0" tIns="0" rIns="0" bIns="0" rtlCol="0">
                <a:spAutoFit/>
              </a:bodyPr>
              <a:lstStyle/>
              <a:p>
                <a:pPr algn="l"/>
                <a14:m>
                  <m:oMathPara xmlns:m="http://schemas.openxmlformats.org/officeDocument/2006/math">
                    <m:oMath>
                      <m:borderBox>
                        <m:borderBoxPr>
                          <m:ctrlPr>
                            <a:rPr lang="da-DK" b="0" i="1" smtClean="0">
                              <a:solidFill>
                                <a:srgbClr val="0099DC"/>
                              </a:solidFill>
                              <a:latin typeface="Cambria Math" panose="02040503050406030204" pitchFamily="18" charset="0"/>
                            </a:rPr>
                          </m:ctrlPr>
                        </m:borderBoxPr>
                        <m:e>
                          <m:r>
                            <a:rPr lang="da-DK" b="0" i="1" smtClean="0">
                              <a:solidFill>
                                <a:srgbClr val="0099DC"/>
                              </a:solidFill>
                              <a:latin typeface="Cambria Math" panose="02040503050406030204" pitchFamily="18" charset="0"/>
                            </a:rPr>
                            <m:t>𝑝</m:t>
                          </m:r>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𝑘</m:t>
                              </m:r>
                            </m:e>
                          </m:d>
                          <m:r>
                            <a:rPr lang="da-DK" b="0" i="1" smtClean="0">
                              <a:solidFill>
                                <a:srgbClr val="0099DC"/>
                              </a:solidFill>
                              <a:latin typeface="Cambria Math" panose="02040503050406030204" pitchFamily="18" charset="0"/>
                            </a:rPr>
                            <m:t>=</m:t>
                          </m:r>
                          <m:f>
                            <m:fPr>
                              <m:ctrlPr>
                                <a:rPr lang="da-DK" b="0" i="1" smtClean="0">
                                  <a:solidFill>
                                    <a:srgbClr val="0099DC"/>
                                  </a:solidFill>
                                  <a:latin typeface="Cambria Math" panose="02040503050406030204" pitchFamily="18" charset="0"/>
                                </a:rPr>
                              </m:ctrlPr>
                            </m:fPr>
                            <m:num>
                              <m:sSup>
                                <m:sSupPr>
                                  <m:ctrlPr>
                                    <a:rPr lang="da-DK" b="0" i="1" smtClean="0">
                                      <a:solidFill>
                                        <a:srgbClr val="0099DC"/>
                                      </a:solidFill>
                                      <a:latin typeface="Cambria Math" panose="02040503050406030204" pitchFamily="18" charset="0"/>
                                    </a:rPr>
                                  </m:ctrlPr>
                                </m:sSupPr>
                                <m:e>
                                  <m:r>
                                    <a:rPr lang="da-DK" b="0" i="1" smtClean="0">
                                      <a:solidFill>
                                        <a:srgbClr val="0099DC"/>
                                      </a:solidFill>
                                      <a:latin typeface="Cambria Math" panose="02040503050406030204" pitchFamily="18" charset="0"/>
                                    </a:rPr>
                                    <m:t>𝜆</m:t>
                                  </m:r>
                                </m:e>
                                <m:sup>
                                  <m:r>
                                    <a:rPr lang="da-DK" b="0" i="1" smtClean="0">
                                      <a:solidFill>
                                        <a:srgbClr val="0099DC"/>
                                      </a:solidFill>
                                      <a:latin typeface="Cambria Math" panose="02040503050406030204" pitchFamily="18" charset="0"/>
                                    </a:rPr>
                                    <m:t>2</m:t>
                                  </m:r>
                                </m:sup>
                              </m:sSup>
                              <m:func>
                                <m:funcPr>
                                  <m:ctrlPr>
                                    <a:rPr lang="da-DK" b="0" i="0" smtClean="0">
                                      <a:solidFill>
                                        <a:srgbClr val="0099DC"/>
                                      </a:solidFill>
                                      <a:latin typeface="Cambria Math" panose="02040503050406030204" pitchFamily="18" charset="0"/>
                                    </a:rPr>
                                  </m:ctrlPr>
                                </m:funcPr>
                                <m:fName>
                                  <m:r>
                                    <m:rPr>
                                      <m:sty m:val="p"/>
                                    </m:rPr>
                                    <a:rPr lang="da-DK" b="0" i="0" smtClean="0">
                                      <a:solidFill>
                                        <a:srgbClr val="0099DC"/>
                                      </a:solidFill>
                                      <a:latin typeface="Cambria Math" panose="02040503050406030204" pitchFamily="18" charset="0"/>
                                    </a:rPr>
                                    <m:t>exp</m:t>
                                  </m:r>
                                </m:fName>
                                <m:e>
                                  <m:d>
                                    <m:dPr>
                                      <m:ctrlPr>
                                        <a:rPr lang="da-DK" b="0" i="1" smtClean="0">
                                          <a:solidFill>
                                            <a:srgbClr val="0099DC"/>
                                          </a:solidFill>
                                          <a:latin typeface="Cambria Math" panose="02040503050406030204" pitchFamily="18" charset="0"/>
                                        </a:rPr>
                                      </m:ctrlPr>
                                    </m:dPr>
                                    <m:e>
                                      <m:r>
                                        <a:rPr lang="da-DK" b="0" i="1" smtClean="0">
                                          <a:solidFill>
                                            <a:srgbClr val="0099DC"/>
                                          </a:solidFill>
                                          <a:latin typeface="Cambria Math" panose="02040503050406030204" pitchFamily="18" charset="0"/>
                                        </a:rPr>
                                        <m:t>−</m:t>
                                      </m:r>
                                      <m:r>
                                        <a:rPr lang="da-DK" b="0" i="1" smtClean="0">
                                          <a:solidFill>
                                            <a:srgbClr val="0099DC"/>
                                          </a:solidFill>
                                          <a:latin typeface="Cambria Math" panose="02040503050406030204" pitchFamily="18" charset="0"/>
                                        </a:rPr>
                                        <m:t>𝜆</m:t>
                                      </m:r>
                                    </m:e>
                                  </m:d>
                                </m:e>
                              </m:func>
                            </m:num>
                            <m:den>
                              <m:r>
                                <a:rPr lang="da-DK" b="0" i="1" smtClean="0">
                                  <a:solidFill>
                                    <a:srgbClr val="0099DC"/>
                                  </a:solidFill>
                                  <a:latin typeface="Cambria Math" panose="02040503050406030204" pitchFamily="18" charset="0"/>
                                </a:rPr>
                                <m:t>𝑘</m:t>
                              </m:r>
                              <m:r>
                                <a:rPr lang="da-DK" b="0" i="1" smtClean="0">
                                  <a:solidFill>
                                    <a:srgbClr val="0099DC"/>
                                  </a:solidFill>
                                  <a:latin typeface="Cambria Math" panose="02040503050406030204" pitchFamily="18" charset="0"/>
                                </a:rPr>
                                <m:t>!</m:t>
                              </m:r>
                            </m:den>
                          </m:f>
                        </m:e>
                      </m:borderBox>
                    </m:oMath>
                  </m:oMathPara>
                </a14:m>
                <a:endParaRPr lang="da-DK" dirty="0">
                  <a:solidFill>
                    <a:srgbClr val="666666"/>
                  </a:solidFill>
                </a:endParaRPr>
              </a:p>
              <a:p>
                <a:pPr algn="l"/>
                <a:r>
                  <a:rPr lang="da-DK" b="0" dirty="0">
                    <a:solidFill>
                      <a:srgbClr val="666666"/>
                    </a:solidFill>
                  </a:rPr>
                  <a:t> </a:t>
                </a:r>
                <a:endParaRPr lang="da-DK" b="0" i="1" dirty="0">
                  <a:solidFill>
                    <a:srgbClr val="0099DC"/>
                  </a:solidFill>
                  <a:latin typeface="Cambria Math" panose="02040503050406030204" pitchFamily="18" charset="0"/>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𝑘</m:t>
                    </m:r>
                    <m:r>
                      <a:rPr lang="da-DK" b="0" i="1" smtClean="0">
                        <a:solidFill>
                          <a:srgbClr val="0099DC"/>
                        </a:solidFill>
                        <a:latin typeface="Cambria Math" panose="02040503050406030204" pitchFamily="18" charset="0"/>
                      </a:rPr>
                      <m:t>=</m:t>
                    </m:r>
                    <m:r>
                      <m:rPr>
                        <m:nor/>
                      </m:rPr>
                      <a:rPr lang="da-DK" b="0" i="0" smtClean="0">
                        <a:solidFill>
                          <a:srgbClr val="0099DC"/>
                        </a:solidFill>
                        <a:latin typeface="Cambria Math" panose="02040503050406030204" pitchFamily="18" charset="0"/>
                      </a:rPr>
                      <m:t>neutron counts</m:t>
                    </m:r>
                  </m:oMath>
                </a14:m>
                <a:endParaRPr lang="da-DK" b="0" dirty="0">
                  <a:solidFill>
                    <a:srgbClr val="0099DC"/>
                  </a:solidFill>
                </a:endParaRPr>
              </a:p>
              <a:p>
                <a:pPr algn="l"/>
                <a:r>
                  <a:rPr lang="da-DK" b="0" dirty="0">
                    <a:solidFill>
                      <a:srgbClr val="0099DC"/>
                    </a:solidFill>
                  </a:rPr>
                  <a:t> </a:t>
                </a:r>
                <a14:m>
                  <m:oMath xmlns:m="http://schemas.openxmlformats.org/officeDocument/2006/math">
                    <m:r>
                      <a:rPr lang="da-DK" b="0" i="1" smtClean="0">
                        <a:solidFill>
                          <a:srgbClr val="0099DC"/>
                        </a:solidFill>
                        <a:latin typeface="Cambria Math" panose="02040503050406030204" pitchFamily="18" charset="0"/>
                      </a:rPr>
                      <m:t>𝜆</m:t>
                    </m:r>
                    <m:r>
                      <a:rPr lang="da-DK" b="0" i="1" smtClean="0">
                        <a:solidFill>
                          <a:srgbClr val="0099DC"/>
                        </a:solidFill>
                        <a:latin typeface="Cambria Math" panose="02040503050406030204" pitchFamily="18" charset="0"/>
                      </a:rPr>
                      <m:t>=</m:t>
                    </m:r>
                    <m:r>
                      <m:rPr>
                        <m:nor/>
                      </m:rPr>
                      <a:rPr lang="da-DK" b="0" i="0" smtClean="0">
                        <a:solidFill>
                          <a:srgbClr val="0099DC"/>
                        </a:solidFill>
                        <a:latin typeface="Cambria Math" panose="02040503050406030204" pitchFamily="18" charset="0"/>
                      </a:rPr>
                      <m:t>count rate</m:t>
                    </m:r>
                    <m:r>
                      <a:rPr lang="da-DK" b="0" i="1" smtClean="0">
                        <a:solidFill>
                          <a:srgbClr val="0099DC"/>
                        </a:solidFill>
                        <a:latin typeface="Cambria Math" panose="02040503050406030204" pitchFamily="18" charset="0"/>
                      </a:rPr>
                      <m:t>×</m:t>
                    </m:r>
                    <m:r>
                      <m:rPr>
                        <m:nor/>
                      </m:rPr>
                      <a:rPr lang="da-DK" b="0" i="0" smtClean="0">
                        <a:solidFill>
                          <a:srgbClr val="0099DC"/>
                        </a:solidFill>
                        <a:latin typeface="Cambria Math" panose="02040503050406030204" pitchFamily="18" charset="0"/>
                      </a:rPr>
                      <m:t>time</m:t>
                    </m:r>
                    <m:r>
                      <a:rPr lang="da-DK" b="0" i="1" dirty="0" smtClean="0">
                        <a:solidFill>
                          <a:srgbClr val="0099DC"/>
                        </a:solidFill>
                        <a:latin typeface="Cambria Math" panose="02040503050406030204" pitchFamily="18" charset="0"/>
                      </a:rPr>
                      <m:t>=</m:t>
                    </m:r>
                    <m:r>
                      <m:rPr>
                        <m:nor/>
                      </m:rPr>
                      <a:rPr lang="da-DK" b="0" i="0" dirty="0" smtClean="0">
                        <a:solidFill>
                          <a:srgbClr val="0099DC"/>
                        </a:solidFill>
                        <a:latin typeface="Cambria Math" panose="02040503050406030204" pitchFamily="18" charset="0"/>
                      </a:rPr>
                      <m:t>expected counts</m:t>
                    </m:r>
                  </m:oMath>
                </a14:m>
                <a:endParaRPr lang="en-GB" dirty="0">
                  <a:solidFill>
                    <a:srgbClr val="0099DC"/>
                  </a:solidFill>
                </a:endParaRPr>
              </a:p>
              <a:p>
                <a:pPr algn="l"/>
                <a:endParaRPr lang="en-GB" dirty="0">
                  <a:solidFill>
                    <a:srgbClr val="0099DC"/>
                  </a:solidFill>
                </a:endParaRPr>
              </a:p>
              <a:p>
                <a:pPr/>
                <a14:m>
                  <m:oMathPara xmlns:m="http://schemas.openxmlformats.org/officeDocument/2006/math">
                    <m:oMath>
                      <m:borderBox>
                        <m:borderBoxPr>
                          <m:ctrlPr>
                            <a:rPr lang="da-DK" i="1" smtClean="0">
                              <a:solidFill>
                                <a:srgbClr val="FFC000"/>
                              </a:solidFill>
                              <a:latin typeface="Cambria Math" panose="02040503050406030204" pitchFamily="18" charset="0"/>
                            </a:rPr>
                          </m:ctrlPr>
                        </m:borderBoxPr>
                        <m:e>
                          <m:r>
                            <a:rPr lang="da-DK" i="1" smtClean="0">
                              <a:solidFill>
                                <a:srgbClr val="FFC000"/>
                              </a:solidFill>
                              <a:latin typeface="Cambria Math" panose="02040503050406030204" pitchFamily="18" charset="0"/>
                            </a:rPr>
                            <m:t>𝑝</m:t>
                          </m:r>
                          <m:d>
                            <m:dPr>
                              <m:ctrlPr>
                                <a:rPr lang="da-DK" i="1">
                                  <a:solidFill>
                                    <a:srgbClr val="FFC000"/>
                                  </a:solidFill>
                                  <a:latin typeface="Cambria Math" panose="02040503050406030204" pitchFamily="18" charset="0"/>
                                </a:rPr>
                              </m:ctrlPr>
                            </m:dPr>
                            <m:e>
                              <m:r>
                                <a:rPr lang="da-DK" i="1">
                                  <a:solidFill>
                                    <a:srgbClr val="FFC000"/>
                                  </a:solidFill>
                                  <a:latin typeface="Cambria Math" panose="02040503050406030204" pitchFamily="18" charset="0"/>
                                </a:rPr>
                                <m:t>𝑦</m:t>
                              </m:r>
                            </m:e>
                          </m:d>
                          <m:r>
                            <a:rPr lang="da-DK" i="1">
                              <a:solidFill>
                                <a:srgbClr val="FFC000"/>
                              </a:solidFill>
                              <a:latin typeface="Cambria Math" panose="02040503050406030204" pitchFamily="18" charset="0"/>
                            </a:rPr>
                            <m:t>=</m:t>
                          </m:r>
                          <m:f>
                            <m:fPr>
                              <m:ctrlPr>
                                <a:rPr lang="da-DK" i="1">
                                  <a:solidFill>
                                    <a:srgbClr val="FFC000"/>
                                  </a:solidFill>
                                  <a:latin typeface="Cambria Math" panose="02040503050406030204" pitchFamily="18" charset="0"/>
                                </a:rPr>
                              </m:ctrlPr>
                            </m:fPr>
                            <m:num>
                              <m:r>
                                <a:rPr lang="da-DK" i="1">
                                  <a:solidFill>
                                    <a:srgbClr val="FFC000"/>
                                  </a:solidFill>
                                  <a:latin typeface="Cambria Math" panose="02040503050406030204" pitchFamily="18" charset="0"/>
                                </a:rPr>
                                <m:t>1</m:t>
                              </m:r>
                            </m:num>
                            <m:den>
                              <m:r>
                                <a:rPr lang="da-DK" i="1">
                                  <a:solidFill>
                                    <a:srgbClr val="FFC000"/>
                                  </a:solidFill>
                                  <a:latin typeface="Cambria Math" panose="02040503050406030204" pitchFamily="18" charset="0"/>
                                </a:rPr>
                                <m:t>𝜎</m:t>
                              </m:r>
                              <m:rad>
                                <m:radPr>
                                  <m:degHide m:val="on"/>
                                  <m:ctrlPr>
                                    <a:rPr lang="da-DK" i="1">
                                      <a:solidFill>
                                        <a:srgbClr val="FFC000"/>
                                      </a:solidFill>
                                      <a:latin typeface="Cambria Math" panose="02040503050406030204" pitchFamily="18" charset="0"/>
                                    </a:rPr>
                                  </m:ctrlPr>
                                </m:radPr>
                                <m:deg/>
                                <m:e>
                                  <m:r>
                                    <a:rPr lang="da-DK" i="1">
                                      <a:solidFill>
                                        <a:srgbClr val="FFC000"/>
                                      </a:solidFill>
                                      <a:latin typeface="Cambria Math" panose="02040503050406030204" pitchFamily="18" charset="0"/>
                                    </a:rPr>
                                    <m:t>2</m:t>
                                  </m:r>
                                  <m:r>
                                    <a:rPr lang="da-DK" i="1">
                                      <a:solidFill>
                                        <a:srgbClr val="FFC000"/>
                                      </a:solidFill>
                                      <a:latin typeface="Cambria Math" panose="02040503050406030204" pitchFamily="18" charset="0"/>
                                    </a:rPr>
                                    <m:t>𝜋</m:t>
                                  </m:r>
                                </m:e>
                              </m:rad>
                            </m:den>
                          </m:f>
                          <m:func>
                            <m:funcPr>
                              <m:ctrlPr>
                                <a:rPr lang="da-DK">
                                  <a:solidFill>
                                    <a:srgbClr val="FFC000"/>
                                  </a:solidFill>
                                  <a:latin typeface="Cambria Math" panose="02040503050406030204" pitchFamily="18" charset="0"/>
                                </a:rPr>
                              </m:ctrlPr>
                            </m:funcPr>
                            <m:fName>
                              <m:r>
                                <m:rPr>
                                  <m:sty m:val="p"/>
                                </m:rPr>
                                <a:rPr lang="da-DK">
                                  <a:solidFill>
                                    <a:srgbClr val="FFC000"/>
                                  </a:solidFill>
                                  <a:latin typeface="Cambria Math" panose="02040503050406030204" pitchFamily="18" charset="0"/>
                                </a:rPr>
                                <m:t>exp</m:t>
                              </m:r>
                            </m:fName>
                            <m:e>
                              <m:d>
                                <m:dPr>
                                  <m:ctrlPr>
                                    <a:rPr lang="da-DK" i="1">
                                      <a:solidFill>
                                        <a:srgbClr val="FFC000"/>
                                      </a:solidFill>
                                      <a:latin typeface="Cambria Math" panose="02040503050406030204" pitchFamily="18" charset="0"/>
                                    </a:rPr>
                                  </m:ctrlPr>
                                </m:dPr>
                                <m:e>
                                  <m:r>
                                    <a:rPr lang="da-DK" i="1">
                                      <a:solidFill>
                                        <a:srgbClr val="FFC000"/>
                                      </a:solidFill>
                                      <a:latin typeface="Cambria Math" panose="02040503050406030204" pitchFamily="18" charset="0"/>
                                    </a:rPr>
                                    <m:t>−</m:t>
                                  </m:r>
                                  <m:f>
                                    <m:fPr>
                                      <m:ctrlPr>
                                        <a:rPr lang="da-DK" i="1">
                                          <a:solidFill>
                                            <a:srgbClr val="FFC000"/>
                                          </a:solidFill>
                                          <a:latin typeface="Cambria Math" panose="02040503050406030204" pitchFamily="18" charset="0"/>
                                        </a:rPr>
                                      </m:ctrlPr>
                                    </m:fPr>
                                    <m:num>
                                      <m:r>
                                        <a:rPr lang="da-DK" i="1">
                                          <a:solidFill>
                                            <a:srgbClr val="FFC000"/>
                                          </a:solidFill>
                                          <a:latin typeface="Cambria Math" panose="02040503050406030204" pitchFamily="18" charset="0"/>
                                        </a:rPr>
                                        <m:t>1</m:t>
                                      </m:r>
                                    </m:num>
                                    <m:den>
                                      <m:r>
                                        <a:rPr lang="da-DK" i="1">
                                          <a:solidFill>
                                            <a:srgbClr val="FFC000"/>
                                          </a:solidFill>
                                          <a:latin typeface="Cambria Math" panose="02040503050406030204" pitchFamily="18" charset="0"/>
                                        </a:rPr>
                                        <m:t>2</m:t>
                                      </m:r>
                                    </m:den>
                                  </m:f>
                                  <m:sSup>
                                    <m:sSupPr>
                                      <m:ctrlPr>
                                        <a:rPr lang="da-DK" i="1">
                                          <a:solidFill>
                                            <a:srgbClr val="FFC000"/>
                                          </a:solidFill>
                                          <a:latin typeface="Cambria Math" panose="02040503050406030204" pitchFamily="18" charset="0"/>
                                        </a:rPr>
                                      </m:ctrlPr>
                                    </m:sSupPr>
                                    <m:e>
                                      <m:d>
                                        <m:dPr>
                                          <m:ctrlPr>
                                            <a:rPr lang="da-DK" i="1">
                                              <a:solidFill>
                                                <a:srgbClr val="FFC000"/>
                                              </a:solidFill>
                                              <a:latin typeface="Cambria Math" panose="02040503050406030204" pitchFamily="18" charset="0"/>
                                            </a:rPr>
                                          </m:ctrlPr>
                                        </m:dPr>
                                        <m:e>
                                          <m:f>
                                            <m:fPr>
                                              <m:ctrlPr>
                                                <a:rPr lang="da-DK" i="1">
                                                  <a:solidFill>
                                                    <a:srgbClr val="FFC000"/>
                                                  </a:solidFill>
                                                  <a:latin typeface="Cambria Math" panose="02040503050406030204" pitchFamily="18" charset="0"/>
                                                </a:rPr>
                                              </m:ctrlPr>
                                            </m:fPr>
                                            <m:num>
                                              <m:r>
                                                <a:rPr lang="da-DK" i="1">
                                                  <a:solidFill>
                                                    <a:srgbClr val="FFC000"/>
                                                  </a:solidFill>
                                                  <a:latin typeface="Cambria Math" panose="02040503050406030204" pitchFamily="18" charset="0"/>
                                                </a:rPr>
                                                <m:t>𝑦</m:t>
                                              </m:r>
                                              <m:r>
                                                <a:rPr lang="da-DK" i="1">
                                                  <a:solidFill>
                                                    <a:srgbClr val="FFC000"/>
                                                  </a:solidFill>
                                                  <a:latin typeface="Cambria Math" panose="02040503050406030204" pitchFamily="18" charset="0"/>
                                                </a:rPr>
                                                <m:t>−</m:t>
                                              </m:r>
                                              <m:r>
                                                <a:rPr lang="da-DK" i="1">
                                                  <a:solidFill>
                                                    <a:srgbClr val="FFC000"/>
                                                  </a:solidFill>
                                                  <a:latin typeface="Cambria Math" panose="02040503050406030204" pitchFamily="18" charset="0"/>
                                                </a:rPr>
                                                <m:t>𝜇</m:t>
                                              </m:r>
                                            </m:num>
                                            <m:den>
                                              <m:r>
                                                <a:rPr lang="da-DK" i="1">
                                                  <a:solidFill>
                                                    <a:srgbClr val="FFC000"/>
                                                  </a:solidFill>
                                                  <a:latin typeface="Cambria Math" panose="02040503050406030204" pitchFamily="18" charset="0"/>
                                                </a:rPr>
                                                <m:t>𝜎</m:t>
                                              </m:r>
                                            </m:den>
                                          </m:f>
                                        </m:e>
                                      </m:d>
                                    </m:e>
                                    <m:sup>
                                      <m:r>
                                        <a:rPr lang="da-DK" i="1">
                                          <a:solidFill>
                                            <a:srgbClr val="FFC000"/>
                                          </a:solidFill>
                                          <a:latin typeface="Cambria Math" panose="02040503050406030204" pitchFamily="18" charset="0"/>
                                        </a:rPr>
                                        <m:t>2</m:t>
                                      </m:r>
                                    </m:sup>
                                  </m:sSup>
                                </m:e>
                              </m:d>
                            </m:e>
                          </m:func>
                        </m:e>
                      </m:borderBox>
                    </m:oMath>
                  </m:oMathPara>
                </a14:m>
                <a:endParaRPr lang="en-GB" dirty="0">
                  <a:solidFill>
                    <a:srgbClr val="0099DC"/>
                  </a:solidFill>
                </a:endParaRPr>
              </a:p>
              <a:p>
                <a:endParaRPr lang="en-GB" dirty="0">
                  <a:solidFill>
                    <a:srgbClr val="0099DC"/>
                  </a:solidFill>
                </a:endParaRPr>
              </a:p>
              <a:p>
                <a:r>
                  <a:rPr lang="da-DK" b="1" dirty="0">
                    <a:solidFill>
                      <a:srgbClr val="666666"/>
                    </a:solidFill>
                  </a:rPr>
                  <a:t> De </a:t>
                </a:r>
                <a:r>
                  <a:rPr lang="da-DK" b="1" dirty="0" err="1">
                    <a:solidFill>
                      <a:srgbClr val="666666"/>
                    </a:solidFill>
                  </a:rPr>
                  <a:t>Moivre-Laplace</a:t>
                </a:r>
                <a:r>
                  <a:rPr lang="da-DK" b="1" dirty="0">
                    <a:solidFill>
                      <a:srgbClr val="666666"/>
                    </a:solidFill>
                  </a:rPr>
                  <a:t> </a:t>
                </a:r>
                <a:r>
                  <a:rPr lang="da-DK" b="1" dirty="0" err="1">
                    <a:solidFill>
                      <a:srgbClr val="666666"/>
                    </a:solidFill>
                  </a:rPr>
                  <a:t>theorem</a:t>
                </a:r>
                <a:r>
                  <a:rPr lang="da-DK" b="1" dirty="0">
                    <a:solidFill>
                      <a:srgbClr val="666666"/>
                    </a:solidFill>
                  </a:rPr>
                  <a:t> (CLT) &amp; </a:t>
                </a:r>
              </a:p>
              <a:p>
                <a:r>
                  <a:rPr lang="da-DK" b="1" dirty="0">
                    <a:solidFill>
                      <a:srgbClr val="666666"/>
                    </a:solidFill>
                  </a:rPr>
                  <a:t> Law of rare events:</a:t>
                </a:r>
              </a:p>
              <a:p>
                <a:r>
                  <a:rPr lang="da-DK" b="0" dirty="0">
                    <a:solidFill>
                      <a:srgbClr val="FFC000"/>
                    </a:solidFill>
                  </a:rPr>
                  <a:t> </a:t>
                </a:r>
                <a14:m>
                  <m:oMath xmlns:m="http://schemas.openxmlformats.org/officeDocument/2006/math">
                    <m:r>
                      <a:rPr lang="da-DK" b="0" i="1" smtClean="0">
                        <a:solidFill>
                          <a:srgbClr val="FFC000"/>
                        </a:solidFill>
                        <a:latin typeface="Cambria Math" panose="02040503050406030204" pitchFamily="18" charset="0"/>
                      </a:rPr>
                      <m:t>𝜇</m:t>
                    </m:r>
                    <m:r>
                      <a:rPr lang="da-DK" b="0" i="1" smtClean="0">
                        <a:solidFill>
                          <a:srgbClr val="FFC000"/>
                        </a:solidFill>
                        <a:latin typeface="Cambria Math" panose="02040503050406030204" pitchFamily="18" charset="0"/>
                      </a:rPr>
                      <m:t>=</m:t>
                    </m:r>
                    <m:r>
                      <a:rPr lang="da-DK" b="0" i="1" smtClean="0">
                        <a:solidFill>
                          <a:srgbClr val="0099DC"/>
                        </a:solidFill>
                        <a:latin typeface="Cambria Math" panose="02040503050406030204" pitchFamily="18" charset="0"/>
                      </a:rPr>
                      <m:t>𝜆</m:t>
                    </m:r>
                  </m:oMath>
                </a14:m>
                <a:endParaRPr lang="da-DK" b="0" i="1" dirty="0">
                  <a:solidFill>
                    <a:srgbClr val="0099DC"/>
                  </a:solidFill>
                  <a:latin typeface="Cambria Math" panose="02040503050406030204" pitchFamily="18" charset="0"/>
                </a:endParaRPr>
              </a:p>
              <a:p>
                <a:r>
                  <a:rPr lang="da-DK" b="0" dirty="0">
                    <a:solidFill>
                      <a:srgbClr val="FFC000"/>
                    </a:solidFill>
                  </a:rPr>
                  <a:t> </a:t>
                </a:r>
                <a14:m>
                  <m:oMath xmlns:m="http://schemas.openxmlformats.org/officeDocument/2006/math">
                    <m:r>
                      <a:rPr lang="da-DK" b="0" i="1" smtClean="0">
                        <a:solidFill>
                          <a:srgbClr val="FFC000"/>
                        </a:solidFill>
                        <a:latin typeface="Cambria Math" panose="02040503050406030204" pitchFamily="18" charset="0"/>
                      </a:rPr>
                      <m:t>𝜎</m:t>
                    </m:r>
                    <m:r>
                      <a:rPr lang="da-DK" b="0" i="1" smtClean="0">
                        <a:solidFill>
                          <a:srgbClr val="FFC000"/>
                        </a:solidFill>
                        <a:latin typeface="Cambria Math" panose="02040503050406030204" pitchFamily="18" charset="0"/>
                      </a:rPr>
                      <m:t>=</m:t>
                    </m:r>
                    <m:rad>
                      <m:radPr>
                        <m:degHide m:val="on"/>
                        <m:ctrlPr>
                          <a:rPr lang="da-DK" b="0" i="1" smtClean="0">
                            <a:solidFill>
                              <a:srgbClr val="0099DC"/>
                            </a:solidFill>
                            <a:latin typeface="Cambria Math" panose="02040503050406030204" pitchFamily="18" charset="0"/>
                          </a:rPr>
                        </m:ctrlPr>
                      </m:radPr>
                      <m:deg/>
                      <m:e>
                        <m:r>
                          <a:rPr lang="da-DK" b="0" i="1" smtClean="0">
                            <a:solidFill>
                              <a:srgbClr val="0099DC"/>
                            </a:solidFill>
                            <a:latin typeface="Cambria Math" panose="02040503050406030204" pitchFamily="18" charset="0"/>
                          </a:rPr>
                          <m:t>𝜆</m:t>
                        </m:r>
                      </m:e>
                    </m:rad>
                  </m:oMath>
                </a14:m>
                <a:endParaRPr lang="en-GB" dirty="0">
                  <a:solidFill>
                    <a:srgbClr val="0099DC"/>
                  </a:solidFill>
                </a:endParaRPr>
              </a:p>
            </p:txBody>
          </p:sp>
        </mc:Choice>
        <mc:Fallback xmlns="">
          <p:sp>
            <p:nvSpPr>
              <p:cNvPr id="3" name="TextBox 2">
                <a:extLst>
                  <a:ext uri="{FF2B5EF4-FFF2-40B4-BE49-F238E27FC236}">
                    <a16:creationId xmlns:a16="http://schemas.microsoft.com/office/drawing/2014/main" id="{E119492E-93C6-E1F7-BA9A-BAADCEE85BFD}"/>
                  </a:ext>
                </a:extLst>
              </p:cNvPr>
              <p:cNvSpPr txBox="1">
                <a:spLocks noRot="1" noChangeAspect="1" noMove="1" noResize="1" noEditPoints="1" noAdjustHandles="1" noChangeArrowheads="1" noChangeShapeType="1" noTextEdit="1"/>
              </p:cNvSpPr>
              <p:nvPr/>
            </p:nvSpPr>
            <p:spPr>
              <a:xfrm>
                <a:off x="6971906" y="2348948"/>
                <a:ext cx="4378265" cy="3945439"/>
              </a:xfrm>
              <a:prstGeom prst="rect">
                <a:avLst/>
              </a:prstGeom>
              <a:blipFill>
                <a:blip r:embed="rId4"/>
                <a:stretch>
                  <a:fillRect l="-1950"/>
                </a:stretch>
              </a:blipFill>
            </p:spPr>
            <p:txBody>
              <a:bodyPr/>
              <a:lstStyle/>
              <a:p>
                <a:r>
                  <a:rPr lang="en-GB">
                    <a:noFill/>
                  </a:rPr>
                  <a:t> </a:t>
                </a:r>
              </a:p>
            </p:txBody>
          </p:sp>
        </mc:Fallback>
      </mc:AlternateContent>
    </p:spTree>
    <p:extLst>
      <p:ext uri="{BB962C8B-B14F-4D97-AF65-F5344CB8AC3E}">
        <p14:creationId xmlns:p14="http://schemas.microsoft.com/office/powerpoint/2010/main" val="1640568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57B18-5DBA-A5DC-A30B-A25983515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E938F-5A7D-38E0-05AE-7B17C495DDD4}"/>
              </a:ext>
            </a:extLst>
          </p:cNvPr>
          <p:cNvSpPr>
            <a:spLocks noGrp="1"/>
          </p:cNvSpPr>
          <p:nvPr>
            <p:ph type="title"/>
          </p:nvPr>
        </p:nvSpPr>
        <p:spPr>
          <a:xfrm>
            <a:off x="1103709" y="265373"/>
            <a:ext cx="9360000" cy="1181687"/>
          </a:xfrm>
        </p:spPr>
        <p:txBody>
          <a:bodyPr/>
          <a:lstStyle/>
          <a:p>
            <a:r>
              <a:rPr lang="en-GB" sz="3600" dirty="0"/>
              <a:t>When there are multiple measurements, they are all estimates</a:t>
            </a:r>
          </a:p>
        </p:txBody>
      </p:sp>
      <p:sp>
        <p:nvSpPr>
          <p:cNvPr id="4" name="Slide Number Placeholder 3">
            <a:extLst>
              <a:ext uri="{FF2B5EF4-FFF2-40B4-BE49-F238E27FC236}">
                <a16:creationId xmlns:a16="http://schemas.microsoft.com/office/drawing/2014/main" id="{82543C0C-F718-C15E-5543-2BC004EFA2E0}"/>
              </a:ext>
            </a:extLst>
          </p:cNvPr>
          <p:cNvSpPr>
            <a:spLocks noGrp="1"/>
          </p:cNvSpPr>
          <p:nvPr>
            <p:ph type="sldNum" sz="quarter" idx="12"/>
          </p:nvPr>
        </p:nvSpPr>
        <p:spPr/>
        <p:txBody>
          <a:bodyPr/>
          <a:lstStyle/>
          <a:p>
            <a:fld id="{F7283078-D760-1647-8B80-66BA8B52336D}" type="slidenum">
              <a:rPr lang="en-GB" smtClean="0"/>
              <a:t>19</a:t>
            </a:fld>
            <a:endParaRPr lang="en-GB"/>
          </a:p>
        </p:txBody>
      </p:sp>
      <p:sp>
        <p:nvSpPr>
          <p:cNvPr id="8" name="Date Placeholder 7">
            <a:extLst>
              <a:ext uri="{FF2B5EF4-FFF2-40B4-BE49-F238E27FC236}">
                <a16:creationId xmlns:a16="http://schemas.microsoft.com/office/drawing/2014/main" id="{8E3C9772-0041-9F22-9760-9BD9F5AD9AE0}"/>
              </a:ext>
            </a:extLst>
          </p:cNvPr>
          <p:cNvSpPr>
            <a:spLocks noGrp="1"/>
          </p:cNvSpPr>
          <p:nvPr>
            <p:ph type="dt" sz="half" idx="10"/>
          </p:nvPr>
        </p:nvSpPr>
        <p:spPr/>
        <p:txBody>
          <a:bodyPr/>
          <a:lstStyle/>
          <a:p>
            <a:fld id="{18896B66-0B3A-474C-9C9C-E4F07B1F5DAD}" type="datetime1">
              <a:rPr lang="en-GB" smtClean="0"/>
              <a:t>26/08/2026</a:t>
            </a:fld>
            <a:endParaRPr lang="en-GB"/>
          </a:p>
        </p:txBody>
      </p:sp>
      <p:pic>
        <p:nvPicPr>
          <p:cNvPr id="10" name="Picture 9">
            <a:extLst>
              <a:ext uri="{FF2B5EF4-FFF2-40B4-BE49-F238E27FC236}">
                <a16:creationId xmlns:a16="http://schemas.microsoft.com/office/drawing/2014/main" id="{D23440A0-AB1A-0C4F-10E6-B49A9676953C}"/>
              </a:ext>
            </a:extLst>
          </p:cNvPr>
          <p:cNvPicPr>
            <a:picLocks noChangeAspect="1"/>
          </p:cNvPicPr>
          <p:nvPr/>
        </p:nvPicPr>
        <p:blipFill>
          <a:blip r:embed="rId3"/>
          <a:stretch>
            <a:fillRect/>
          </a:stretch>
        </p:blipFill>
        <p:spPr>
          <a:xfrm>
            <a:off x="3504316" y="1903765"/>
            <a:ext cx="5353050" cy="4114800"/>
          </a:xfrm>
          <a:prstGeom prst="rect">
            <a:avLst/>
          </a:prstGeom>
        </p:spPr>
      </p:pic>
    </p:spTree>
    <p:extLst>
      <p:ext uri="{BB962C8B-B14F-4D97-AF65-F5344CB8AC3E}">
        <p14:creationId xmlns:p14="http://schemas.microsoft.com/office/powerpoint/2010/main" val="4278229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439A8-50C9-4865-A694-2B6C69E63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5377A-6C63-805B-12CA-3E1A5F3E6B33}"/>
              </a:ext>
            </a:extLst>
          </p:cNvPr>
          <p:cNvSpPr>
            <a:spLocks noGrp="1"/>
          </p:cNvSpPr>
          <p:nvPr>
            <p:ph type="title"/>
          </p:nvPr>
        </p:nvSpPr>
        <p:spPr>
          <a:xfrm>
            <a:off x="1103709" y="265373"/>
            <a:ext cx="9360000" cy="1181687"/>
          </a:xfrm>
        </p:spPr>
        <p:txBody>
          <a:bodyPr/>
          <a:lstStyle/>
          <a:p>
            <a:r>
              <a:rPr lang="en-GB" sz="3600" dirty="0"/>
              <a:t>When there are multiple measurements, they are all estimates</a:t>
            </a:r>
          </a:p>
        </p:txBody>
      </p:sp>
      <p:sp>
        <p:nvSpPr>
          <p:cNvPr id="4" name="Slide Number Placeholder 3">
            <a:extLst>
              <a:ext uri="{FF2B5EF4-FFF2-40B4-BE49-F238E27FC236}">
                <a16:creationId xmlns:a16="http://schemas.microsoft.com/office/drawing/2014/main" id="{F20D18DA-4F2F-71BF-B775-863F108DD63A}"/>
              </a:ext>
            </a:extLst>
          </p:cNvPr>
          <p:cNvSpPr>
            <a:spLocks noGrp="1"/>
          </p:cNvSpPr>
          <p:nvPr>
            <p:ph type="sldNum" sz="quarter" idx="12"/>
          </p:nvPr>
        </p:nvSpPr>
        <p:spPr/>
        <p:txBody>
          <a:bodyPr/>
          <a:lstStyle/>
          <a:p>
            <a:fld id="{F7283078-D760-1647-8B80-66BA8B52336D}" type="slidenum">
              <a:rPr lang="en-GB" smtClean="0"/>
              <a:t>20</a:t>
            </a:fld>
            <a:endParaRPr lang="en-GB"/>
          </a:p>
        </p:txBody>
      </p:sp>
      <p:sp>
        <p:nvSpPr>
          <p:cNvPr id="8" name="Date Placeholder 7">
            <a:extLst>
              <a:ext uri="{FF2B5EF4-FFF2-40B4-BE49-F238E27FC236}">
                <a16:creationId xmlns:a16="http://schemas.microsoft.com/office/drawing/2014/main" id="{D896E5B0-D9AB-93C7-85EC-F61162D8E923}"/>
              </a:ext>
            </a:extLst>
          </p:cNvPr>
          <p:cNvSpPr>
            <a:spLocks noGrp="1"/>
          </p:cNvSpPr>
          <p:nvPr>
            <p:ph type="dt" sz="half" idx="10"/>
          </p:nvPr>
        </p:nvSpPr>
        <p:spPr/>
        <p:txBody>
          <a:bodyPr/>
          <a:lstStyle/>
          <a:p>
            <a:fld id="{18896B66-0B3A-474C-9C9C-E4F07B1F5DAD}" type="datetime1">
              <a:rPr lang="en-GB" smtClean="0"/>
              <a:t>26/08/2026</a:t>
            </a:fld>
            <a:endParaRPr lang="en-GB"/>
          </a:p>
        </p:txBody>
      </p:sp>
      <p:pic>
        <p:nvPicPr>
          <p:cNvPr id="11" name="Picture 10">
            <a:extLst>
              <a:ext uri="{FF2B5EF4-FFF2-40B4-BE49-F238E27FC236}">
                <a16:creationId xmlns:a16="http://schemas.microsoft.com/office/drawing/2014/main" id="{D9757CC3-0EDA-CE25-670C-47FB90B6859F}"/>
              </a:ext>
            </a:extLst>
          </p:cNvPr>
          <p:cNvPicPr>
            <a:picLocks noChangeAspect="1"/>
          </p:cNvPicPr>
          <p:nvPr/>
        </p:nvPicPr>
        <p:blipFill>
          <a:blip r:embed="rId3"/>
          <a:stretch>
            <a:fillRect/>
          </a:stretch>
        </p:blipFill>
        <p:spPr>
          <a:xfrm>
            <a:off x="742950" y="1903765"/>
            <a:ext cx="5353050" cy="4114800"/>
          </a:xfrm>
          <a:prstGeom prst="rect">
            <a:avLst/>
          </a:prstGeom>
        </p:spPr>
      </p:pic>
      <p:pic>
        <p:nvPicPr>
          <p:cNvPr id="13" name="Picture 12">
            <a:extLst>
              <a:ext uri="{FF2B5EF4-FFF2-40B4-BE49-F238E27FC236}">
                <a16:creationId xmlns:a16="http://schemas.microsoft.com/office/drawing/2014/main" id="{B80D4E8E-744D-ADFD-B93E-4679995B79D1}"/>
              </a:ext>
            </a:extLst>
          </p:cNvPr>
          <p:cNvPicPr>
            <a:picLocks noChangeAspect="1"/>
          </p:cNvPicPr>
          <p:nvPr/>
        </p:nvPicPr>
        <p:blipFill>
          <a:blip r:embed="rId4"/>
          <a:stretch>
            <a:fillRect/>
          </a:stretch>
        </p:blipFill>
        <p:spPr>
          <a:xfrm>
            <a:off x="6096000" y="1903765"/>
            <a:ext cx="5486400" cy="4114800"/>
          </a:xfrm>
          <a:prstGeom prst="rect">
            <a:avLst/>
          </a:prstGeom>
        </p:spPr>
      </p:pic>
    </p:spTree>
    <p:extLst>
      <p:ext uri="{BB962C8B-B14F-4D97-AF65-F5344CB8AC3E}">
        <p14:creationId xmlns:p14="http://schemas.microsoft.com/office/powerpoint/2010/main" val="245179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42189-E35D-8370-FEF7-B90376C24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45C58-E8F0-9427-9BC2-11279E271E17}"/>
              </a:ext>
            </a:extLst>
          </p:cNvPr>
          <p:cNvSpPr>
            <a:spLocks noGrp="1"/>
          </p:cNvSpPr>
          <p:nvPr>
            <p:ph type="title"/>
          </p:nvPr>
        </p:nvSpPr>
        <p:spPr>
          <a:xfrm>
            <a:off x="1103709" y="265373"/>
            <a:ext cx="9360000" cy="1181687"/>
          </a:xfrm>
        </p:spPr>
        <p:txBody>
          <a:bodyPr/>
          <a:lstStyle/>
          <a:p>
            <a:r>
              <a:rPr lang="en-GB" sz="3600" dirty="0"/>
              <a:t>Fitting a model to some data is about maximising the probability distributions</a:t>
            </a:r>
          </a:p>
        </p:txBody>
      </p:sp>
      <p:sp>
        <p:nvSpPr>
          <p:cNvPr id="4" name="Slide Number Placeholder 3">
            <a:extLst>
              <a:ext uri="{FF2B5EF4-FFF2-40B4-BE49-F238E27FC236}">
                <a16:creationId xmlns:a16="http://schemas.microsoft.com/office/drawing/2014/main" id="{F692D41E-3202-87E7-D2F0-8267CA367E7E}"/>
              </a:ext>
            </a:extLst>
          </p:cNvPr>
          <p:cNvSpPr>
            <a:spLocks noGrp="1"/>
          </p:cNvSpPr>
          <p:nvPr>
            <p:ph type="sldNum" sz="quarter" idx="12"/>
          </p:nvPr>
        </p:nvSpPr>
        <p:spPr/>
        <p:txBody>
          <a:bodyPr/>
          <a:lstStyle/>
          <a:p>
            <a:fld id="{F7283078-D760-1647-8B80-66BA8B52336D}" type="slidenum">
              <a:rPr lang="en-GB" smtClean="0"/>
              <a:t>21</a:t>
            </a:fld>
            <a:endParaRPr lang="en-GB"/>
          </a:p>
        </p:txBody>
      </p:sp>
      <p:sp>
        <p:nvSpPr>
          <p:cNvPr id="8" name="Date Placeholder 7">
            <a:extLst>
              <a:ext uri="{FF2B5EF4-FFF2-40B4-BE49-F238E27FC236}">
                <a16:creationId xmlns:a16="http://schemas.microsoft.com/office/drawing/2014/main" id="{F56BF2C0-6E7D-6BCB-FA93-20ACB000EAC0}"/>
              </a:ext>
            </a:extLst>
          </p:cNvPr>
          <p:cNvSpPr>
            <a:spLocks noGrp="1"/>
          </p:cNvSpPr>
          <p:nvPr>
            <p:ph type="dt" sz="half" idx="10"/>
          </p:nvPr>
        </p:nvSpPr>
        <p:spPr/>
        <p:txBody>
          <a:bodyPr/>
          <a:lstStyle/>
          <a:p>
            <a:fld id="{18896B66-0B3A-474C-9C9C-E4F07B1F5DAD}" type="datetime1">
              <a:rPr lang="en-GB" smtClean="0"/>
              <a:t>26/08/2026</a:t>
            </a:fld>
            <a:endParaRPr lang="en-GB"/>
          </a:p>
        </p:txBody>
      </p:sp>
      <p:pic>
        <p:nvPicPr>
          <p:cNvPr id="5" name="Picture 4">
            <a:extLst>
              <a:ext uri="{FF2B5EF4-FFF2-40B4-BE49-F238E27FC236}">
                <a16:creationId xmlns:a16="http://schemas.microsoft.com/office/drawing/2014/main" id="{39F9B569-0203-480A-75C0-E15652767892}"/>
              </a:ext>
            </a:extLst>
          </p:cNvPr>
          <p:cNvPicPr>
            <a:picLocks noChangeAspect="1"/>
          </p:cNvPicPr>
          <p:nvPr/>
        </p:nvPicPr>
        <p:blipFill>
          <a:blip r:embed="rId3"/>
          <a:stretch>
            <a:fillRect/>
          </a:stretch>
        </p:blipFill>
        <p:spPr>
          <a:xfrm>
            <a:off x="3730560" y="1903765"/>
            <a:ext cx="5353050" cy="4114800"/>
          </a:xfrm>
          <a:prstGeom prst="rect">
            <a:avLst/>
          </a:prstGeom>
        </p:spPr>
      </p:pic>
    </p:spTree>
    <p:extLst>
      <p:ext uri="{BB962C8B-B14F-4D97-AF65-F5344CB8AC3E}">
        <p14:creationId xmlns:p14="http://schemas.microsoft.com/office/powerpoint/2010/main" val="378203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D5A03-F0AE-60E0-A751-F4E4EDF7A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A14DD-BEB4-3ACF-3DFA-9E4222D797B1}"/>
              </a:ext>
            </a:extLst>
          </p:cNvPr>
          <p:cNvSpPr>
            <a:spLocks noGrp="1"/>
          </p:cNvSpPr>
          <p:nvPr>
            <p:ph type="title"/>
          </p:nvPr>
        </p:nvSpPr>
        <p:spPr>
          <a:xfrm>
            <a:off x="1103709" y="265373"/>
            <a:ext cx="9360000" cy="1181687"/>
          </a:xfrm>
        </p:spPr>
        <p:txBody>
          <a:bodyPr/>
          <a:lstStyle/>
          <a:p>
            <a:r>
              <a:rPr lang="en-GB" sz="3600" dirty="0"/>
              <a:t>Fitting a model to some data is about maximising the probability distributions</a:t>
            </a:r>
          </a:p>
        </p:txBody>
      </p:sp>
      <p:sp>
        <p:nvSpPr>
          <p:cNvPr id="4" name="Slide Number Placeholder 3">
            <a:extLst>
              <a:ext uri="{FF2B5EF4-FFF2-40B4-BE49-F238E27FC236}">
                <a16:creationId xmlns:a16="http://schemas.microsoft.com/office/drawing/2014/main" id="{64332C5F-63C8-4979-DFB8-F610EBDEB9E8}"/>
              </a:ext>
            </a:extLst>
          </p:cNvPr>
          <p:cNvSpPr>
            <a:spLocks noGrp="1"/>
          </p:cNvSpPr>
          <p:nvPr>
            <p:ph type="sldNum" sz="quarter" idx="12"/>
          </p:nvPr>
        </p:nvSpPr>
        <p:spPr/>
        <p:txBody>
          <a:bodyPr/>
          <a:lstStyle/>
          <a:p>
            <a:fld id="{F7283078-D760-1647-8B80-66BA8B52336D}" type="slidenum">
              <a:rPr lang="en-GB" smtClean="0"/>
              <a:t>22</a:t>
            </a:fld>
            <a:endParaRPr lang="en-GB"/>
          </a:p>
        </p:txBody>
      </p:sp>
      <p:sp>
        <p:nvSpPr>
          <p:cNvPr id="8" name="Date Placeholder 7">
            <a:extLst>
              <a:ext uri="{FF2B5EF4-FFF2-40B4-BE49-F238E27FC236}">
                <a16:creationId xmlns:a16="http://schemas.microsoft.com/office/drawing/2014/main" id="{227026E3-74B4-1D6D-F419-2589BBF23F7F}"/>
              </a:ext>
            </a:extLst>
          </p:cNvPr>
          <p:cNvSpPr>
            <a:spLocks noGrp="1"/>
          </p:cNvSpPr>
          <p:nvPr>
            <p:ph type="dt" sz="half" idx="10"/>
          </p:nvPr>
        </p:nvSpPr>
        <p:spPr/>
        <p:txBody>
          <a:bodyPr/>
          <a:lstStyle/>
          <a:p>
            <a:fld id="{18896B66-0B3A-474C-9C9C-E4F07B1F5DAD}" type="datetime1">
              <a:rPr lang="en-GB" smtClean="0"/>
              <a:t>26/08/2026</a:t>
            </a:fld>
            <a:endParaRPr lang="en-GB"/>
          </a:p>
        </p:txBody>
      </p:sp>
      <p:pic>
        <p:nvPicPr>
          <p:cNvPr id="5" name="Picture 4">
            <a:extLst>
              <a:ext uri="{FF2B5EF4-FFF2-40B4-BE49-F238E27FC236}">
                <a16:creationId xmlns:a16="http://schemas.microsoft.com/office/drawing/2014/main" id="{11F82952-3FBE-7B6A-0FAB-9CFC252A8819}"/>
              </a:ext>
            </a:extLst>
          </p:cNvPr>
          <p:cNvPicPr>
            <a:picLocks noChangeAspect="1"/>
          </p:cNvPicPr>
          <p:nvPr/>
        </p:nvPicPr>
        <p:blipFill>
          <a:blip r:embed="rId3"/>
          <a:stretch>
            <a:fillRect/>
          </a:stretch>
        </p:blipFill>
        <p:spPr>
          <a:xfrm>
            <a:off x="742950" y="1903765"/>
            <a:ext cx="5353050" cy="4114800"/>
          </a:xfrm>
          <a:prstGeom prst="rect">
            <a:avLst/>
          </a:prstGeom>
        </p:spPr>
      </p:pic>
      <p:pic>
        <p:nvPicPr>
          <p:cNvPr id="6" name="Picture 5">
            <a:extLst>
              <a:ext uri="{FF2B5EF4-FFF2-40B4-BE49-F238E27FC236}">
                <a16:creationId xmlns:a16="http://schemas.microsoft.com/office/drawing/2014/main" id="{74760AB5-452D-4E73-0F56-34C09EB8B3F6}"/>
              </a:ext>
            </a:extLst>
          </p:cNvPr>
          <p:cNvPicPr>
            <a:picLocks noChangeAspect="1"/>
          </p:cNvPicPr>
          <p:nvPr/>
        </p:nvPicPr>
        <p:blipFill>
          <a:blip r:embed="rId4"/>
          <a:stretch>
            <a:fillRect/>
          </a:stretch>
        </p:blipFill>
        <p:spPr>
          <a:xfrm>
            <a:off x="6096000" y="1903765"/>
            <a:ext cx="5486400" cy="4114800"/>
          </a:xfrm>
          <a:prstGeom prst="rect">
            <a:avLst/>
          </a:prstGeom>
        </p:spPr>
      </p:pic>
    </p:spTree>
    <p:extLst>
      <p:ext uri="{BB962C8B-B14F-4D97-AF65-F5344CB8AC3E}">
        <p14:creationId xmlns:p14="http://schemas.microsoft.com/office/powerpoint/2010/main" val="2746338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33996-7CCA-4466-AFDD-AF981E8602B7}"/>
              </a:ext>
            </a:extLst>
          </p:cNvPr>
          <p:cNvSpPr>
            <a:spLocks noGrp="1"/>
          </p:cNvSpPr>
          <p:nvPr>
            <p:ph type="title"/>
          </p:nvPr>
        </p:nvSpPr>
        <p:spPr>
          <a:xfrm>
            <a:off x="1103709" y="265373"/>
            <a:ext cx="9360000" cy="657339"/>
          </a:xfrm>
        </p:spPr>
        <p:txBody>
          <a:bodyPr/>
          <a:lstStyle/>
          <a:p>
            <a:r>
              <a:rPr lang="da-DK" dirty="0"/>
              <a:t>The </a:t>
            </a:r>
            <a:r>
              <a:rPr lang="da-DK" dirty="0" err="1"/>
              <a:t>EasyScience</a:t>
            </a:r>
            <a:r>
              <a:rPr lang="da-DK" dirty="0"/>
              <a:t> data </a:t>
            </a:r>
            <a:r>
              <a:rPr lang="da-DK" dirty="0" err="1"/>
              <a:t>analysis</a:t>
            </a:r>
            <a:r>
              <a:rPr lang="da-DK" dirty="0"/>
              <a:t> ecosystem</a:t>
            </a:r>
            <a:endParaRPr lang="en-GB" dirty="0"/>
          </a:p>
        </p:txBody>
      </p:sp>
      <p:sp>
        <p:nvSpPr>
          <p:cNvPr id="3" name="Footer Placeholder 2">
            <a:extLst>
              <a:ext uri="{FF2B5EF4-FFF2-40B4-BE49-F238E27FC236}">
                <a16:creationId xmlns:a16="http://schemas.microsoft.com/office/drawing/2014/main" id="{661B2F91-7A6B-409C-A103-71D0C20E2D00}"/>
              </a:ext>
            </a:extLst>
          </p:cNvPr>
          <p:cNvSpPr>
            <a:spLocks noGrp="1"/>
          </p:cNvSpPr>
          <p:nvPr>
            <p:ph type="ftr" sz="quarter" idx="11"/>
          </p:nvPr>
        </p:nvSpPr>
        <p:spPr>
          <a:xfrm>
            <a:off x="1725593" y="6475270"/>
            <a:ext cx="4320448" cy="365125"/>
          </a:xfrm>
        </p:spPr>
        <p:txBody>
          <a:bodyPr/>
          <a:lstStyle/>
          <a:p>
            <a:r>
              <a:rPr lang="sv-SE"/>
              <a:t>PRESENTATION TITLE/FOOTER</a:t>
            </a:r>
            <a:endParaRPr lang="sv-SE" dirty="0"/>
          </a:p>
        </p:txBody>
      </p:sp>
      <p:sp>
        <p:nvSpPr>
          <p:cNvPr id="4" name="Slide Number Placeholder 3">
            <a:extLst>
              <a:ext uri="{FF2B5EF4-FFF2-40B4-BE49-F238E27FC236}">
                <a16:creationId xmlns:a16="http://schemas.microsoft.com/office/drawing/2014/main" id="{527E3410-0C3A-43DD-8D41-5369625194C8}"/>
              </a:ext>
            </a:extLst>
          </p:cNvPr>
          <p:cNvSpPr>
            <a:spLocks noGrp="1"/>
          </p:cNvSpPr>
          <p:nvPr>
            <p:ph type="sldNum" sz="quarter" idx="12"/>
          </p:nvPr>
        </p:nvSpPr>
        <p:spPr>
          <a:xfrm>
            <a:off x="8407641" y="6475270"/>
            <a:ext cx="2743200" cy="365125"/>
          </a:xfrm>
        </p:spPr>
        <p:txBody>
          <a:bodyPr/>
          <a:lstStyle/>
          <a:p>
            <a:fld id="{F7283078-D760-1647-8B80-66BA8B52336D}" type="slidenum">
              <a:rPr lang="sv-SE" smtClean="0"/>
              <a:t>23</a:t>
            </a:fld>
            <a:endParaRPr lang="sv-SE" dirty="0"/>
          </a:p>
        </p:txBody>
      </p:sp>
      <p:sp>
        <p:nvSpPr>
          <p:cNvPr id="7" name="Date Placeholder 6">
            <a:extLst>
              <a:ext uri="{FF2B5EF4-FFF2-40B4-BE49-F238E27FC236}">
                <a16:creationId xmlns:a16="http://schemas.microsoft.com/office/drawing/2014/main" id="{F1051C77-6AE1-45FE-A69E-850D27DAF7CB}"/>
              </a:ext>
            </a:extLst>
          </p:cNvPr>
          <p:cNvSpPr>
            <a:spLocks noGrp="1"/>
          </p:cNvSpPr>
          <p:nvPr>
            <p:ph type="dt" sz="half" idx="10"/>
          </p:nvPr>
        </p:nvSpPr>
        <p:spPr>
          <a:xfrm>
            <a:off x="867996" y="6475270"/>
            <a:ext cx="832658" cy="365125"/>
          </a:xfrm>
        </p:spPr>
        <p:txBody>
          <a:bodyPr/>
          <a:lstStyle/>
          <a:p>
            <a:fld id="{18896B66-0B3A-474C-9C9C-E4F07B1F5DAD}" type="datetime1">
              <a:rPr lang="sv-SE" smtClean="0"/>
              <a:t>2026-08-26</a:t>
            </a:fld>
            <a:endParaRPr lang="sv-SE" dirty="0"/>
          </a:p>
        </p:txBody>
      </p:sp>
      <p:pic>
        <p:nvPicPr>
          <p:cNvPr id="8" name="Picture 12" descr="EasyScience · GitHub">
            <a:extLst>
              <a:ext uri="{FF2B5EF4-FFF2-40B4-BE49-F238E27FC236}">
                <a16:creationId xmlns:a16="http://schemas.microsoft.com/office/drawing/2014/main" id="{C25AEA92-4736-4369-BB85-014696B16AD8}"/>
              </a:ext>
            </a:extLst>
          </p:cNvPr>
          <p:cNvPicPr>
            <a:picLocks noChangeAspect="1" noChangeArrowheads="1"/>
          </p:cNvPicPr>
          <p:nvPr/>
        </p:nvPicPr>
        <p:blipFill>
          <a:blip r:embed="rId3">
            <a:duotone>
              <a:prstClr val="black"/>
              <a:srgbClr val="88AA67">
                <a:tint val="45000"/>
                <a:satMod val="400000"/>
              </a:srgbClr>
            </a:duotone>
            <a:extLst>
              <a:ext uri="{28A0092B-C50C-407E-A947-70E740481C1C}">
                <a14:useLocalDpi xmlns:a14="http://schemas.microsoft.com/office/drawing/2010/main" val="0"/>
              </a:ext>
            </a:extLst>
          </a:blip>
          <a:srcRect/>
          <a:stretch>
            <a:fillRect/>
          </a:stretch>
        </p:blipFill>
        <p:spPr bwMode="auto">
          <a:xfrm>
            <a:off x="4492132" y="2069099"/>
            <a:ext cx="654350" cy="654350"/>
          </a:xfrm>
          <a:prstGeom prst="rect">
            <a:avLst/>
          </a:prstGeom>
          <a:noFill/>
          <a:extLst>
            <a:ext uri="{909E8E84-426E-40DD-AFC4-6F175D3DCCD1}">
              <a14:hiddenFill xmlns:a14="http://schemas.microsoft.com/office/drawing/2010/main">
                <a:solidFill>
                  <a:srgbClr val="FFFFFF"/>
                </a:solidFill>
              </a14:hiddenFill>
            </a:ext>
          </a:extLst>
        </p:spPr>
      </p:pic>
      <p:sp>
        <p:nvSpPr>
          <p:cNvPr id="9" name="easyDiffractionLib">
            <a:extLst>
              <a:ext uri="{FF2B5EF4-FFF2-40B4-BE49-F238E27FC236}">
                <a16:creationId xmlns:a16="http://schemas.microsoft.com/office/drawing/2014/main" id="{9AAADCB9-329A-4713-A2A6-72747471EC61}"/>
              </a:ext>
            </a:extLst>
          </p:cNvPr>
          <p:cNvSpPr/>
          <p:nvPr/>
        </p:nvSpPr>
        <p:spPr>
          <a:xfrm>
            <a:off x="1874773" y="3157289"/>
            <a:ext cx="3175001" cy="516715"/>
          </a:xfrm>
          <a:prstGeom prst="roundRect">
            <a:avLst>
              <a:gd name="adj" fmla="val 19658"/>
            </a:avLst>
          </a:prstGeom>
          <a:solidFill>
            <a:srgbClr val="88AA67"/>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err="1"/>
              <a:t>E</a:t>
            </a:r>
            <a:r>
              <a:rPr dirty="0" err="1"/>
              <a:t>asyDiffractionLib</a:t>
            </a:r>
            <a:endParaRPr dirty="0"/>
          </a:p>
        </p:txBody>
      </p:sp>
      <p:sp>
        <p:nvSpPr>
          <p:cNvPr id="10" name="easyCore">
            <a:extLst>
              <a:ext uri="{FF2B5EF4-FFF2-40B4-BE49-F238E27FC236}">
                <a16:creationId xmlns:a16="http://schemas.microsoft.com/office/drawing/2014/main" id="{9658E4B9-6E54-41A4-B47A-7E91A6209ECA}"/>
              </a:ext>
            </a:extLst>
          </p:cNvPr>
          <p:cNvSpPr/>
          <p:nvPr/>
        </p:nvSpPr>
        <p:spPr>
          <a:xfrm>
            <a:off x="1195647" y="2084698"/>
            <a:ext cx="3175001" cy="514967"/>
          </a:xfrm>
          <a:prstGeom prst="roundRect">
            <a:avLst>
              <a:gd name="adj" fmla="val 19658"/>
            </a:avLst>
          </a:prstGeom>
          <a:solidFill>
            <a:srgbClr val="88AA67"/>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a:t>E</a:t>
            </a:r>
            <a:r>
              <a:rPr lang="pl-PL" dirty="0" err="1"/>
              <a:t>asyScience</a:t>
            </a:r>
            <a:endParaRPr dirty="0"/>
          </a:p>
        </p:txBody>
      </p:sp>
      <p:sp>
        <p:nvSpPr>
          <p:cNvPr id="11" name="Line">
            <a:extLst>
              <a:ext uri="{FF2B5EF4-FFF2-40B4-BE49-F238E27FC236}">
                <a16:creationId xmlns:a16="http://schemas.microsoft.com/office/drawing/2014/main" id="{76C250E9-0E07-41F1-A11B-E36EE20B4A33}"/>
              </a:ext>
            </a:extLst>
          </p:cNvPr>
          <p:cNvSpPr/>
          <p:nvPr/>
        </p:nvSpPr>
        <p:spPr>
          <a:xfrm>
            <a:off x="1504507" y="2556287"/>
            <a:ext cx="0" cy="990764"/>
          </a:xfrm>
          <a:prstGeom prst="line">
            <a:avLst/>
          </a:prstGeom>
          <a:ln w="50800">
            <a:solidFill>
              <a:srgbClr val="88AA67"/>
            </a:solidFill>
            <a:miter lim="400000"/>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12" name="easySpectroscopyLib">
            <a:extLst>
              <a:ext uri="{FF2B5EF4-FFF2-40B4-BE49-F238E27FC236}">
                <a16:creationId xmlns:a16="http://schemas.microsoft.com/office/drawing/2014/main" id="{10A3D3D1-8CD8-4BA3-9B82-2A0DCE319FBE}"/>
              </a:ext>
            </a:extLst>
          </p:cNvPr>
          <p:cNvSpPr/>
          <p:nvPr/>
        </p:nvSpPr>
        <p:spPr>
          <a:xfrm>
            <a:off x="1874773" y="3874526"/>
            <a:ext cx="3175001" cy="495367"/>
          </a:xfrm>
          <a:prstGeom prst="roundRect">
            <a:avLst>
              <a:gd name="adj" fmla="val 19658"/>
            </a:avLst>
          </a:prstGeom>
          <a:solidFill>
            <a:srgbClr val="88A967"/>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err="1"/>
              <a:t>E</a:t>
            </a:r>
            <a:r>
              <a:rPr dirty="0" err="1"/>
              <a:t>asy</a:t>
            </a:r>
            <a:r>
              <a:rPr lang="en-US" dirty="0" err="1"/>
              <a:t>ReflectometryLib</a:t>
            </a:r>
            <a:endParaRPr dirty="0"/>
          </a:p>
        </p:txBody>
      </p:sp>
      <p:sp>
        <p:nvSpPr>
          <p:cNvPr id="14" name="Line">
            <a:extLst>
              <a:ext uri="{FF2B5EF4-FFF2-40B4-BE49-F238E27FC236}">
                <a16:creationId xmlns:a16="http://schemas.microsoft.com/office/drawing/2014/main" id="{9C0E9EFE-5207-4767-B0AD-D681FF44FF53}"/>
              </a:ext>
            </a:extLst>
          </p:cNvPr>
          <p:cNvSpPr/>
          <p:nvPr/>
        </p:nvSpPr>
        <p:spPr>
          <a:xfrm>
            <a:off x="1493360" y="4108638"/>
            <a:ext cx="381002" cy="1"/>
          </a:xfrm>
          <a:prstGeom prst="line">
            <a:avLst/>
          </a:prstGeom>
          <a:ln w="50800">
            <a:solidFill>
              <a:srgbClr val="88AA67"/>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15" name="Line">
            <a:extLst>
              <a:ext uri="{FF2B5EF4-FFF2-40B4-BE49-F238E27FC236}">
                <a16:creationId xmlns:a16="http://schemas.microsoft.com/office/drawing/2014/main" id="{4B777AE8-70EC-4FCC-8D70-49CF5DD5AEDB}"/>
              </a:ext>
            </a:extLst>
          </p:cNvPr>
          <p:cNvSpPr/>
          <p:nvPr/>
        </p:nvSpPr>
        <p:spPr>
          <a:xfrm>
            <a:off x="6838950" y="2543731"/>
            <a:ext cx="2617" cy="1447380"/>
          </a:xfrm>
          <a:prstGeom prst="line">
            <a:avLst/>
          </a:prstGeom>
          <a:ln w="50800">
            <a:solidFill>
              <a:schemeClr val="accent1"/>
            </a:solidFill>
            <a:miter lim="400000"/>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16" name="Line">
            <a:extLst>
              <a:ext uri="{FF2B5EF4-FFF2-40B4-BE49-F238E27FC236}">
                <a16:creationId xmlns:a16="http://schemas.microsoft.com/office/drawing/2014/main" id="{B8EAD50D-EDCA-4EC3-B69B-44D856634B99}"/>
              </a:ext>
            </a:extLst>
          </p:cNvPr>
          <p:cNvSpPr/>
          <p:nvPr/>
        </p:nvSpPr>
        <p:spPr>
          <a:xfrm flipV="1">
            <a:off x="6849218" y="3426260"/>
            <a:ext cx="423515" cy="0"/>
          </a:xfrm>
          <a:prstGeom prst="line">
            <a:avLst/>
          </a:prstGeom>
          <a:ln w="50800">
            <a:solidFill>
              <a:schemeClr val="accent1"/>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dirty="0"/>
          </a:p>
        </p:txBody>
      </p:sp>
      <p:sp>
        <p:nvSpPr>
          <p:cNvPr id="17" name="Line">
            <a:extLst>
              <a:ext uri="{FF2B5EF4-FFF2-40B4-BE49-F238E27FC236}">
                <a16:creationId xmlns:a16="http://schemas.microsoft.com/office/drawing/2014/main" id="{AFA9C1D4-D53E-4576-A0EE-B4EB1037DAE2}"/>
              </a:ext>
            </a:extLst>
          </p:cNvPr>
          <p:cNvSpPr/>
          <p:nvPr/>
        </p:nvSpPr>
        <p:spPr>
          <a:xfrm>
            <a:off x="6828631" y="4111342"/>
            <a:ext cx="444975" cy="11183"/>
          </a:xfrm>
          <a:prstGeom prst="line">
            <a:avLst/>
          </a:prstGeom>
          <a:ln w="50800">
            <a:solidFill>
              <a:schemeClr val="accent1"/>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18" name="easyApp">
            <a:extLst>
              <a:ext uri="{FF2B5EF4-FFF2-40B4-BE49-F238E27FC236}">
                <a16:creationId xmlns:a16="http://schemas.microsoft.com/office/drawing/2014/main" id="{4BB11499-2A7C-49CE-B041-42686D9BA0F0}"/>
              </a:ext>
            </a:extLst>
          </p:cNvPr>
          <p:cNvSpPr/>
          <p:nvPr/>
        </p:nvSpPr>
        <p:spPr>
          <a:xfrm>
            <a:off x="6519533" y="2088364"/>
            <a:ext cx="3175001" cy="516139"/>
          </a:xfrm>
          <a:prstGeom prst="roundRect">
            <a:avLst>
              <a:gd name="adj" fmla="val 47988"/>
            </a:avLst>
          </a:prstGeom>
          <a:solidFill>
            <a:srgbClr val="199AD9"/>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err="1"/>
              <a:t>E</a:t>
            </a:r>
            <a:r>
              <a:rPr dirty="0" err="1"/>
              <a:t>asyApp</a:t>
            </a:r>
            <a:endParaRPr dirty="0"/>
          </a:p>
        </p:txBody>
      </p:sp>
      <p:sp>
        <p:nvSpPr>
          <p:cNvPr id="19" name="easyDiffractionApp">
            <a:extLst>
              <a:ext uri="{FF2B5EF4-FFF2-40B4-BE49-F238E27FC236}">
                <a16:creationId xmlns:a16="http://schemas.microsoft.com/office/drawing/2014/main" id="{0C56279F-A4D1-46FC-9E3D-CABDF9615E7A}"/>
              </a:ext>
            </a:extLst>
          </p:cNvPr>
          <p:cNvSpPr/>
          <p:nvPr/>
        </p:nvSpPr>
        <p:spPr>
          <a:xfrm>
            <a:off x="7272733" y="3165192"/>
            <a:ext cx="3175001" cy="516139"/>
          </a:xfrm>
          <a:prstGeom prst="roundRect">
            <a:avLst>
              <a:gd name="adj" fmla="val 47988"/>
            </a:avLst>
          </a:prstGeom>
          <a:solidFill>
            <a:srgbClr val="199AD9"/>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err="1"/>
              <a:t>E</a:t>
            </a:r>
            <a:r>
              <a:rPr dirty="0" err="1"/>
              <a:t>asyDiffractionApp</a:t>
            </a:r>
            <a:endParaRPr dirty="0"/>
          </a:p>
        </p:txBody>
      </p:sp>
      <p:sp>
        <p:nvSpPr>
          <p:cNvPr id="20" name="easySpectroscopyApp">
            <a:extLst>
              <a:ext uri="{FF2B5EF4-FFF2-40B4-BE49-F238E27FC236}">
                <a16:creationId xmlns:a16="http://schemas.microsoft.com/office/drawing/2014/main" id="{03B74761-77E6-4B7F-B066-29A7D797254F}"/>
              </a:ext>
            </a:extLst>
          </p:cNvPr>
          <p:cNvSpPr/>
          <p:nvPr/>
        </p:nvSpPr>
        <p:spPr>
          <a:xfrm>
            <a:off x="7273606" y="3873152"/>
            <a:ext cx="3181158" cy="516139"/>
          </a:xfrm>
          <a:prstGeom prst="roundRect">
            <a:avLst>
              <a:gd name="adj" fmla="val 47988"/>
            </a:avLst>
          </a:prstGeom>
          <a:solidFill>
            <a:srgbClr val="199AD9"/>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err="1"/>
              <a:t>EasyReflectometryApp</a:t>
            </a:r>
            <a:endParaRPr dirty="0"/>
          </a:p>
        </p:txBody>
      </p:sp>
      <p:sp>
        <p:nvSpPr>
          <p:cNvPr id="21" name="Line">
            <a:extLst>
              <a:ext uri="{FF2B5EF4-FFF2-40B4-BE49-F238E27FC236}">
                <a16:creationId xmlns:a16="http://schemas.microsoft.com/office/drawing/2014/main" id="{1C4FFC38-E3BC-467E-A85F-F9A377F0E2D2}"/>
              </a:ext>
            </a:extLst>
          </p:cNvPr>
          <p:cNvSpPr/>
          <p:nvPr/>
        </p:nvSpPr>
        <p:spPr>
          <a:xfrm>
            <a:off x="5045115" y="3415646"/>
            <a:ext cx="1511989" cy="1"/>
          </a:xfrm>
          <a:prstGeom prst="line">
            <a:avLst/>
          </a:prstGeom>
          <a:ln w="50800">
            <a:solidFill>
              <a:srgbClr val="88AA67"/>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22" name="Line">
            <a:extLst>
              <a:ext uri="{FF2B5EF4-FFF2-40B4-BE49-F238E27FC236}">
                <a16:creationId xmlns:a16="http://schemas.microsoft.com/office/drawing/2014/main" id="{688B5B6C-F006-4B56-9D9D-0CF7712CA560}"/>
              </a:ext>
            </a:extLst>
          </p:cNvPr>
          <p:cNvSpPr/>
          <p:nvPr/>
        </p:nvSpPr>
        <p:spPr>
          <a:xfrm>
            <a:off x="5045114" y="4113961"/>
            <a:ext cx="1511990" cy="1"/>
          </a:xfrm>
          <a:prstGeom prst="line">
            <a:avLst/>
          </a:prstGeom>
          <a:ln w="50800">
            <a:solidFill>
              <a:srgbClr val="88AA67"/>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23" name="Line">
            <a:extLst>
              <a:ext uri="{FF2B5EF4-FFF2-40B4-BE49-F238E27FC236}">
                <a16:creationId xmlns:a16="http://schemas.microsoft.com/office/drawing/2014/main" id="{1185211D-CFD6-46DD-BF0F-57A014984426}"/>
              </a:ext>
            </a:extLst>
          </p:cNvPr>
          <p:cNvSpPr/>
          <p:nvPr/>
        </p:nvSpPr>
        <p:spPr>
          <a:xfrm flipH="1">
            <a:off x="1501479" y="3528665"/>
            <a:ext cx="4336" cy="1974227"/>
          </a:xfrm>
          <a:prstGeom prst="line">
            <a:avLst/>
          </a:prstGeom>
          <a:ln w="50800">
            <a:solidFill>
              <a:srgbClr val="88AA67"/>
            </a:solidFill>
            <a:miter lim="400000"/>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24" name="Line">
            <a:extLst>
              <a:ext uri="{FF2B5EF4-FFF2-40B4-BE49-F238E27FC236}">
                <a16:creationId xmlns:a16="http://schemas.microsoft.com/office/drawing/2014/main" id="{50D4C151-9452-40CA-B344-7F64CE738650}"/>
              </a:ext>
            </a:extLst>
          </p:cNvPr>
          <p:cNvSpPr/>
          <p:nvPr/>
        </p:nvSpPr>
        <p:spPr>
          <a:xfrm>
            <a:off x="6841567" y="3983485"/>
            <a:ext cx="7651" cy="1537970"/>
          </a:xfrm>
          <a:prstGeom prst="line">
            <a:avLst/>
          </a:prstGeom>
          <a:ln w="50800">
            <a:solidFill>
              <a:schemeClr val="accent1"/>
            </a:solidFill>
            <a:miter lim="400000"/>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25" name="Rectangle">
            <a:extLst>
              <a:ext uri="{FF2B5EF4-FFF2-40B4-BE49-F238E27FC236}">
                <a16:creationId xmlns:a16="http://schemas.microsoft.com/office/drawing/2014/main" id="{1445F588-1434-4069-A167-AB8D7997A8A0}"/>
              </a:ext>
            </a:extLst>
          </p:cNvPr>
          <p:cNvSpPr/>
          <p:nvPr/>
        </p:nvSpPr>
        <p:spPr>
          <a:xfrm>
            <a:off x="1074163" y="1961631"/>
            <a:ext cx="9387380" cy="1039162"/>
          </a:xfrm>
          <a:prstGeom prst="rect">
            <a:avLst/>
          </a:prstGeom>
          <a:ln w="25400">
            <a:solidFill>
              <a:srgbClr val="A7A7A7"/>
            </a:solidFill>
            <a:prstDash val="sysDot"/>
            <a:miter lim="400000"/>
          </a:ln>
        </p:spPr>
        <p:txBody>
          <a:bodyPr lIns="45719" rIns="45719" anchor="ctr"/>
          <a:lstStyle/>
          <a:p>
            <a:endParaRPr dirty="0"/>
          </a:p>
        </p:txBody>
      </p:sp>
      <p:sp>
        <p:nvSpPr>
          <p:cNvPr id="28" name="TextBox 27">
            <a:extLst>
              <a:ext uri="{FF2B5EF4-FFF2-40B4-BE49-F238E27FC236}">
                <a16:creationId xmlns:a16="http://schemas.microsoft.com/office/drawing/2014/main" id="{E9ECD27A-394B-4995-B26C-F18C61377973}"/>
              </a:ext>
            </a:extLst>
          </p:cNvPr>
          <p:cNvSpPr txBox="1"/>
          <p:nvPr/>
        </p:nvSpPr>
        <p:spPr>
          <a:xfrm>
            <a:off x="8157820" y="1438102"/>
            <a:ext cx="2303724"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Segoe UI"/>
                <a:ea typeface="Segoe UI"/>
                <a:cs typeface="Segoe UI"/>
                <a:sym typeface="Segoe UI"/>
              </a:rPr>
              <a:t>GUI</a:t>
            </a:r>
          </a:p>
        </p:txBody>
      </p:sp>
      <p:sp>
        <p:nvSpPr>
          <p:cNvPr id="29" name="TextBox 28">
            <a:extLst>
              <a:ext uri="{FF2B5EF4-FFF2-40B4-BE49-F238E27FC236}">
                <a16:creationId xmlns:a16="http://schemas.microsoft.com/office/drawing/2014/main" id="{7F584116-42EE-48E9-9E31-E8DE1BB8CBCA}"/>
              </a:ext>
            </a:extLst>
          </p:cNvPr>
          <p:cNvSpPr txBox="1"/>
          <p:nvPr/>
        </p:nvSpPr>
        <p:spPr>
          <a:xfrm>
            <a:off x="2551897" y="1455154"/>
            <a:ext cx="2191216"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Segoe UI"/>
                <a:ea typeface="Segoe UI"/>
                <a:cs typeface="Segoe UI"/>
                <a:sym typeface="Segoe UI"/>
              </a:rPr>
              <a:t>Python library</a:t>
            </a:r>
          </a:p>
        </p:txBody>
      </p:sp>
      <p:sp>
        <p:nvSpPr>
          <p:cNvPr id="30" name="easySpectroscopyLib">
            <a:extLst>
              <a:ext uri="{FF2B5EF4-FFF2-40B4-BE49-F238E27FC236}">
                <a16:creationId xmlns:a16="http://schemas.microsoft.com/office/drawing/2014/main" id="{CB52DF5F-4C59-4795-8A3B-0F3083F6505A}"/>
              </a:ext>
            </a:extLst>
          </p:cNvPr>
          <p:cNvSpPr/>
          <p:nvPr/>
        </p:nvSpPr>
        <p:spPr>
          <a:xfrm>
            <a:off x="1870114" y="4543273"/>
            <a:ext cx="3175001" cy="495367"/>
          </a:xfrm>
          <a:prstGeom prst="roundRect">
            <a:avLst>
              <a:gd name="adj" fmla="val 19658"/>
            </a:avLst>
          </a:prstGeom>
          <a:solidFill>
            <a:srgbClr val="88A967"/>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a:t>E</a:t>
            </a:r>
            <a:r>
              <a:rPr dirty="0"/>
              <a:t>asy</a:t>
            </a:r>
            <a:r>
              <a:rPr lang="pl-PL" dirty="0" err="1"/>
              <a:t>Imaging</a:t>
            </a:r>
            <a:r>
              <a:rPr lang="da-DK" dirty="0" err="1"/>
              <a:t>Lib</a:t>
            </a:r>
            <a:endParaRPr dirty="0"/>
          </a:p>
        </p:txBody>
      </p:sp>
      <p:sp>
        <p:nvSpPr>
          <p:cNvPr id="31" name="Line">
            <a:extLst>
              <a:ext uri="{FF2B5EF4-FFF2-40B4-BE49-F238E27FC236}">
                <a16:creationId xmlns:a16="http://schemas.microsoft.com/office/drawing/2014/main" id="{2665F130-3AFF-4FC7-BDE4-1D6B8508AA97}"/>
              </a:ext>
            </a:extLst>
          </p:cNvPr>
          <p:cNvSpPr/>
          <p:nvPr/>
        </p:nvSpPr>
        <p:spPr>
          <a:xfrm>
            <a:off x="1489112" y="4790955"/>
            <a:ext cx="381002" cy="1"/>
          </a:xfrm>
          <a:prstGeom prst="line">
            <a:avLst/>
          </a:prstGeom>
          <a:ln w="50800">
            <a:solidFill>
              <a:srgbClr val="88AA67"/>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32" name="Line">
            <a:extLst>
              <a:ext uri="{FF2B5EF4-FFF2-40B4-BE49-F238E27FC236}">
                <a16:creationId xmlns:a16="http://schemas.microsoft.com/office/drawing/2014/main" id="{383EF355-945D-4349-B9C5-D2899A07567F}"/>
              </a:ext>
            </a:extLst>
          </p:cNvPr>
          <p:cNvSpPr/>
          <p:nvPr/>
        </p:nvSpPr>
        <p:spPr>
          <a:xfrm>
            <a:off x="5045114" y="4766733"/>
            <a:ext cx="1511990" cy="1"/>
          </a:xfrm>
          <a:prstGeom prst="line">
            <a:avLst/>
          </a:prstGeom>
          <a:ln w="50800">
            <a:solidFill>
              <a:srgbClr val="88AA67"/>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33" name="easySpectroscopyLib">
            <a:extLst>
              <a:ext uri="{FF2B5EF4-FFF2-40B4-BE49-F238E27FC236}">
                <a16:creationId xmlns:a16="http://schemas.microsoft.com/office/drawing/2014/main" id="{9791B762-F4AB-435C-BEDD-0E454C068307}"/>
              </a:ext>
            </a:extLst>
          </p:cNvPr>
          <p:cNvSpPr/>
          <p:nvPr/>
        </p:nvSpPr>
        <p:spPr>
          <a:xfrm>
            <a:off x="1870113" y="5236264"/>
            <a:ext cx="3175001" cy="495367"/>
          </a:xfrm>
          <a:prstGeom prst="roundRect">
            <a:avLst>
              <a:gd name="adj" fmla="val 19658"/>
            </a:avLst>
          </a:prstGeom>
          <a:solidFill>
            <a:srgbClr val="88A967"/>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a:t>E</a:t>
            </a:r>
            <a:r>
              <a:rPr dirty="0"/>
              <a:t>asy</a:t>
            </a:r>
            <a:r>
              <a:rPr lang="da-DK" dirty="0" err="1"/>
              <a:t>DynamicsLib</a:t>
            </a:r>
            <a:endParaRPr dirty="0"/>
          </a:p>
        </p:txBody>
      </p:sp>
      <p:sp>
        <p:nvSpPr>
          <p:cNvPr id="34" name="Line">
            <a:extLst>
              <a:ext uri="{FF2B5EF4-FFF2-40B4-BE49-F238E27FC236}">
                <a16:creationId xmlns:a16="http://schemas.microsoft.com/office/drawing/2014/main" id="{443739E6-EFE4-4A7A-8312-A1D3F12E25DA}"/>
              </a:ext>
            </a:extLst>
          </p:cNvPr>
          <p:cNvSpPr/>
          <p:nvPr/>
        </p:nvSpPr>
        <p:spPr>
          <a:xfrm>
            <a:off x="1487571" y="5478476"/>
            <a:ext cx="381002" cy="1"/>
          </a:xfrm>
          <a:prstGeom prst="line">
            <a:avLst/>
          </a:prstGeom>
          <a:ln w="50800">
            <a:solidFill>
              <a:srgbClr val="88AA67"/>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35" name="Line">
            <a:extLst>
              <a:ext uri="{FF2B5EF4-FFF2-40B4-BE49-F238E27FC236}">
                <a16:creationId xmlns:a16="http://schemas.microsoft.com/office/drawing/2014/main" id="{40926074-B7F8-4C55-BDB4-4E4D7A996216}"/>
              </a:ext>
            </a:extLst>
          </p:cNvPr>
          <p:cNvSpPr/>
          <p:nvPr/>
        </p:nvSpPr>
        <p:spPr>
          <a:xfrm>
            <a:off x="5011858" y="5489517"/>
            <a:ext cx="1511990" cy="1"/>
          </a:xfrm>
          <a:prstGeom prst="line">
            <a:avLst/>
          </a:prstGeom>
          <a:ln w="50800">
            <a:solidFill>
              <a:srgbClr val="88AA67"/>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36" name="Line">
            <a:extLst>
              <a:ext uri="{FF2B5EF4-FFF2-40B4-BE49-F238E27FC236}">
                <a16:creationId xmlns:a16="http://schemas.microsoft.com/office/drawing/2014/main" id="{756A3464-69A3-48B9-B515-36822A211EAC}"/>
              </a:ext>
            </a:extLst>
          </p:cNvPr>
          <p:cNvSpPr/>
          <p:nvPr/>
        </p:nvSpPr>
        <p:spPr>
          <a:xfrm>
            <a:off x="6838487" y="4777051"/>
            <a:ext cx="428089" cy="11183"/>
          </a:xfrm>
          <a:prstGeom prst="line">
            <a:avLst/>
          </a:prstGeom>
          <a:ln w="50800">
            <a:solidFill>
              <a:schemeClr val="accent1"/>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37" name="easySpectroscopyApp">
            <a:extLst>
              <a:ext uri="{FF2B5EF4-FFF2-40B4-BE49-F238E27FC236}">
                <a16:creationId xmlns:a16="http://schemas.microsoft.com/office/drawing/2014/main" id="{1106BA18-6F41-48A6-8703-9047B70FA4DB}"/>
              </a:ext>
            </a:extLst>
          </p:cNvPr>
          <p:cNvSpPr/>
          <p:nvPr/>
        </p:nvSpPr>
        <p:spPr>
          <a:xfrm>
            <a:off x="7266576" y="4510285"/>
            <a:ext cx="3181158" cy="516139"/>
          </a:xfrm>
          <a:prstGeom prst="roundRect">
            <a:avLst>
              <a:gd name="adj" fmla="val 47988"/>
            </a:avLst>
          </a:prstGeom>
          <a:solidFill>
            <a:srgbClr val="199AD9"/>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a:t>Easy</a:t>
            </a:r>
            <a:r>
              <a:rPr lang="pl-PL" dirty="0" err="1"/>
              <a:t>Imaging</a:t>
            </a:r>
            <a:r>
              <a:rPr lang="en-US" dirty="0"/>
              <a:t>App</a:t>
            </a:r>
            <a:endParaRPr dirty="0"/>
          </a:p>
        </p:txBody>
      </p:sp>
      <p:sp>
        <p:nvSpPr>
          <p:cNvPr id="38" name="Line">
            <a:extLst>
              <a:ext uri="{FF2B5EF4-FFF2-40B4-BE49-F238E27FC236}">
                <a16:creationId xmlns:a16="http://schemas.microsoft.com/office/drawing/2014/main" id="{D3F3B3EC-0617-4EBF-96B9-660D76A9DC28}"/>
              </a:ext>
            </a:extLst>
          </p:cNvPr>
          <p:cNvSpPr/>
          <p:nvPr/>
        </p:nvSpPr>
        <p:spPr>
          <a:xfrm>
            <a:off x="6827758" y="5502892"/>
            <a:ext cx="445848" cy="0"/>
          </a:xfrm>
          <a:prstGeom prst="line">
            <a:avLst/>
          </a:prstGeom>
          <a:ln w="50800">
            <a:solidFill>
              <a:schemeClr val="accent1"/>
            </a:solidFill>
            <a:miter lim="400000"/>
            <a:tailEnd type="triangle"/>
          </a:ln>
        </p:spPr>
        <p:txBody>
          <a:bodyPr lIns="50800" tIns="50800" rIns="50800" bIns="50800" anchor="ctr"/>
          <a:lstStyle/>
          <a:p>
            <a:pPr algn="ctr" defTabSz="584200">
              <a:lnSpc>
                <a:spcPct val="80000"/>
              </a:lnSpc>
              <a:defRPr sz="2800" cap="all">
                <a:solidFill>
                  <a:srgbClr val="838787"/>
                </a:solidFill>
                <a:latin typeface="DIN Condensed"/>
                <a:ea typeface="DIN Condensed"/>
                <a:cs typeface="DIN Condensed"/>
                <a:sym typeface="DIN Condensed"/>
              </a:defRPr>
            </a:pPr>
            <a:endParaRPr/>
          </a:p>
        </p:txBody>
      </p:sp>
      <p:sp>
        <p:nvSpPr>
          <p:cNvPr id="39" name="easySpectroscopyApp">
            <a:extLst>
              <a:ext uri="{FF2B5EF4-FFF2-40B4-BE49-F238E27FC236}">
                <a16:creationId xmlns:a16="http://schemas.microsoft.com/office/drawing/2014/main" id="{468C90B7-8666-4A5A-9151-0AC9FB886551}"/>
              </a:ext>
            </a:extLst>
          </p:cNvPr>
          <p:cNvSpPr/>
          <p:nvPr/>
        </p:nvSpPr>
        <p:spPr>
          <a:xfrm>
            <a:off x="7272733" y="5236264"/>
            <a:ext cx="3181158" cy="516139"/>
          </a:xfrm>
          <a:prstGeom prst="roundRect">
            <a:avLst>
              <a:gd name="adj" fmla="val 47988"/>
            </a:avLst>
          </a:prstGeom>
          <a:solidFill>
            <a:srgbClr val="199AD9"/>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ctr" defTabSz="584200">
              <a:lnSpc>
                <a:spcPts val="2000"/>
              </a:lnSpc>
              <a:defRPr sz="2000">
                <a:solidFill>
                  <a:srgbClr val="FFFFFF"/>
                </a:solidFill>
                <a:latin typeface="Segoe UI Semibold"/>
                <a:ea typeface="Segoe UI Semibold"/>
                <a:cs typeface="Segoe UI Semibold"/>
                <a:sym typeface="Segoe UI Semibold"/>
              </a:defRPr>
            </a:lvl1pPr>
          </a:lstStyle>
          <a:p>
            <a:r>
              <a:rPr lang="en-US" dirty="0" err="1"/>
              <a:t>EasyDynamicsApp</a:t>
            </a:r>
            <a:endParaRPr dirty="0"/>
          </a:p>
        </p:txBody>
      </p:sp>
      <p:sp>
        <p:nvSpPr>
          <p:cNvPr id="40" name="TextBox 39">
            <a:extLst>
              <a:ext uri="{FF2B5EF4-FFF2-40B4-BE49-F238E27FC236}">
                <a16:creationId xmlns:a16="http://schemas.microsoft.com/office/drawing/2014/main" id="{C784231E-6B2E-4556-B28C-328767EFC180}"/>
              </a:ext>
            </a:extLst>
          </p:cNvPr>
          <p:cNvSpPr txBox="1"/>
          <p:nvPr/>
        </p:nvSpPr>
        <p:spPr>
          <a:xfrm>
            <a:off x="7669876" y="2634842"/>
            <a:ext cx="2693363" cy="369332"/>
          </a:xfrm>
          <a:prstGeom prst="rect">
            <a:avLst/>
          </a:prstGeom>
          <a:noFill/>
        </p:spPr>
        <p:txBody>
          <a:bodyPr wrap="square" rtlCol="0">
            <a:spAutoFit/>
          </a:bodyPr>
          <a:lstStyle/>
          <a:p>
            <a:pPr algn="l"/>
            <a:r>
              <a:rPr lang="en-GB" dirty="0">
                <a:solidFill>
                  <a:srgbClr val="666666"/>
                </a:solidFill>
                <a:latin typeface="Segoe UI Semibold" panose="020B0702040204020203" pitchFamily="34" charset="0"/>
                <a:cs typeface="Segoe UI Semibold" panose="020B0702040204020203" pitchFamily="34" charset="0"/>
              </a:rPr>
              <a:t>Technique independent</a:t>
            </a:r>
          </a:p>
        </p:txBody>
      </p:sp>
      <p:sp>
        <p:nvSpPr>
          <p:cNvPr id="6" name="Rectangle">
            <a:extLst>
              <a:ext uri="{FF2B5EF4-FFF2-40B4-BE49-F238E27FC236}">
                <a16:creationId xmlns:a16="http://schemas.microsoft.com/office/drawing/2014/main" id="{4DD913AB-9F2F-9480-03AD-BB5F464D8CD4}"/>
              </a:ext>
            </a:extLst>
          </p:cNvPr>
          <p:cNvSpPr/>
          <p:nvPr/>
        </p:nvSpPr>
        <p:spPr>
          <a:xfrm>
            <a:off x="6712348" y="4451948"/>
            <a:ext cx="5336777" cy="1370143"/>
          </a:xfrm>
          <a:prstGeom prst="rect">
            <a:avLst/>
          </a:prstGeom>
          <a:ln w="25400">
            <a:solidFill>
              <a:srgbClr val="FFC000"/>
            </a:solidFill>
            <a:prstDash val="sysDot"/>
            <a:miter lim="400000"/>
          </a:ln>
        </p:spPr>
        <p:txBody>
          <a:bodyPr lIns="45719" rIns="45719" anchor="ctr"/>
          <a:lstStyle/>
          <a:p>
            <a:endParaRPr dirty="0"/>
          </a:p>
        </p:txBody>
      </p:sp>
      <p:pic>
        <p:nvPicPr>
          <p:cNvPr id="41" name="App.png" descr="App.png">
            <a:extLst>
              <a:ext uri="{FF2B5EF4-FFF2-40B4-BE49-F238E27FC236}">
                <a16:creationId xmlns:a16="http://schemas.microsoft.com/office/drawing/2014/main" id="{B10AEA07-031C-5D9B-D6E1-B03557DC2CB7}"/>
              </a:ext>
            </a:extLst>
          </p:cNvPr>
          <p:cNvPicPr>
            <a:picLocks noChangeAspect="1"/>
          </p:cNvPicPr>
          <p:nvPr/>
        </p:nvPicPr>
        <p:blipFill>
          <a:blip r:embed="rId4"/>
          <a:stretch>
            <a:fillRect/>
          </a:stretch>
        </p:blipFill>
        <p:spPr>
          <a:xfrm>
            <a:off x="10612541" y="3165192"/>
            <a:ext cx="516139" cy="516139"/>
          </a:xfrm>
          <a:prstGeom prst="rect">
            <a:avLst/>
          </a:prstGeom>
          <a:ln w="12700" cap="flat">
            <a:noFill/>
            <a:miter lim="400000"/>
          </a:ln>
          <a:effectLst/>
        </p:spPr>
      </p:pic>
      <p:pic>
        <p:nvPicPr>
          <p:cNvPr id="42" name="Picture 41">
            <a:extLst>
              <a:ext uri="{FF2B5EF4-FFF2-40B4-BE49-F238E27FC236}">
                <a16:creationId xmlns:a16="http://schemas.microsoft.com/office/drawing/2014/main" id="{8567CE10-564B-45DA-F99C-711625D5BE8C}"/>
              </a:ext>
            </a:extLst>
          </p:cNvPr>
          <p:cNvPicPr>
            <a:picLocks noChangeAspect="1"/>
          </p:cNvPicPr>
          <p:nvPr/>
        </p:nvPicPr>
        <p:blipFill rotWithShape="1">
          <a:blip r:embed="rId5"/>
          <a:srcRect l="-367" t="-1210" r="87875" b="-611"/>
          <a:stretch/>
        </p:blipFill>
        <p:spPr>
          <a:xfrm>
            <a:off x="10612542" y="3873152"/>
            <a:ext cx="526340" cy="516139"/>
          </a:xfrm>
          <a:prstGeom prst="rect">
            <a:avLst/>
          </a:prstGeom>
        </p:spPr>
      </p:pic>
      <p:pic>
        <p:nvPicPr>
          <p:cNvPr id="43" name="Graphic 42">
            <a:extLst>
              <a:ext uri="{FF2B5EF4-FFF2-40B4-BE49-F238E27FC236}">
                <a16:creationId xmlns:a16="http://schemas.microsoft.com/office/drawing/2014/main" id="{8F536976-F23E-9505-349B-481309B43D3F}"/>
              </a:ext>
            </a:extLst>
          </p:cNvPr>
          <p:cNvPicPr>
            <a:picLocks noChangeAspect="1"/>
          </p:cNvPicPr>
          <p:nvPr/>
        </p:nvPicPr>
        <p:blipFill rotWithShape="1">
          <a:blip>
            <a:extLst>
              <a:ext uri="{96DAC541-7B7A-43D3-8B79-37D633B846F1}">
                <asvg:svgBlip xmlns:asvg="http://schemas.microsoft.com/office/drawing/2016/SVG/main" r:embed="rId6"/>
              </a:ext>
            </a:extLst>
          </a:blip>
          <a:srcRect r="82433" b="1615"/>
          <a:stretch/>
        </p:blipFill>
        <p:spPr>
          <a:xfrm>
            <a:off x="10606919" y="4510285"/>
            <a:ext cx="529174" cy="516139"/>
          </a:xfrm>
          <a:prstGeom prst="rect">
            <a:avLst/>
          </a:prstGeom>
        </p:spPr>
      </p:pic>
      <p:pic>
        <p:nvPicPr>
          <p:cNvPr id="45" name="Picture 44">
            <a:extLst>
              <a:ext uri="{FF2B5EF4-FFF2-40B4-BE49-F238E27FC236}">
                <a16:creationId xmlns:a16="http://schemas.microsoft.com/office/drawing/2014/main" id="{5C3C6A49-91C9-11F6-C154-DD6AF27E60AC}"/>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665" b="89529" l="9360" r="91626">
                        <a14:foregroundMark x1="65517" y1="9948" x2="45813" y2="6283"/>
                        <a14:foregroundMark x1="50739" y1="30366" x2="52217" y2="53403"/>
                        <a14:foregroundMark x1="45320" y1="50262" x2="28571" y2="50785"/>
                        <a14:foregroundMark x1="52217" y1="36126" x2="47783" y2="58115"/>
                        <a14:foregroundMark x1="29557" y1="48168" x2="47783" y2="38743"/>
                        <a14:foregroundMark x1="91626" y1="35602" x2="91626" y2="51832"/>
                        <a14:foregroundMark x1="56650" y1="3665" x2="53202" y2="3665"/>
                        <a14:foregroundMark x1="51724" y1="55497" x2="45813" y2="64921"/>
                      </a14:backgroundRemoval>
                    </a14:imgEffect>
                  </a14:imgLayer>
                </a14:imgProps>
              </a:ext>
            </a:extLst>
          </a:blip>
          <a:srcRect l="12972" r="6101" b="12959"/>
          <a:stretch>
            <a:fillRect/>
          </a:stretch>
        </p:blipFill>
        <p:spPr>
          <a:xfrm>
            <a:off x="10606919" y="5241557"/>
            <a:ext cx="521761" cy="528007"/>
          </a:xfrm>
          <a:prstGeom prst="rect">
            <a:avLst/>
          </a:prstGeom>
        </p:spPr>
      </p:pic>
      <p:pic>
        <p:nvPicPr>
          <p:cNvPr id="47" name="Picture 4" descr="Download #00FF00 Work In Progress Vector Image SVG | FreePNGImg">
            <a:extLst>
              <a:ext uri="{FF2B5EF4-FFF2-40B4-BE49-F238E27FC236}">
                <a16:creationId xmlns:a16="http://schemas.microsoft.com/office/drawing/2014/main" id="{352521E5-2B4F-3366-3716-17F20FAF18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12396" y="4678593"/>
            <a:ext cx="778900" cy="916852"/>
          </a:xfrm>
          <a:prstGeom prst="rect">
            <a:avLst/>
          </a:prstGeom>
          <a:extLst>
            <a:ext uri="{909E8E84-426E-40DD-AFC4-6F175D3DCCD1}">
              <a14:hiddenFill xmlns:a14="http://schemas.microsoft.com/office/drawing/2010/main">
                <a:solidFill>
                  <a:srgbClr val="FFFFFF"/>
                </a:solidFill>
              </a14:hiddenFill>
            </a:ext>
          </a:extLst>
        </p:spPr>
      </p:pic>
      <p:sp>
        <p:nvSpPr>
          <p:cNvPr id="46" name="Rectangle">
            <a:extLst>
              <a:ext uri="{FF2B5EF4-FFF2-40B4-BE49-F238E27FC236}">
                <a16:creationId xmlns:a16="http://schemas.microsoft.com/office/drawing/2014/main" id="{09B918C4-FECC-B110-4AAF-2DFF9089B456}"/>
              </a:ext>
            </a:extLst>
          </p:cNvPr>
          <p:cNvSpPr/>
          <p:nvPr/>
        </p:nvSpPr>
        <p:spPr>
          <a:xfrm>
            <a:off x="1121818" y="4451948"/>
            <a:ext cx="5590530" cy="704106"/>
          </a:xfrm>
          <a:prstGeom prst="rect">
            <a:avLst/>
          </a:prstGeom>
          <a:ln w="25400">
            <a:solidFill>
              <a:srgbClr val="FFC000"/>
            </a:solidFill>
            <a:prstDash val="sysDot"/>
            <a:miter lim="400000"/>
          </a:ln>
        </p:spPr>
        <p:txBody>
          <a:bodyPr lIns="45719" rIns="45719" anchor="ctr"/>
          <a:lstStyle/>
          <a:p>
            <a:endParaRPr dirty="0"/>
          </a:p>
        </p:txBody>
      </p:sp>
      <p:sp>
        <p:nvSpPr>
          <p:cNvPr id="48" name="Rectangle 47">
            <a:extLst>
              <a:ext uri="{FF2B5EF4-FFF2-40B4-BE49-F238E27FC236}">
                <a16:creationId xmlns:a16="http://schemas.microsoft.com/office/drawing/2014/main" id="{B70D5904-92FC-F82E-8036-51A54FDC4911}"/>
              </a:ext>
            </a:extLst>
          </p:cNvPr>
          <p:cNvSpPr/>
          <p:nvPr/>
        </p:nvSpPr>
        <p:spPr>
          <a:xfrm>
            <a:off x="6628632" y="4463133"/>
            <a:ext cx="124875" cy="681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53523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11424-CA74-A93C-AE29-63BCCCA50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714FD-B2D4-2836-DC37-DC9A4CBC096F}"/>
              </a:ext>
            </a:extLst>
          </p:cNvPr>
          <p:cNvSpPr>
            <a:spLocks noGrp="1"/>
          </p:cNvSpPr>
          <p:nvPr>
            <p:ph type="title"/>
          </p:nvPr>
        </p:nvSpPr>
        <p:spPr/>
        <p:txBody>
          <a:bodyPr/>
          <a:lstStyle/>
          <a:p>
            <a:r>
              <a:rPr lang="da-DK" dirty="0"/>
              <a:t>Real models </a:t>
            </a:r>
            <a:r>
              <a:rPr lang="da-DK" dirty="0" err="1"/>
              <a:t>are</a:t>
            </a:r>
            <a:r>
              <a:rPr lang="da-DK" dirty="0"/>
              <a:t> </a:t>
            </a:r>
            <a:r>
              <a:rPr lang="da-DK" dirty="0" err="1"/>
              <a:t>complex</a:t>
            </a:r>
            <a:endParaRPr lang="en-GB" dirty="0"/>
          </a:p>
        </p:txBody>
      </p:sp>
      <p:sp>
        <p:nvSpPr>
          <p:cNvPr id="3" name="Footer Placeholder 2">
            <a:extLst>
              <a:ext uri="{FF2B5EF4-FFF2-40B4-BE49-F238E27FC236}">
                <a16:creationId xmlns:a16="http://schemas.microsoft.com/office/drawing/2014/main" id="{1D91E772-F3C8-C0FA-C6FE-FF24FB14DC6A}"/>
              </a:ext>
            </a:extLst>
          </p:cNvPr>
          <p:cNvSpPr>
            <a:spLocks noGrp="1"/>
          </p:cNvSpPr>
          <p:nvPr>
            <p:ph type="ftr" sz="quarter" idx="11"/>
          </p:nvPr>
        </p:nvSpPr>
        <p:spPr/>
        <p:txBody>
          <a:bodyPr/>
          <a:lstStyle/>
          <a:p>
            <a:r>
              <a:rPr lang="sv-SE"/>
              <a:t>PRESENTATION TITLE/FOOTER</a:t>
            </a:r>
            <a:endParaRPr lang="sv-SE" dirty="0"/>
          </a:p>
        </p:txBody>
      </p:sp>
      <p:sp>
        <p:nvSpPr>
          <p:cNvPr id="4" name="Slide Number Placeholder 3">
            <a:extLst>
              <a:ext uri="{FF2B5EF4-FFF2-40B4-BE49-F238E27FC236}">
                <a16:creationId xmlns:a16="http://schemas.microsoft.com/office/drawing/2014/main" id="{94FFB8E1-24F0-0411-6F13-4C6FD7AD43B6}"/>
              </a:ext>
            </a:extLst>
          </p:cNvPr>
          <p:cNvSpPr>
            <a:spLocks noGrp="1"/>
          </p:cNvSpPr>
          <p:nvPr>
            <p:ph type="sldNum" sz="quarter" idx="12"/>
          </p:nvPr>
        </p:nvSpPr>
        <p:spPr/>
        <p:txBody>
          <a:bodyPr/>
          <a:lstStyle/>
          <a:p>
            <a:fld id="{F7283078-D760-1647-8B80-66BA8B52336D}" type="slidenum">
              <a:rPr lang="sv-SE" smtClean="0"/>
              <a:t>24</a:t>
            </a:fld>
            <a:endParaRPr lang="sv-SE" dirty="0"/>
          </a:p>
        </p:txBody>
      </p:sp>
      <p:sp>
        <p:nvSpPr>
          <p:cNvPr id="7" name="Date Placeholder 6">
            <a:extLst>
              <a:ext uri="{FF2B5EF4-FFF2-40B4-BE49-F238E27FC236}">
                <a16:creationId xmlns:a16="http://schemas.microsoft.com/office/drawing/2014/main" id="{1B5E7E19-7EEF-6F66-C413-9839E1025696}"/>
              </a:ext>
            </a:extLst>
          </p:cNvPr>
          <p:cNvSpPr>
            <a:spLocks noGrp="1"/>
          </p:cNvSpPr>
          <p:nvPr>
            <p:ph type="dt" sz="half" idx="10"/>
          </p:nvPr>
        </p:nvSpPr>
        <p:spPr/>
        <p:txBody>
          <a:bodyPr/>
          <a:lstStyle/>
          <a:p>
            <a:fld id="{18896B66-0B3A-474C-9C9C-E4F07B1F5DAD}" type="datetime1">
              <a:rPr lang="sv-SE" smtClean="0"/>
              <a:t>2026-08-26</a:t>
            </a:fld>
            <a:endParaRPr lang="sv-SE" dirty="0"/>
          </a:p>
        </p:txBody>
      </p:sp>
      <p:pic>
        <p:nvPicPr>
          <p:cNvPr id="41" name="App.png" descr="App.png">
            <a:extLst>
              <a:ext uri="{FF2B5EF4-FFF2-40B4-BE49-F238E27FC236}">
                <a16:creationId xmlns:a16="http://schemas.microsoft.com/office/drawing/2014/main" id="{44B527B2-2280-0C55-6B84-E95C58B06F2B}"/>
              </a:ext>
            </a:extLst>
          </p:cNvPr>
          <p:cNvPicPr>
            <a:picLocks noChangeAspect="1"/>
          </p:cNvPicPr>
          <p:nvPr/>
        </p:nvPicPr>
        <p:blipFill>
          <a:blip r:embed="rId3"/>
          <a:stretch>
            <a:fillRect/>
          </a:stretch>
        </p:blipFill>
        <p:spPr>
          <a:xfrm>
            <a:off x="3215457" y="1895611"/>
            <a:ext cx="516139" cy="516139"/>
          </a:xfrm>
          <a:prstGeom prst="rect">
            <a:avLst/>
          </a:prstGeom>
          <a:ln w="12700" cap="flat">
            <a:noFill/>
            <a:miter lim="400000"/>
          </a:ln>
          <a:effectLst/>
        </p:spPr>
      </p:pic>
      <p:pic>
        <p:nvPicPr>
          <p:cNvPr id="42" name="Picture 41">
            <a:extLst>
              <a:ext uri="{FF2B5EF4-FFF2-40B4-BE49-F238E27FC236}">
                <a16:creationId xmlns:a16="http://schemas.microsoft.com/office/drawing/2014/main" id="{F77C7884-AD68-5612-902D-B1949D36A3AE}"/>
              </a:ext>
            </a:extLst>
          </p:cNvPr>
          <p:cNvPicPr>
            <a:picLocks noChangeAspect="1"/>
          </p:cNvPicPr>
          <p:nvPr/>
        </p:nvPicPr>
        <p:blipFill rotWithShape="1">
          <a:blip r:embed="rId4"/>
          <a:srcRect l="-367" t="-1210" r="87875" b="-611"/>
          <a:stretch/>
        </p:blipFill>
        <p:spPr>
          <a:xfrm>
            <a:off x="6726433" y="1644744"/>
            <a:ext cx="526340" cy="516139"/>
          </a:xfrm>
          <a:prstGeom prst="rect">
            <a:avLst/>
          </a:prstGeom>
        </p:spPr>
      </p:pic>
      <p:pic>
        <p:nvPicPr>
          <p:cNvPr id="43" name="Graphic 42">
            <a:extLst>
              <a:ext uri="{FF2B5EF4-FFF2-40B4-BE49-F238E27FC236}">
                <a16:creationId xmlns:a16="http://schemas.microsoft.com/office/drawing/2014/main" id="{107DD1E9-2F51-516C-B432-C7F0338A180A}"/>
              </a:ext>
            </a:extLst>
          </p:cNvPr>
          <p:cNvPicPr>
            <a:picLocks noChangeAspect="1"/>
          </p:cNvPicPr>
          <p:nvPr/>
        </p:nvPicPr>
        <p:blipFill rotWithShape="1">
          <a:blip>
            <a:extLst>
              <a:ext uri="{96DAC541-7B7A-43D3-8B79-37D633B846F1}">
                <asvg:svgBlip xmlns:asvg="http://schemas.microsoft.com/office/drawing/2016/SVG/main" r:embed="rId5"/>
              </a:ext>
            </a:extLst>
          </a:blip>
          <a:srcRect r="82433" b="1615"/>
          <a:stretch/>
        </p:blipFill>
        <p:spPr>
          <a:xfrm>
            <a:off x="3240386" y="1305018"/>
            <a:ext cx="491210" cy="479110"/>
          </a:xfrm>
          <a:prstGeom prst="rect">
            <a:avLst/>
          </a:prstGeom>
        </p:spPr>
      </p:pic>
      <p:pic>
        <p:nvPicPr>
          <p:cNvPr id="45" name="Picture 44">
            <a:extLst>
              <a:ext uri="{FF2B5EF4-FFF2-40B4-BE49-F238E27FC236}">
                <a16:creationId xmlns:a16="http://schemas.microsoft.com/office/drawing/2014/main" id="{B96436E7-385E-B3FE-DA49-3FAF16D30BB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3665" b="89529" l="9360" r="91626">
                        <a14:foregroundMark x1="65517" y1="9948" x2="45813" y2="6283"/>
                        <a14:foregroundMark x1="50739" y1="30366" x2="52217" y2="53403"/>
                        <a14:foregroundMark x1="45320" y1="50262" x2="28571" y2="50785"/>
                        <a14:foregroundMark x1="52217" y1="36126" x2="47783" y2="58115"/>
                        <a14:foregroundMark x1="29557" y1="48168" x2="47783" y2="38743"/>
                        <a14:foregroundMark x1="91626" y1="35602" x2="91626" y2="51832"/>
                        <a14:foregroundMark x1="56650" y1="3665" x2="53202" y2="3665"/>
                        <a14:foregroundMark x1="51724" y1="55497" x2="45813" y2="64921"/>
                      </a14:backgroundRemoval>
                    </a14:imgEffect>
                  </a14:imgLayer>
                </a14:imgProps>
              </a:ext>
            </a:extLst>
          </a:blip>
          <a:srcRect l="12972" r="6101" b="12959"/>
          <a:stretch>
            <a:fillRect/>
          </a:stretch>
        </p:blipFill>
        <p:spPr>
          <a:xfrm>
            <a:off x="10184933" y="1638636"/>
            <a:ext cx="521761" cy="528007"/>
          </a:xfrm>
          <a:prstGeom prst="rect">
            <a:avLst/>
          </a:prstGeom>
        </p:spPr>
      </p:pic>
      <p:pic>
        <p:nvPicPr>
          <p:cNvPr id="48" name="Picture 47">
            <a:extLst>
              <a:ext uri="{FF2B5EF4-FFF2-40B4-BE49-F238E27FC236}">
                <a16:creationId xmlns:a16="http://schemas.microsoft.com/office/drawing/2014/main" id="{005D7D6D-12C7-2357-5A9F-53704F3F34E5}"/>
              </a:ext>
            </a:extLst>
          </p:cNvPr>
          <p:cNvPicPr>
            <a:picLocks noChangeAspect="1"/>
          </p:cNvPicPr>
          <p:nvPr/>
        </p:nvPicPr>
        <p:blipFill>
          <a:blip r:embed="rId8"/>
          <a:srcRect l="7544" t="1888" r="7717" b="6334"/>
          <a:stretch>
            <a:fillRect/>
          </a:stretch>
        </p:blipFill>
        <p:spPr>
          <a:xfrm>
            <a:off x="1236075" y="2605712"/>
            <a:ext cx="2690599" cy="2556529"/>
          </a:xfrm>
          <a:prstGeom prst="rect">
            <a:avLst/>
          </a:prstGeom>
        </p:spPr>
      </p:pic>
      <p:sp>
        <p:nvSpPr>
          <p:cNvPr id="49" name="TextBox 48">
            <a:extLst>
              <a:ext uri="{FF2B5EF4-FFF2-40B4-BE49-F238E27FC236}">
                <a16:creationId xmlns:a16="http://schemas.microsoft.com/office/drawing/2014/main" id="{B9FC719E-C846-4097-532F-A915F05871C5}"/>
              </a:ext>
            </a:extLst>
          </p:cNvPr>
          <p:cNvSpPr txBox="1"/>
          <p:nvPr/>
        </p:nvSpPr>
        <p:spPr>
          <a:xfrm>
            <a:off x="1531527" y="1344763"/>
            <a:ext cx="1473693" cy="369332"/>
          </a:xfrm>
          <a:prstGeom prst="rect">
            <a:avLst/>
          </a:prstGeom>
          <a:noFill/>
        </p:spPr>
        <p:txBody>
          <a:bodyPr wrap="square" rtlCol="0">
            <a:spAutoFit/>
          </a:bodyPr>
          <a:lstStyle/>
          <a:p>
            <a:pPr algn="l"/>
            <a:r>
              <a:rPr lang="da-DK" dirty="0" err="1">
                <a:solidFill>
                  <a:srgbClr val="0099DC"/>
                </a:solidFill>
              </a:rPr>
              <a:t>EasyImaging</a:t>
            </a:r>
            <a:endParaRPr lang="en-GB" dirty="0">
              <a:solidFill>
                <a:srgbClr val="0099DC"/>
              </a:solidFill>
            </a:endParaRPr>
          </a:p>
        </p:txBody>
      </p:sp>
      <p:sp>
        <p:nvSpPr>
          <p:cNvPr id="50" name="TextBox 49">
            <a:extLst>
              <a:ext uri="{FF2B5EF4-FFF2-40B4-BE49-F238E27FC236}">
                <a16:creationId xmlns:a16="http://schemas.microsoft.com/office/drawing/2014/main" id="{2E60BAA9-B4AA-BF2F-2BBC-FA6A2CAEB9AD}"/>
              </a:ext>
            </a:extLst>
          </p:cNvPr>
          <p:cNvSpPr txBox="1"/>
          <p:nvPr/>
        </p:nvSpPr>
        <p:spPr>
          <a:xfrm>
            <a:off x="1416008" y="1948510"/>
            <a:ext cx="1704733" cy="369332"/>
          </a:xfrm>
          <a:prstGeom prst="rect">
            <a:avLst/>
          </a:prstGeom>
          <a:noFill/>
        </p:spPr>
        <p:txBody>
          <a:bodyPr wrap="square" rtlCol="0">
            <a:spAutoFit/>
          </a:bodyPr>
          <a:lstStyle/>
          <a:p>
            <a:pPr algn="l"/>
            <a:r>
              <a:rPr lang="da-DK" dirty="0" err="1">
                <a:solidFill>
                  <a:srgbClr val="0099DC"/>
                </a:solidFill>
              </a:rPr>
              <a:t>EasyDiffraction</a:t>
            </a:r>
            <a:endParaRPr lang="en-GB" dirty="0">
              <a:solidFill>
                <a:srgbClr val="0099DC"/>
              </a:solidFill>
            </a:endParaRPr>
          </a:p>
        </p:txBody>
      </p:sp>
      <p:pic>
        <p:nvPicPr>
          <p:cNvPr id="9" name="Picture 8">
            <a:extLst>
              <a:ext uri="{FF2B5EF4-FFF2-40B4-BE49-F238E27FC236}">
                <a16:creationId xmlns:a16="http://schemas.microsoft.com/office/drawing/2014/main" id="{B5875A77-3C51-6DEB-17CB-758E0571710E}"/>
              </a:ext>
            </a:extLst>
          </p:cNvPr>
          <p:cNvPicPr>
            <a:picLocks noChangeAspect="1"/>
          </p:cNvPicPr>
          <p:nvPr/>
        </p:nvPicPr>
        <p:blipFill>
          <a:blip r:embed="rId9"/>
          <a:srcRect l="59657" t="39321" r="431" b="2167"/>
          <a:stretch>
            <a:fillRect/>
          </a:stretch>
        </p:blipFill>
        <p:spPr>
          <a:xfrm>
            <a:off x="4345783" y="2716110"/>
            <a:ext cx="3500433" cy="2176434"/>
          </a:xfrm>
          <a:prstGeom prst="roundRect">
            <a:avLst>
              <a:gd name="adj" fmla="val 8594"/>
            </a:avLst>
          </a:prstGeom>
          <a:solidFill>
            <a:srgbClr val="FFFFFF">
              <a:shade val="85000"/>
            </a:srgbClr>
          </a:solidFill>
          <a:ln w="6350">
            <a:solidFill>
              <a:schemeClr val="bg2">
                <a:lumMod val="75000"/>
              </a:schemeClr>
            </a:solidFill>
          </a:ln>
          <a:effectLst/>
        </p:spPr>
      </p:pic>
      <p:sp>
        <p:nvSpPr>
          <p:cNvPr id="11" name="TextBox 10">
            <a:extLst>
              <a:ext uri="{FF2B5EF4-FFF2-40B4-BE49-F238E27FC236}">
                <a16:creationId xmlns:a16="http://schemas.microsoft.com/office/drawing/2014/main" id="{52AE1169-0E08-71BA-5349-D5E9613E8DAC}"/>
              </a:ext>
            </a:extLst>
          </p:cNvPr>
          <p:cNvSpPr txBox="1"/>
          <p:nvPr/>
        </p:nvSpPr>
        <p:spPr>
          <a:xfrm>
            <a:off x="4686811" y="1703004"/>
            <a:ext cx="2082558" cy="369332"/>
          </a:xfrm>
          <a:prstGeom prst="rect">
            <a:avLst/>
          </a:prstGeom>
          <a:noFill/>
        </p:spPr>
        <p:txBody>
          <a:bodyPr wrap="square" rtlCol="0">
            <a:spAutoFit/>
          </a:bodyPr>
          <a:lstStyle/>
          <a:p>
            <a:pPr algn="l"/>
            <a:r>
              <a:rPr lang="da-DK" dirty="0" err="1">
                <a:solidFill>
                  <a:srgbClr val="0099DC"/>
                </a:solidFill>
              </a:rPr>
              <a:t>EasyReflectometry</a:t>
            </a:r>
            <a:endParaRPr lang="en-GB" dirty="0">
              <a:solidFill>
                <a:srgbClr val="0099DC"/>
              </a:solidFill>
            </a:endParaRPr>
          </a:p>
        </p:txBody>
      </p:sp>
      <p:pic>
        <p:nvPicPr>
          <p:cNvPr id="12" name="Picture 11">
            <a:extLst>
              <a:ext uri="{FF2B5EF4-FFF2-40B4-BE49-F238E27FC236}">
                <a16:creationId xmlns:a16="http://schemas.microsoft.com/office/drawing/2014/main" id="{6B3BE2CB-DCF7-F801-470C-D499844D7C64}"/>
              </a:ext>
            </a:extLst>
          </p:cNvPr>
          <p:cNvPicPr>
            <a:picLocks noChangeAspect="1"/>
          </p:cNvPicPr>
          <p:nvPr/>
        </p:nvPicPr>
        <p:blipFill>
          <a:blip r:embed="rId10"/>
          <a:srcRect l="22291" t="5717" r="23958" b="5763"/>
          <a:stretch>
            <a:fillRect/>
          </a:stretch>
        </p:blipFill>
        <p:spPr>
          <a:xfrm>
            <a:off x="8302619" y="2394287"/>
            <a:ext cx="2631686" cy="2437879"/>
          </a:xfrm>
          <a:prstGeom prst="rect">
            <a:avLst/>
          </a:prstGeom>
        </p:spPr>
      </p:pic>
      <p:sp>
        <p:nvSpPr>
          <p:cNvPr id="14" name="TextBox 13">
            <a:extLst>
              <a:ext uri="{FF2B5EF4-FFF2-40B4-BE49-F238E27FC236}">
                <a16:creationId xmlns:a16="http://schemas.microsoft.com/office/drawing/2014/main" id="{65DEF7C2-ADF7-B861-30C7-A01980AFA7F3}"/>
              </a:ext>
            </a:extLst>
          </p:cNvPr>
          <p:cNvSpPr txBox="1"/>
          <p:nvPr/>
        </p:nvSpPr>
        <p:spPr>
          <a:xfrm>
            <a:off x="8460406" y="1714095"/>
            <a:ext cx="1737193" cy="369332"/>
          </a:xfrm>
          <a:prstGeom prst="rect">
            <a:avLst/>
          </a:prstGeom>
          <a:noFill/>
        </p:spPr>
        <p:txBody>
          <a:bodyPr wrap="square" rtlCol="0">
            <a:spAutoFit/>
          </a:bodyPr>
          <a:lstStyle/>
          <a:p>
            <a:pPr algn="l"/>
            <a:r>
              <a:rPr lang="da-DK" dirty="0" err="1">
                <a:solidFill>
                  <a:srgbClr val="0099DC"/>
                </a:solidFill>
              </a:rPr>
              <a:t>EasyDynamics</a:t>
            </a:r>
            <a:endParaRPr lang="en-GB" dirty="0">
              <a:solidFill>
                <a:srgbClr val="0099DC"/>
              </a:solidFill>
            </a:endParaRPr>
          </a:p>
        </p:txBody>
      </p:sp>
    </p:spTree>
    <p:extLst>
      <p:ext uri="{BB962C8B-B14F-4D97-AF65-F5344CB8AC3E}">
        <p14:creationId xmlns:p14="http://schemas.microsoft.com/office/powerpoint/2010/main" val="363679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3AEAD-A63E-63D8-11D9-0FBE317A3184}"/>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EB6DEA57-8CFD-8916-0667-135009F5F99A}"/>
              </a:ext>
            </a:extLst>
          </p:cNvPr>
          <p:cNvSpPr>
            <a:spLocks noGrp="1"/>
          </p:cNvSpPr>
          <p:nvPr>
            <p:ph type="ctrTitle"/>
          </p:nvPr>
        </p:nvSpPr>
        <p:spPr>
          <a:xfrm>
            <a:off x="1909680" y="1012054"/>
            <a:ext cx="8640000" cy="801210"/>
          </a:xfrm>
        </p:spPr>
        <p:txBody>
          <a:bodyPr/>
          <a:lstStyle/>
          <a:p>
            <a:pPr algn="ctr"/>
            <a:r>
              <a:rPr lang="en-GB" dirty="0">
                <a:latin typeface="Segoe UI Black" panose="020B0A02040204020203" pitchFamily="34" charset="0"/>
                <a:ea typeface="Segoe UI Black" panose="020B0A02040204020203" pitchFamily="34" charset="0"/>
              </a:rPr>
              <a:t>Exercise Time</a:t>
            </a:r>
          </a:p>
        </p:txBody>
      </p:sp>
      <p:sp>
        <p:nvSpPr>
          <p:cNvPr id="5" name="Platshållare för datum 4">
            <a:extLst>
              <a:ext uri="{FF2B5EF4-FFF2-40B4-BE49-F238E27FC236}">
                <a16:creationId xmlns:a16="http://schemas.microsoft.com/office/drawing/2014/main" id="{A26E9D77-EFAA-713F-8C14-27C49E5F4714}"/>
              </a:ext>
            </a:extLst>
          </p:cNvPr>
          <p:cNvSpPr>
            <a:spLocks noGrp="1"/>
          </p:cNvSpPr>
          <p:nvPr>
            <p:ph type="dt" sz="half" idx="11"/>
          </p:nvPr>
        </p:nvSpPr>
        <p:spPr>
          <a:xfrm>
            <a:off x="1930395" y="6117873"/>
            <a:ext cx="3215183" cy="459883"/>
          </a:xfrm>
        </p:spPr>
        <p:txBody>
          <a:bodyPr/>
          <a:lstStyle/>
          <a:p>
            <a:r>
              <a:rPr lang="en-GB" sz="1200" b="1" dirty="0">
                <a:solidFill>
                  <a:schemeClr val="bg1"/>
                </a:solidFill>
              </a:rPr>
              <a:t>2025-08-28</a:t>
            </a:r>
          </a:p>
        </p:txBody>
      </p:sp>
      <p:sp>
        <p:nvSpPr>
          <p:cNvPr id="3" name="Rubrik 1">
            <a:extLst>
              <a:ext uri="{FF2B5EF4-FFF2-40B4-BE49-F238E27FC236}">
                <a16:creationId xmlns:a16="http://schemas.microsoft.com/office/drawing/2014/main" id="{70248B5A-5ED7-53F0-A070-04546FED797E}"/>
              </a:ext>
            </a:extLst>
          </p:cNvPr>
          <p:cNvSpPr txBox="1">
            <a:spLocks/>
          </p:cNvSpPr>
          <p:nvPr/>
        </p:nvSpPr>
        <p:spPr>
          <a:xfrm>
            <a:off x="2859281" y="2140346"/>
            <a:ext cx="7968376" cy="2577308"/>
          </a:xfrm>
          <a:prstGeom prst="rect">
            <a:avLst/>
          </a:prstGeom>
        </p:spPr>
        <p:txBody>
          <a:bodyPr vert="horz" lIns="90000" tIns="45720" rIns="91440" bIns="45720" rtlCol="0" anchor="b" anchorCtr="0">
            <a:noAutofit/>
          </a:bodyPr>
          <a:lstStyle>
            <a:lvl1pPr algn="l" defTabSz="914400" rtl="0" eaLnBrk="1" latinLnBrk="0" hangingPunct="1">
              <a:lnSpc>
                <a:spcPct val="100000"/>
              </a:lnSpc>
              <a:spcBef>
                <a:spcPct val="0"/>
              </a:spcBef>
              <a:buNone/>
              <a:defRPr sz="4200" kern="1200">
                <a:solidFill>
                  <a:schemeClr val="bg1"/>
                </a:solidFill>
                <a:latin typeface="Segoe UI Semibold" panose="020B0702040204020203" pitchFamily="34" charset="0"/>
                <a:ea typeface="+mj-ea"/>
                <a:cs typeface="Segoe UI Semibold" panose="020B0702040204020203" pitchFamily="34" charset="0"/>
              </a:defRPr>
            </a:lvl1pPr>
          </a:lstStyle>
          <a:p>
            <a:pPr marL="514350" indent="-514350">
              <a:lnSpc>
                <a:spcPct val="150000"/>
              </a:lnSpc>
              <a:buFont typeface="+mj-lt"/>
              <a:buAutoNum type="arabicPeriod"/>
            </a:pPr>
            <a:r>
              <a:rPr lang="da-DK" sz="2800" dirty="0" err="1">
                <a:latin typeface="+mn-lt"/>
                <a:ea typeface="Segoe UI Black" panose="020B0A02040204020203" pitchFamily="34" charset="0"/>
              </a:rPr>
              <a:t>Thinking</a:t>
            </a:r>
            <a:r>
              <a:rPr lang="da-DK" sz="2800" dirty="0">
                <a:latin typeface="+mn-lt"/>
                <a:ea typeface="Segoe UI Black" panose="020B0A02040204020203" pitchFamily="34" charset="0"/>
              </a:rPr>
              <a:t> </a:t>
            </a:r>
            <a:r>
              <a:rPr lang="da-DK" sz="2800" dirty="0" err="1">
                <a:latin typeface="+mn-lt"/>
                <a:ea typeface="Segoe UI Black" panose="020B0A02040204020203" pitchFamily="34" charset="0"/>
              </a:rPr>
              <a:t>about</a:t>
            </a:r>
            <a:r>
              <a:rPr lang="da-DK" sz="2800" dirty="0">
                <a:latin typeface="+mn-lt"/>
                <a:ea typeface="Segoe UI Black" panose="020B0A02040204020203" pitchFamily="34" charset="0"/>
              </a:rPr>
              <a:t> data </a:t>
            </a:r>
            <a:r>
              <a:rPr lang="da-DK" sz="2800" dirty="0" err="1">
                <a:latin typeface="+mn-lt"/>
                <a:ea typeface="Segoe UI Black" panose="020B0A02040204020203" pitchFamily="34" charset="0"/>
              </a:rPr>
              <a:t>probabilistically</a:t>
            </a:r>
            <a:r>
              <a:rPr lang="da-DK" sz="2800" dirty="0">
                <a:latin typeface="+mn-lt"/>
                <a:ea typeface="Segoe UI Black" panose="020B0A02040204020203" pitchFamily="34" charset="0"/>
              </a:rPr>
              <a:t> (</a:t>
            </a:r>
            <a:r>
              <a:rPr lang="da-DK" sz="2800" dirty="0" err="1">
                <a:latin typeface="+mn-lt"/>
                <a:ea typeface="Segoe UI Black" panose="020B0A02040204020203" pitchFamily="34" charset="0"/>
              </a:rPr>
              <a:t>Recap</a:t>
            </a:r>
            <a:r>
              <a:rPr lang="da-DK" sz="2800" dirty="0">
                <a:latin typeface="+mn-lt"/>
                <a:ea typeface="Segoe UI Black" panose="020B0A02040204020203" pitchFamily="34" charset="0"/>
              </a:rPr>
              <a:t>)</a:t>
            </a:r>
          </a:p>
          <a:p>
            <a:pPr marL="514350" indent="-514350">
              <a:lnSpc>
                <a:spcPct val="150000"/>
              </a:lnSpc>
              <a:buFont typeface="+mj-lt"/>
              <a:buAutoNum type="arabicPeriod"/>
            </a:pPr>
            <a:r>
              <a:rPr lang="en-GB" sz="2800" dirty="0">
                <a:latin typeface="+mn-lt"/>
                <a:ea typeface="Segoe UI Black" panose="020B0A02040204020203" pitchFamily="34" charset="0"/>
              </a:rPr>
              <a:t>Fitting data with </a:t>
            </a:r>
            <a:r>
              <a:rPr lang="en-GB" sz="2800" dirty="0" err="1">
                <a:latin typeface="+mn-lt"/>
                <a:ea typeface="Segoe UI Black" panose="020B0A02040204020203" pitchFamily="34" charset="0"/>
              </a:rPr>
              <a:t>EasyScience</a:t>
            </a:r>
            <a:endParaRPr lang="en-GB" sz="2800" dirty="0">
              <a:latin typeface="+mn-lt"/>
              <a:ea typeface="Segoe UI Black" panose="020B0A02040204020203" pitchFamily="34" charset="0"/>
            </a:endParaRPr>
          </a:p>
          <a:p>
            <a:pPr marL="514350" indent="-514350">
              <a:lnSpc>
                <a:spcPct val="150000"/>
              </a:lnSpc>
              <a:buFont typeface="+mj-lt"/>
              <a:buAutoNum type="arabicPeriod"/>
            </a:pPr>
            <a:r>
              <a:rPr lang="en-GB" sz="2800" dirty="0">
                <a:latin typeface="+mn-lt"/>
                <a:ea typeface="Segoe UI Black" panose="020B0A02040204020203" pitchFamily="34" charset="0"/>
              </a:rPr>
              <a:t>Making more complex models in </a:t>
            </a:r>
            <a:r>
              <a:rPr lang="en-GB" sz="2800" dirty="0" err="1">
                <a:latin typeface="+mn-lt"/>
                <a:ea typeface="Segoe UI Black" panose="020B0A02040204020203" pitchFamily="34" charset="0"/>
              </a:rPr>
              <a:t>EasyScience</a:t>
            </a:r>
            <a:endParaRPr lang="en-GB" sz="2800" dirty="0">
              <a:latin typeface="+mn-lt"/>
              <a:ea typeface="Segoe UI Black" panose="020B0A02040204020203" pitchFamily="34" charset="0"/>
            </a:endParaRPr>
          </a:p>
          <a:p>
            <a:pPr marL="514350" indent="-514350">
              <a:lnSpc>
                <a:spcPct val="150000"/>
              </a:lnSpc>
              <a:buFont typeface="+mj-lt"/>
              <a:buAutoNum type="arabicPeriod"/>
            </a:pPr>
            <a:r>
              <a:rPr lang="en-GB" sz="2800" dirty="0">
                <a:latin typeface="+mn-lt"/>
                <a:ea typeface="Segoe UI Black" panose="020B0A02040204020203" pitchFamily="34" charset="0"/>
              </a:rPr>
              <a:t>Fitting [technique] data</a:t>
            </a:r>
          </a:p>
        </p:txBody>
      </p:sp>
    </p:spTree>
    <p:extLst>
      <p:ext uri="{BB962C8B-B14F-4D97-AF65-F5344CB8AC3E}">
        <p14:creationId xmlns:p14="http://schemas.microsoft.com/office/powerpoint/2010/main" val="377103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EA138-5232-B7F9-3EE4-24074CCBC9E6}"/>
              </a:ext>
            </a:extLst>
          </p:cNvPr>
          <p:cNvSpPr>
            <a:spLocks noGrp="1"/>
          </p:cNvSpPr>
          <p:nvPr>
            <p:ph type="title"/>
          </p:nvPr>
        </p:nvSpPr>
        <p:spPr/>
        <p:txBody>
          <a:bodyPr/>
          <a:lstStyle/>
          <a:p>
            <a:r>
              <a:rPr lang="en-GB" noProof="0" dirty="0"/>
              <a:t>Two opposing schools of thought on probability</a:t>
            </a:r>
          </a:p>
        </p:txBody>
      </p:sp>
      <p:sp>
        <p:nvSpPr>
          <p:cNvPr id="4" name="Slide Number Placeholder 3">
            <a:extLst>
              <a:ext uri="{FF2B5EF4-FFF2-40B4-BE49-F238E27FC236}">
                <a16:creationId xmlns:a16="http://schemas.microsoft.com/office/drawing/2014/main" id="{7F7B6AC7-5751-4EBB-8620-02C29F1714CD}"/>
              </a:ext>
            </a:extLst>
          </p:cNvPr>
          <p:cNvSpPr>
            <a:spLocks noGrp="1"/>
          </p:cNvSpPr>
          <p:nvPr>
            <p:ph type="sldNum" sz="quarter" idx="12"/>
          </p:nvPr>
        </p:nvSpPr>
        <p:spPr/>
        <p:txBody>
          <a:bodyPr/>
          <a:lstStyle/>
          <a:p>
            <a:fld id="{F7283078-D760-1647-8B80-66BA8B52336D}" type="slidenum">
              <a:rPr lang="sv-SE" smtClean="0"/>
              <a:t>26</a:t>
            </a:fld>
            <a:endParaRPr lang="sv-SE"/>
          </a:p>
        </p:txBody>
      </p:sp>
      <p:sp>
        <p:nvSpPr>
          <p:cNvPr id="26" name="Rectangle: Rounded Corners 25">
            <a:extLst>
              <a:ext uri="{FF2B5EF4-FFF2-40B4-BE49-F238E27FC236}">
                <a16:creationId xmlns:a16="http://schemas.microsoft.com/office/drawing/2014/main" id="{FDD8C744-0BA6-EFE6-5413-E4BB6F7D200C}"/>
              </a:ext>
            </a:extLst>
          </p:cNvPr>
          <p:cNvSpPr/>
          <p:nvPr/>
        </p:nvSpPr>
        <p:spPr>
          <a:xfrm>
            <a:off x="1103709" y="1825025"/>
            <a:ext cx="4949489" cy="4272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u="sng" noProof="0" dirty="0"/>
              <a:t>Frequentist/classical</a:t>
            </a:r>
            <a:endParaRPr lang="en-GB" b="1" u="sng" noProof="0" dirty="0"/>
          </a:p>
          <a:p>
            <a:pPr algn="ctr"/>
            <a:endParaRPr lang="en-GB" b="1" noProof="0" dirty="0"/>
          </a:p>
          <a:p>
            <a:pPr algn="ctr"/>
            <a:r>
              <a:rPr lang="en-GB" noProof="0" dirty="0"/>
              <a:t>Probability is the occurrence of an event over many identical trials</a:t>
            </a:r>
          </a:p>
          <a:p>
            <a:pPr algn="ctr"/>
            <a:endParaRPr lang="en-GB" dirty="0"/>
          </a:p>
          <a:p>
            <a:pPr algn="ctr"/>
            <a:r>
              <a:rPr lang="da-DK" noProof="0" dirty="0"/>
              <a:t>Parameters </a:t>
            </a:r>
            <a:r>
              <a:rPr lang="en-GB" noProof="0" dirty="0"/>
              <a:t>have true unknown values without uncertainties</a:t>
            </a:r>
            <a:endParaRPr lang="en-GB" b="1" noProof="0" dirty="0"/>
          </a:p>
          <a:p>
            <a:pPr algn="ctr"/>
            <a:endParaRPr lang="en-GB" b="1" noProof="0" dirty="0"/>
          </a:p>
          <a:p>
            <a:pPr algn="ctr"/>
            <a:r>
              <a:rPr lang="en-GB" dirty="0"/>
              <a:t>Draws conclusions with minimal guesses based entirely on the data</a:t>
            </a:r>
          </a:p>
        </p:txBody>
      </p:sp>
      <p:sp>
        <p:nvSpPr>
          <p:cNvPr id="28" name="Rectangle: Rounded Corners 27">
            <a:extLst>
              <a:ext uri="{FF2B5EF4-FFF2-40B4-BE49-F238E27FC236}">
                <a16:creationId xmlns:a16="http://schemas.microsoft.com/office/drawing/2014/main" id="{8A0674FA-E9F6-35BE-17D4-A8E2A18F7C81}"/>
              </a:ext>
            </a:extLst>
          </p:cNvPr>
          <p:cNvSpPr/>
          <p:nvPr/>
        </p:nvSpPr>
        <p:spPr>
          <a:xfrm>
            <a:off x="6427403" y="1821250"/>
            <a:ext cx="4949489" cy="4272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u="sng" noProof="0" dirty="0"/>
              <a:t>Bayesian</a:t>
            </a:r>
            <a:endParaRPr lang="en-GB" b="1" u="sng" noProof="0" dirty="0"/>
          </a:p>
          <a:p>
            <a:pPr algn="ctr"/>
            <a:endParaRPr lang="en-GB" b="1" noProof="0" dirty="0"/>
          </a:p>
          <a:p>
            <a:pPr algn="ctr"/>
            <a:r>
              <a:rPr lang="en-GB" noProof="0" dirty="0"/>
              <a:t>Probability is a degree of belief which can be changed by observations</a:t>
            </a:r>
          </a:p>
          <a:p>
            <a:pPr algn="ctr"/>
            <a:endParaRPr lang="en-GB" dirty="0"/>
          </a:p>
          <a:p>
            <a:pPr algn="ctr"/>
            <a:r>
              <a:rPr lang="en-GB" noProof="0" dirty="0"/>
              <a:t>Parameters are random variables following their own probability distributions</a:t>
            </a:r>
          </a:p>
          <a:p>
            <a:pPr algn="ctr"/>
            <a:endParaRPr lang="en-GB" b="1" noProof="0" dirty="0"/>
          </a:p>
          <a:p>
            <a:pPr algn="ctr"/>
            <a:r>
              <a:rPr lang="en-GB" dirty="0"/>
              <a:t>Incorporates what we think we know from previous data or other sources</a:t>
            </a:r>
          </a:p>
        </p:txBody>
      </p:sp>
      <p:sp>
        <p:nvSpPr>
          <p:cNvPr id="29" name="Date Placeholder 7">
            <a:extLst>
              <a:ext uri="{FF2B5EF4-FFF2-40B4-BE49-F238E27FC236}">
                <a16:creationId xmlns:a16="http://schemas.microsoft.com/office/drawing/2014/main" id="{2268B537-2CCC-2B27-AF37-52CC9173FDBD}"/>
              </a:ext>
            </a:extLst>
          </p:cNvPr>
          <p:cNvSpPr>
            <a:spLocks noGrp="1"/>
          </p:cNvSpPr>
          <p:nvPr>
            <p:ph type="dt" sz="half" idx="10"/>
          </p:nvPr>
        </p:nvSpPr>
        <p:spPr>
          <a:xfrm>
            <a:off x="1195647" y="6475270"/>
            <a:ext cx="832658" cy="365125"/>
          </a:xfrm>
        </p:spPr>
        <p:txBody>
          <a:bodyPr/>
          <a:lstStyle/>
          <a:p>
            <a:fld id="{18896B66-0B3A-474C-9C9C-E4F07B1F5DAD}" type="datetime1">
              <a:rPr lang="en-GB" smtClean="0"/>
              <a:t>26/08/2026</a:t>
            </a:fld>
            <a:endParaRPr lang="en-GB" dirty="0"/>
          </a:p>
        </p:txBody>
      </p:sp>
    </p:spTree>
    <p:extLst>
      <p:ext uri="{BB962C8B-B14F-4D97-AF65-F5344CB8AC3E}">
        <p14:creationId xmlns:p14="http://schemas.microsoft.com/office/powerpoint/2010/main" val="89875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CD4CA-92FD-41B0-AD7D-FF184CC0F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FA270-FD32-FDFA-606F-1D1905651533}"/>
              </a:ext>
            </a:extLst>
          </p:cNvPr>
          <p:cNvSpPr>
            <a:spLocks noGrp="1"/>
          </p:cNvSpPr>
          <p:nvPr>
            <p:ph type="title"/>
          </p:nvPr>
        </p:nvSpPr>
        <p:spPr/>
        <p:txBody>
          <a:bodyPr/>
          <a:lstStyle/>
          <a:p>
            <a:r>
              <a:rPr lang="da-DK" dirty="0" err="1"/>
              <a:t>Two</a:t>
            </a:r>
            <a:r>
              <a:rPr lang="da-DK" dirty="0"/>
              <a:t> </a:t>
            </a:r>
            <a:r>
              <a:rPr lang="da-DK" dirty="0" err="1"/>
              <a:t>opposing</a:t>
            </a:r>
            <a:r>
              <a:rPr lang="da-DK" dirty="0"/>
              <a:t> schools of </a:t>
            </a:r>
            <a:r>
              <a:rPr lang="da-DK" dirty="0" err="1"/>
              <a:t>thought</a:t>
            </a:r>
            <a:r>
              <a:rPr lang="da-DK" dirty="0"/>
              <a:t> on </a:t>
            </a:r>
            <a:r>
              <a:rPr lang="da-DK" dirty="0" err="1"/>
              <a:t>probability</a:t>
            </a:r>
            <a:endParaRPr lang="en-GB" dirty="0"/>
          </a:p>
        </p:txBody>
      </p:sp>
      <p:sp>
        <p:nvSpPr>
          <p:cNvPr id="4" name="Slide Number Placeholder 3">
            <a:extLst>
              <a:ext uri="{FF2B5EF4-FFF2-40B4-BE49-F238E27FC236}">
                <a16:creationId xmlns:a16="http://schemas.microsoft.com/office/drawing/2014/main" id="{C766620A-6892-B2DF-BCCD-FCF3D38F5E72}"/>
              </a:ext>
            </a:extLst>
          </p:cNvPr>
          <p:cNvSpPr>
            <a:spLocks noGrp="1"/>
          </p:cNvSpPr>
          <p:nvPr>
            <p:ph type="sldNum" sz="quarter" idx="12"/>
          </p:nvPr>
        </p:nvSpPr>
        <p:spPr/>
        <p:txBody>
          <a:bodyPr/>
          <a:lstStyle/>
          <a:p>
            <a:fld id="{F7283078-D760-1647-8B80-66BA8B52336D}" type="slidenum">
              <a:rPr lang="sv-SE" smtClean="0"/>
              <a:t>27</a:t>
            </a:fld>
            <a:endParaRPr lang="sv-SE"/>
          </a:p>
        </p:txBody>
      </p:sp>
      <p:sp>
        <p:nvSpPr>
          <p:cNvPr id="26" name="Rectangle: Rounded Corners 25">
            <a:extLst>
              <a:ext uri="{FF2B5EF4-FFF2-40B4-BE49-F238E27FC236}">
                <a16:creationId xmlns:a16="http://schemas.microsoft.com/office/drawing/2014/main" id="{08277729-21E4-52DC-77F3-1182D56C2D73}"/>
              </a:ext>
            </a:extLst>
          </p:cNvPr>
          <p:cNvSpPr/>
          <p:nvPr/>
        </p:nvSpPr>
        <p:spPr>
          <a:xfrm>
            <a:off x="1103709" y="1825025"/>
            <a:ext cx="3199777" cy="4272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u="sng" noProof="0" dirty="0"/>
              <a:t>Frequentist/classical</a:t>
            </a:r>
            <a:endParaRPr lang="en-GB" b="1" u="sng" noProof="0" dirty="0"/>
          </a:p>
          <a:p>
            <a:pPr algn="ctr"/>
            <a:endParaRPr lang="en-GB" b="1" noProof="0" dirty="0"/>
          </a:p>
          <a:p>
            <a:pPr algn="ctr"/>
            <a:r>
              <a:rPr lang="en-GB" u="sng" noProof="0" dirty="0"/>
              <a:t>Hypothesis/model testing </a:t>
            </a:r>
          </a:p>
          <a:p>
            <a:pPr algn="ctr"/>
            <a:r>
              <a:rPr lang="en-GB" dirty="0"/>
              <a:t>E</a:t>
            </a:r>
            <a:r>
              <a:rPr lang="en-GB" noProof="0" dirty="0" err="1"/>
              <a:t>stimates</a:t>
            </a:r>
            <a:r>
              <a:rPr lang="en-GB" noProof="0" dirty="0"/>
              <a:t> how likely it is that your model is wrong and data is random</a:t>
            </a:r>
          </a:p>
          <a:p>
            <a:pPr algn="ctr"/>
            <a:endParaRPr lang="en-GB" dirty="0"/>
          </a:p>
          <a:p>
            <a:pPr algn="ctr"/>
            <a:r>
              <a:rPr lang="da-DK" u="sng" noProof="0" dirty="0" err="1"/>
              <a:t>Confidence</a:t>
            </a:r>
            <a:r>
              <a:rPr lang="da-DK" u="sng" noProof="0" dirty="0"/>
              <a:t> interval</a:t>
            </a:r>
          </a:p>
          <a:p>
            <a:pPr algn="ctr"/>
            <a:r>
              <a:rPr lang="en-GB" dirty="0"/>
              <a:t>95% of identical intervals will contain the true parameter</a:t>
            </a:r>
          </a:p>
        </p:txBody>
      </p:sp>
      <p:sp>
        <p:nvSpPr>
          <p:cNvPr id="29" name="Date Placeholder 7">
            <a:extLst>
              <a:ext uri="{FF2B5EF4-FFF2-40B4-BE49-F238E27FC236}">
                <a16:creationId xmlns:a16="http://schemas.microsoft.com/office/drawing/2014/main" id="{7A2B15BC-289E-3D95-3DEE-38B4B4478073}"/>
              </a:ext>
            </a:extLst>
          </p:cNvPr>
          <p:cNvSpPr>
            <a:spLocks noGrp="1"/>
          </p:cNvSpPr>
          <p:nvPr>
            <p:ph type="dt" sz="half" idx="10"/>
          </p:nvPr>
        </p:nvSpPr>
        <p:spPr>
          <a:xfrm>
            <a:off x="1195647" y="6475270"/>
            <a:ext cx="832658" cy="365125"/>
          </a:xfrm>
        </p:spPr>
        <p:txBody>
          <a:bodyPr/>
          <a:lstStyle/>
          <a:p>
            <a:fld id="{18896B66-0B3A-474C-9C9C-E4F07B1F5DAD}" type="datetime1">
              <a:rPr lang="en-GB" smtClean="0"/>
              <a:t>26/08/2026</a:t>
            </a:fld>
            <a:endParaRPr lang="en-GB" dirty="0"/>
          </a:p>
        </p:txBody>
      </p:sp>
      <p:sp>
        <p:nvSpPr>
          <p:cNvPr id="5" name="Rectangle: Rounded Corners 4">
            <a:extLst>
              <a:ext uri="{FF2B5EF4-FFF2-40B4-BE49-F238E27FC236}">
                <a16:creationId xmlns:a16="http://schemas.microsoft.com/office/drawing/2014/main" id="{508CFDEB-ECEF-55E0-30EA-315863B7C758}"/>
              </a:ext>
            </a:extLst>
          </p:cNvPr>
          <p:cNvSpPr/>
          <p:nvPr/>
        </p:nvSpPr>
        <p:spPr>
          <a:xfrm>
            <a:off x="8180937" y="1825025"/>
            <a:ext cx="3199777" cy="4272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u="sng" noProof="0" dirty="0"/>
              <a:t>Bayesian</a:t>
            </a:r>
            <a:endParaRPr lang="en-GB" b="1" u="sng" noProof="0" dirty="0"/>
          </a:p>
          <a:p>
            <a:pPr algn="ctr"/>
            <a:endParaRPr lang="en-GB" b="1" noProof="0" dirty="0"/>
          </a:p>
          <a:p>
            <a:pPr algn="ctr"/>
            <a:r>
              <a:rPr lang="en-GB" u="sng" noProof="0" dirty="0"/>
              <a:t>Hypothesis/model testing </a:t>
            </a:r>
          </a:p>
          <a:p>
            <a:pPr algn="ctr"/>
            <a:r>
              <a:rPr lang="en-GB" dirty="0"/>
              <a:t>Estimates how likely a model is, or range of parameters, given the data</a:t>
            </a:r>
            <a:endParaRPr lang="en-GB" noProof="0" dirty="0"/>
          </a:p>
          <a:p>
            <a:pPr algn="ctr"/>
            <a:endParaRPr lang="en-GB" dirty="0"/>
          </a:p>
          <a:p>
            <a:pPr algn="ctr"/>
            <a:r>
              <a:rPr lang="da-DK" u="sng" noProof="0" dirty="0" err="1"/>
              <a:t>Credible</a:t>
            </a:r>
            <a:r>
              <a:rPr lang="da-DK" u="sng" noProof="0" dirty="0"/>
              <a:t> interval</a:t>
            </a:r>
          </a:p>
          <a:p>
            <a:pPr algn="ctr"/>
            <a:r>
              <a:rPr lang="en-GB" dirty="0"/>
              <a:t>There’s a 95% chance that the true parameter is withing </a:t>
            </a:r>
            <a:r>
              <a:rPr lang="en-GB"/>
              <a:t>the interval</a:t>
            </a:r>
            <a:endParaRPr lang="en-GB" dirty="0"/>
          </a:p>
        </p:txBody>
      </p:sp>
      <p:pic>
        <p:nvPicPr>
          <p:cNvPr id="7" name="Picture 6">
            <a:extLst>
              <a:ext uri="{FF2B5EF4-FFF2-40B4-BE49-F238E27FC236}">
                <a16:creationId xmlns:a16="http://schemas.microsoft.com/office/drawing/2014/main" id="{FD2541D1-E53C-E58A-F913-7D16AF23C40F}"/>
              </a:ext>
            </a:extLst>
          </p:cNvPr>
          <p:cNvPicPr>
            <a:picLocks noChangeAspect="1"/>
          </p:cNvPicPr>
          <p:nvPr/>
        </p:nvPicPr>
        <p:blipFill>
          <a:blip r:embed="rId3"/>
          <a:stretch>
            <a:fillRect/>
          </a:stretch>
        </p:blipFill>
        <p:spPr>
          <a:xfrm>
            <a:off x="4345802" y="3429000"/>
            <a:ext cx="3500396" cy="2676409"/>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BC520CE-182F-57D2-1F3B-C94912C00594}"/>
                  </a:ext>
                </a:extLst>
              </p:cNvPr>
              <p:cNvSpPr txBox="1"/>
              <p:nvPr/>
            </p:nvSpPr>
            <p:spPr>
              <a:xfrm>
                <a:off x="4880011" y="2645229"/>
                <a:ext cx="2724400" cy="695383"/>
              </a:xfrm>
              <a:prstGeom prst="rect">
                <a:avLst/>
              </a:prstGeom>
              <a:noFill/>
            </p:spPr>
            <p:txBody>
              <a:bodyPr wrap="none" lIns="0" tIns="0" rIns="0" bIns="0" rtlCol="0">
                <a:spAutoFit/>
              </a:bodyPr>
              <a:lstStyle/>
              <a:p>
                <a:pPr algn="l"/>
                <a14:m>
                  <m:oMathPara xmlns:m="http://schemas.openxmlformats.org/officeDocument/2006/math">
                    <m:oMath>
                      <m:sSubSup>
                        <m:sSubSupPr>
                          <m:ctrlPr>
                            <a:rPr lang="da-DK" b="0" i="1" smtClean="0">
                              <a:solidFill>
                                <a:srgbClr val="666666"/>
                              </a:solidFill>
                              <a:latin typeface="Cambria Math" panose="02040503050406030204" pitchFamily="18" charset="0"/>
                            </a:rPr>
                          </m:ctrlPr>
                        </m:sSubSupPr>
                        <m:e>
                          <m:r>
                            <a:rPr lang="da-DK" b="0" i="1" smtClean="0">
                              <a:solidFill>
                                <a:srgbClr val="666666"/>
                              </a:solidFill>
                              <a:latin typeface="Cambria Math" panose="02040503050406030204" pitchFamily="18" charset="0"/>
                            </a:rPr>
                            <m:t>𝜒</m:t>
                          </m:r>
                        </m:e>
                        <m:sub>
                          <m:r>
                            <a:rPr lang="da-DK" b="0" i="1" smtClean="0">
                              <a:solidFill>
                                <a:srgbClr val="666666"/>
                              </a:solidFill>
                              <a:latin typeface="Cambria Math" panose="02040503050406030204" pitchFamily="18" charset="0"/>
                            </a:rPr>
                            <m:t>𝜈</m:t>
                          </m:r>
                        </m:sub>
                        <m:sup>
                          <m:r>
                            <a:rPr lang="da-DK" b="0" i="1" smtClean="0">
                              <a:solidFill>
                                <a:srgbClr val="666666"/>
                              </a:solidFill>
                              <a:latin typeface="Cambria Math" panose="02040503050406030204" pitchFamily="18" charset="0"/>
                            </a:rPr>
                            <m:t>2</m:t>
                          </m:r>
                        </m:sup>
                      </m:sSubSup>
                      <m:r>
                        <a:rPr lang="da-DK" b="0" i="1" smtClean="0">
                          <a:solidFill>
                            <a:srgbClr val="666666"/>
                          </a:solidFill>
                          <a:latin typeface="Cambria Math" panose="02040503050406030204" pitchFamily="18" charset="0"/>
                        </a:rPr>
                        <m:t>=</m:t>
                      </m:r>
                      <m:f>
                        <m:fPr>
                          <m:ctrlPr>
                            <a:rPr lang="da-DK" b="0" i="1" smtClean="0">
                              <a:solidFill>
                                <a:srgbClr val="666666"/>
                              </a:solidFill>
                              <a:latin typeface="Cambria Math" panose="02040503050406030204" pitchFamily="18" charset="0"/>
                            </a:rPr>
                          </m:ctrlPr>
                        </m:fPr>
                        <m:num>
                          <m:sSup>
                            <m:sSupPr>
                              <m:ctrlPr>
                                <a:rPr lang="da-DK" b="0" i="1" smtClean="0">
                                  <a:solidFill>
                                    <a:srgbClr val="666666"/>
                                  </a:solidFill>
                                  <a:latin typeface="Cambria Math" panose="02040503050406030204" pitchFamily="18" charset="0"/>
                                </a:rPr>
                              </m:ctrlPr>
                            </m:sSupPr>
                            <m:e>
                              <m:r>
                                <a:rPr lang="da-DK" b="0" i="1" smtClean="0">
                                  <a:solidFill>
                                    <a:srgbClr val="666666"/>
                                  </a:solidFill>
                                  <a:latin typeface="Cambria Math" panose="02040503050406030204" pitchFamily="18" charset="0"/>
                                </a:rPr>
                                <m:t>𝜒</m:t>
                              </m:r>
                            </m:e>
                            <m:sup>
                              <m:r>
                                <a:rPr lang="da-DK" b="0" i="1" smtClean="0">
                                  <a:solidFill>
                                    <a:srgbClr val="666666"/>
                                  </a:solidFill>
                                  <a:latin typeface="Cambria Math" panose="02040503050406030204" pitchFamily="18" charset="0"/>
                                </a:rPr>
                                <m:t>2</m:t>
                              </m:r>
                            </m:sup>
                          </m:sSup>
                        </m:num>
                        <m:den>
                          <m:r>
                            <a:rPr lang="da-DK" b="0" i="1" smtClean="0">
                              <a:solidFill>
                                <a:srgbClr val="666666"/>
                              </a:solidFill>
                              <a:latin typeface="Cambria Math" panose="02040503050406030204" pitchFamily="18" charset="0"/>
                            </a:rPr>
                            <m:t>𝜈</m:t>
                          </m:r>
                        </m:den>
                      </m:f>
                      <m:r>
                        <a:rPr lang="da-DK" b="0" i="1" smtClean="0">
                          <a:solidFill>
                            <a:srgbClr val="666666"/>
                          </a:solidFill>
                          <a:latin typeface="Cambria Math" panose="02040503050406030204" pitchFamily="18" charset="0"/>
                        </a:rPr>
                        <m:t>=</m:t>
                      </m:r>
                      <m:f>
                        <m:fPr>
                          <m:ctrlPr>
                            <a:rPr lang="da-DK" b="0" i="1" smtClean="0">
                              <a:solidFill>
                                <a:srgbClr val="666666"/>
                              </a:solidFill>
                              <a:latin typeface="Cambria Math" panose="02040503050406030204" pitchFamily="18" charset="0"/>
                            </a:rPr>
                          </m:ctrlPr>
                        </m:fPr>
                        <m:num>
                          <m:r>
                            <a:rPr lang="da-DK" b="0" i="1" smtClean="0">
                              <a:solidFill>
                                <a:srgbClr val="666666"/>
                              </a:solidFill>
                              <a:latin typeface="Cambria Math" panose="02040503050406030204" pitchFamily="18" charset="0"/>
                            </a:rPr>
                            <m:t>1</m:t>
                          </m:r>
                        </m:num>
                        <m:den>
                          <m:r>
                            <a:rPr lang="da-DK" b="0" i="1" smtClean="0">
                              <a:solidFill>
                                <a:srgbClr val="666666"/>
                              </a:solidFill>
                              <a:latin typeface="Cambria Math" panose="02040503050406030204" pitchFamily="18" charset="0"/>
                            </a:rPr>
                            <m:t>𝜈</m:t>
                          </m:r>
                        </m:den>
                      </m:f>
                      <m:r>
                        <a:rPr lang="da-DK" b="0" i="0" smtClean="0">
                          <a:solidFill>
                            <a:srgbClr val="666666"/>
                          </a:solidFill>
                          <a:latin typeface="Cambria Math" panose="02040503050406030204" pitchFamily="18" charset="0"/>
                        </a:rPr>
                        <m:t> </m:t>
                      </m:r>
                      <m:nary>
                        <m:naryPr>
                          <m:chr m:val="∑"/>
                          <m:supHide m:val="on"/>
                          <m:ctrlPr>
                            <a:rPr lang="da-DK" b="0" i="1" smtClean="0">
                              <a:solidFill>
                                <a:srgbClr val="666666"/>
                              </a:solidFill>
                              <a:latin typeface="Cambria Math" panose="02040503050406030204" pitchFamily="18" charset="0"/>
                            </a:rPr>
                          </m:ctrlPr>
                        </m:naryPr>
                        <m:sub>
                          <m:r>
                            <a:rPr lang="da-DK" b="0" i="1" smtClean="0">
                              <a:solidFill>
                                <a:srgbClr val="666666"/>
                              </a:solidFill>
                              <a:latin typeface="Cambria Math" panose="02040503050406030204" pitchFamily="18" charset="0"/>
                            </a:rPr>
                            <m:t>𝑖</m:t>
                          </m:r>
                        </m:sub>
                        <m:sup/>
                        <m:e>
                          <m:f>
                            <m:fPr>
                              <m:ctrlPr>
                                <a:rPr lang="da-DK" b="0" i="1" smtClean="0">
                                  <a:solidFill>
                                    <a:srgbClr val="666666"/>
                                  </a:solidFill>
                                  <a:latin typeface="Cambria Math" panose="02040503050406030204" pitchFamily="18" charset="0"/>
                                </a:rPr>
                              </m:ctrlPr>
                            </m:fPr>
                            <m:num>
                              <m:sSup>
                                <m:sSupPr>
                                  <m:ctrlPr>
                                    <a:rPr lang="da-DK" b="0" i="1" smtClean="0">
                                      <a:solidFill>
                                        <a:srgbClr val="666666"/>
                                      </a:solidFill>
                                      <a:latin typeface="Cambria Math" panose="02040503050406030204" pitchFamily="18" charset="0"/>
                                    </a:rPr>
                                  </m:ctrlPr>
                                </m:sSupPr>
                                <m:e>
                                  <m:d>
                                    <m:dPr>
                                      <m:ctrlPr>
                                        <a:rPr lang="da-DK" b="0" i="1" smtClean="0">
                                          <a:solidFill>
                                            <a:srgbClr val="666666"/>
                                          </a:solidFill>
                                          <a:latin typeface="Cambria Math" panose="02040503050406030204" pitchFamily="18" charset="0"/>
                                        </a:rPr>
                                      </m:ctrlPr>
                                    </m:dPr>
                                    <m:e>
                                      <m:sSub>
                                        <m:sSubPr>
                                          <m:ctrlPr>
                                            <a:rPr lang="da-DK" b="0" i="1" smtClean="0">
                                              <a:solidFill>
                                                <a:srgbClr val="666666"/>
                                              </a:solidFill>
                                              <a:latin typeface="Cambria Math" panose="02040503050406030204" pitchFamily="18" charset="0"/>
                                            </a:rPr>
                                          </m:ctrlPr>
                                        </m:sSubPr>
                                        <m:e>
                                          <m:r>
                                            <a:rPr lang="da-DK" b="0" i="1" smtClean="0">
                                              <a:solidFill>
                                                <a:srgbClr val="666666"/>
                                              </a:solidFill>
                                              <a:latin typeface="Cambria Math" panose="02040503050406030204" pitchFamily="18" charset="0"/>
                                            </a:rPr>
                                            <m:t>𝑂</m:t>
                                          </m:r>
                                        </m:e>
                                        <m:sub>
                                          <m:r>
                                            <a:rPr lang="da-DK" b="0" i="1" smtClean="0">
                                              <a:solidFill>
                                                <a:srgbClr val="666666"/>
                                              </a:solidFill>
                                              <a:latin typeface="Cambria Math" panose="02040503050406030204" pitchFamily="18" charset="0"/>
                                            </a:rPr>
                                            <m:t>𝑖</m:t>
                                          </m:r>
                                        </m:sub>
                                      </m:sSub>
                                      <m:r>
                                        <a:rPr lang="da-DK" b="0" i="1" smtClean="0">
                                          <a:solidFill>
                                            <a:srgbClr val="666666"/>
                                          </a:solidFill>
                                          <a:latin typeface="Cambria Math" panose="02040503050406030204" pitchFamily="18" charset="0"/>
                                        </a:rPr>
                                        <m:t>−</m:t>
                                      </m:r>
                                      <m:sSub>
                                        <m:sSubPr>
                                          <m:ctrlPr>
                                            <a:rPr lang="da-DK" b="0" i="1" smtClean="0">
                                              <a:solidFill>
                                                <a:srgbClr val="666666"/>
                                              </a:solidFill>
                                              <a:latin typeface="Cambria Math" panose="02040503050406030204" pitchFamily="18" charset="0"/>
                                            </a:rPr>
                                          </m:ctrlPr>
                                        </m:sSubPr>
                                        <m:e>
                                          <m:r>
                                            <a:rPr lang="da-DK" b="0" i="1" smtClean="0">
                                              <a:solidFill>
                                                <a:srgbClr val="666666"/>
                                              </a:solidFill>
                                              <a:latin typeface="Cambria Math" panose="02040503050406030204" pitchFamily="18" charset="0"/>
                                            </a:rPr>
                                            <m:t>𝐶</m:t>
                                          </m:r>
                                        </m:e>
                                        <m:sub>
                                          <m:r>
                                            <a:rPr lang="da-DK" b="0" i="1" smtClean="0">
                                              <a:solidFill>
                                                <a:srgbClr val="666666"/>
                                              </a:solidFill>
                                              <a:latin typeface="Cambria Math" panose="02040503050406030204" pitchFamily="18" charset="0"/>
                                            </a:rPr>
                                            <m:t>𝑖</m:t>
                                          </m:r>
                                        </m:sub>
                                      </m:sSub>
                                    </m:e>
                                  </m:d>
                                </m:e>
                                <m:sup>
                                  <m:r>
                                    <a:rPr lang="da-DK" b="0" i="1" smtClean="0">
                                      <a:solidFill>
                                        <a:srgbClr val="666666"/>
                                      </a:solidFill>
                                      <a:latin typeface="Cambria Math" panose="02040503050406030204" pitchFamily="18" charset="0"/>
                                    </a:rPr>
                                    <m:t>2</m:t>
                                  </m:r>
                                </m:sup>
                              </m:sSup>
                            </m:num>
                            <m:den>
                              <m:sSubSup>
                                <m:sSubSupPr>
                                  <m:ctrlPr>
                                    <a:rPr lang="da-DK" b="0" i="1" smtClean="0">
                                      <a:solidFill>
                                        <a:srgbClr val="666666"/>
                                      </a:solidFill>
                                      <a:latin typeface="Cambria Math" panose="02040503050406030204" pitchFamily="18" charset="0"/>
                                    </a:rPr>
                                  </m:ctrlPr>
                                </m:sSubSupPr>
                                <m:e>
                                  <m:r>
                                    <a:rPr lang="da-DK" b="0" i="1" smtClean="0">
                                      <a:solidFill>
                                        <a:srgbClr val="666666"/>
                                      </a:solidFill>
                                      <a:latin typeface="Cambria Math" panose="02040503050406030204" pitchFamily="18" charset="0"/>
                                    </a:rPr>
                                    <m:t>𝜎</m:t>
                                  </m:r>
                                </m:e>
                                <m:sub>
                                  <m:r>
                                    <a:rPr lang="da-DK" b="0" i="1" smtClean="0">
                                      <a:solidFill>
                                        <a:srgbClr val="666666"/>
                                      </a:solidFill>
                                      <a:latin typeface="Cambria Math" panose="02040503050406030204" pitchFamily="18" charset="0"/>
                                    </a:rPr>
                                    <m:t>𝑖</m:t>
                                  </m:r>
                                </m:sub>
                                <m:sup>
                                  <m:r>
                                    <a:rPr lang="da-DK" b="0" i="1" smtClean="0">
                                      <a:solidFill>
                                        <a:srgbClr val="666666"/>
                                      </a:solidFill>
                                      <a:latin typeface="Cambria Math" panose="02040503050406030204" pitchFamily="18" charset="0"/>
                                    </a:rPr>
                                    <m:t>2</m:t>
                                  </m:r>
                                </m:sup>
                              </m:sSubSup>
                            </m:den>
                          </m:f>
                        </m:e>
                      </m:nary>
                    </m:oMath>
                  </m:oMathPara>
                </a14:m>
                <a:endParaRPr lang="en-GB" dirty="0">
                  <a:solidFill>
                    <a:srgbClr val="666666"/>
                  </a:solidFill>
                </a:endParaRPr>
              </a:p>
            </p:txBody>
          </p:sp>
        </mc:Choice>
        <mc:Fallback xmlns="">
          <p:sp>
            <p:nvSpPr>
              <p:cNvPr id="10" name="TextBox 9">
                <a:extLst>
                  <a:ext uri="{FF2B5EF4-FFF2-40B4-BE49-F238E27FC236}">
                    <a16:creationId xmlns:a16="http://schemas.microsoft.com/office/drawing/2014/main" id="{DBC520CE-182F-57D2-1F3B-C94912C00594}"/>
                  </a:ext>
                </a:extLst>
              </p:cNvPr>
              <p:cNvSpPr txBox="1">
                <a:spLocks noRot="1" noChangeAspect="1" noMove="1" noResize="1" noEditPoints="1" noAdjustHandles="1" noChangeArrowheads="1" noChangeShapeType="1" noTextEdit="1"/>
              </p:cNvSpPr>
              <p:nvPr/>
            </p:nvSpPr>
            <p:spPr>
              <a:xfrm>
                <a:off x="4880011" y="2645229"/>
                <a:ext cx="2724400" cy="69538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CB3952B-93E9-6AF2-0F98-F6FBE19E8B1D}"/>
                  </a:ext>
                </a:extLst>
              </p:cNvPr>
              <p:cNvSpPr txBox="1"/>
              <p:nvPr/>
            </p:nvSpPr>
            <p:spPr>
              <a:xfrm>
                <a:off x="5239657" y="3888594"/>
                <a:ext cx="718402" cy="338554"/>
              </a:xfrm>
              <a:prstGeom prst="rect">
                <a:avLst/>
              </a:prstGeom>
              <a:noFill/>
            </p:spPr>
            <p:txBody>
              <a:bodyPr wrap="none" lIns="0" tIns="0" rIns="0" bIns="0" rtlCol="0">
                <a:spAutoFit/>
              </a:bodyPr>
              <a:lstStyle/>
              <a:p>
                <a:pPr algn="l"/>
                <a14:m>
                  <m:oMathPara xmlns:m="http://schemas.openxmlformats.org/officeDocument/2006/math">
                    <m:oMath>
                      <m:sSup>
                        <m:sSupPr>
                          <m:ctrlPr>
                            <a:rPr lang="da-DK" sz="1100" b="0" i="1" smtClean="0">
                              <a:solidFill>
                                <a:srgbClr val="666666"/>
                              </a:solidFill>
                              <a:latin typeface="Cambria Math" panose="02040503050406030204" pitchFamily="18" charset="0"/>
                            </a:rPr>
                          </m:ctrlPr>
                        </m:sSupPr>
                        <m:e>
                          <m:r>
                            <a:rPr lang="da-DK" sz="1100" b="0" i="1" smtClean="0">
                              <a:solidFill>
                                <a:srgbClr val="666666"/>
                              </a:solidFill>
                              <a:latin typeface="Cambria Math" panose="02040503050406030204" pitchFamily="18" charset="0"/>
                            </a:rPr>
                            <m:t>𝜒</m:t>
                          </m:r>
                        </m:e>
                        <m:sup>
                          <m:r>
                            <a:rPr lang="da-DK" sz="1100" b="0" i="1" smtClean="0">
                              <a:solidFill>
                                <a:srgbClr val="666666"/>
                              </a:solidFill>
                              <a:latin typeface="Cambria Math" panose="02040503050406030204" pitchFamily="18" charset="0"/>
                            </a:rPr>
                            <m:t>2</m:t>
                          </m:r>
                        </m:sup>
                      </m:sSup>
                      <m:r>
                        <a:rPr lang="da-DK" sz="1100" b="0" i="1" smtClean="0">
                          <a:solidFill>
                            <a:srgbClr val="666666"/>
                          </a:solidFill>
                          <a:latin typeface="Cambria Math" panose="02040503050406030204" pitchFamily="18" charset="0"/>
                        </a:rPr>
                        <m:t>=22.75</m:t>
                      </m:r>
                    </m:oMath>
                  </m:oMathPara>
                </a14:m>
                <a:endParaRPr lang="da-DK" sz="1100" b="0" i="1" dirty="0">
                  <a:solidFill>
                    <a:srgbClr val="666666"/>
                  </a:solidFill>
                  <a:latin typeface="Cambria Math" panose="02040503050406030204" pitchFamily="18" charset="0"/>
                </a:endParaRPr>
              </a:p>
              <a:p>
                <a:pPr algn="l"/>
                <a14:m>
                  <m:oMathPara xmlns:m="http://schemas.openxmlformats.org/officeDocument/2006/math">
                    <m:oMath>
                      <m:sSubSup>
                        <m:sSubSupPr>
                          <m:ctrlPr>
                            <a:rPr lang="da-DK" sz="1100" b="0" i="1" smtClean="0">
                              <a:solidFill>
                                <a:srgbClr val="666666"/>
                              </a:solidFill>
                              <a:latin typeface="Cambria Math" panose="02040503050406030204" pitchFamily="18" charset="0"/>
                            </a:rPr>
                          </m:ctrlPr>
                        </m:sSubSupPr>
                        <m:e>
                          <m:r>
                            <a:rPr lang="da-DK" sz="1100" b="0" i="1" smtClean="0">
                              <a:solidFill>
                                <a:srgbClr val="666666"/>
                              </a:solidFill>
                              <a:latin typeface="Cambria Math" panose="02040503050406030204" pitchFamily="18" charset="0"/>
                            </a:rPr>
                            <m:t>𝜒</m:t>
                          </m:r>
                        </m:e>
                        <m:sub>
                          <m:r>
                            <a:rPr lang="da-DK" sz="1100" b="0" i="1" smtClean="0">
                              <a:solidFill>
                                <a:srgbClr val="666666"/>
                              </a:solidFill>
                              <a:latin typeface="Cambria Math" panose="02040503050406030204" pitchFamily="18" charset="0"/>
                            </a:rPr>
                            <m:t>𝜈</m:t>
                          </m:r>
                        </m:sub>
                        <m:sup>
                          <m:r>
                            <a:rPr lang="da-DK" sz="1100" b="0" i="1" smtClean="0">
                              <a:solidFill>
                                <a:srgbClr val="666666"/>
                              </a:solidFill>
                              <a:latin typeface="Cambria Math" panose="02040503050406030204" pitchFamily="18" charset="0"/>
                            </a:rPr>
                            <m:t>2</m:t>
                          </m:r>
                        </m:sup>
                      </m:sSubSup>
                      <m:r>
                        <a:rPr lang="da-DK" sz="1100" b="0" i="1" smtClean="0">
                          <a:solidFill>
                            <a:srgbClr val="666666"/>
                          </a:solidFill>
                          <a:latin typeface="Cambria Math" panose="02040503050406030204" pitchFamily="18" charset="0"/>
                        </a:rPr>
                        <m:t>=1.034</m:t>
                      </m:r>
                    </m:oMath>
                  </m:oMathPara>
                </a14:m>
                <a:endParaRPr lang="en-GB" sz="1100" dirty="0">
                  <a:solidFill>
                    <a:srgbClr val="666666"/>
                  </a:solidFill>
                </a:endParaRPr>
              </a:p>
            </p:txBody>
          </p:sp>
        </mc:Choice>
        <mc:Fallback xmlns="">
          <p:sp>
            <p:nvSpPr>
              <p:cNvPr id="11" name="TextBox 10">
                <a:extLst>
                  <a:ext uri="{FF2B5EF4-FFF2-40B4-BE49-F238E27FC236}">
                    <a16:creationId xmlns:a16="http://schemas.microsoft.com/office/drawing/2014/main" id="{FCB3952B-93E9-6AF2-0F98-F6FBE19E8B1D}"/>
                  </a:ext>
                </a:extLst>
              </p:cNvPr>
              <p:cNvSpPr txBox="1">
                <a:spLocks noRot="1" noChangeAspect="1" noMove="1" noResize="1" noEditPoints="1" noAdjustHandles="1" noChangeArrowheads="1" noChangeShapeType="1" noTextEdit="1"/>
              </p:cNvSpPr>
              <p:nvPr/>
            </p:nvSpPr>
            <p:spPr>
              <a:xfrm>
                <a:off x="5239657" y="3888594"/>
                <a:ext cx="718402" cy="338554"/>
              </a:xfrm>
              <a:prstGeom prst="rect">
                <a:avLst/>
              </a:prstGeom>
              <a:blipFill>
                <a:blip r:embed="rId5"/>
                <a:stretch>
                  <a:fillRect l="-3419" r="-5128" b="-127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E935508-866B-CB0D-78B5-CEC75D761AD0}"/>
                  </a:ext>
                </a:extLst>
              </p:cNvPr>
              <p:cNvSpPr txBox="1"/>
              <p:nvPr/>
            </p:nvSpPr>
            <p:spPr>
              <a:xfrm>
                <a:off x="6430187" y="4893852"/>
                <a:ext cx="1336648" cy="338554"/>
              </a:xfrm>
              <a:prstGeom prst="rect">
                <a:avLst/>
              </a:prstGeom>
              <a:noFill/>
            </p:spPr>
            <p:txBody>
              <a:bodyPr wrap="square" lIns="0" tIns="0" rIns="0" bIns="0" rtlCol="0">
                <a:spAutoFit/>
              </a:bodyPr>
              <a:lstStyle/>
              <a:p>
                <a:pPr algn="l"/>
                <a14:m>
                  <m:oMathPara xmlns:m="http://schemas.openxmlformats.org/officeDocument/2006/math">
                    <m:oMath>
                      <m:r>
                        <a:rPr lang="da-DK" sz="1100" b="0" i="1" smtClean="0">
                          <a:solidFill>
                            <a:srgbClr val="0099DC"/>
                          </a:solidFill>
                          <a:latin typeface="Cambria Math" panose="02040503050406030204" pitchFamily="18" charset="0"/>
                        </a:rPr>
                        <m:t>𝑦</m:t>
                      </m:r>
                      <m:r>
                        <a:rPr lang="da-DK" sz="1100" b="0" i="1" smtClean="0">
                          <a:solidFill>
                            <a:srgbClr val="0099DC"/>
                          </a:solidFill>
                          <a:latin typeface="Cambria Math" panose="02040503050406030204" pitchFamily="18" charset="0"/>
                        </a:rPr>
                        <m:t>=</m:t>
                      </m:r>
                      <m:r>
                        <a:rPr lang="da-DK" sz="1100" b="0" i="1" smtClean="0">
                          <a:solidFill>
                            <a:srgbClr val="0099DC"/>
                          </a:solidFill>
                          <a:latin typeface="Cambria Math" panose="02040503050406030204" pitchFamily="18" charset="0"/>
                        </a:rPr>
                        <m:t>𝑚𝑥</m:t>
                      </m:r>
                      <m:r>
                        <a:rPr lang="da-DK" sz="1100" b="0" i="1" smtClean="0">
                          <a:solidFill>
                            <a:srgbClr val="0099DC"/>
                          </a:solidFill>
                          <a:latin typeface="Cambria Math" panose="02040503050406030204" pitchFamily="18" charset="0"/>
                        </a:rPr>
                        <m:t>+</m:t>
                      </m:r>
                      <m:r>
                        <a:rPr lang="da-DK" sz="1100" b="0" i="1" smtClean="0">
                          <a:solidFill>
                            <a:srgbClr val="0099DC"/>
                          </a:solidFill>
                          <a:latin typeface="Cambria Math" panose="02040503050406030204" pitchFamily="18" charset="0"/>
                        </a:rPr>
                        <m:t>𝑐</m:t>
                      </m:r>
                    </m:oMath>
                  </m:oMathPara>
                </a14:m>
                <a:endParaRPr lang="da-DK" sz="1100" b="0" i="1" dirty="0">
                  <a:solidFill>
                    <a:srgbClr val="0099DC"/>
                  </a:solidFill>
                  <a:latin typeface="Cambria Math" panose="02040503050406030204" pitchFamily="18" charset="0"/>
                </a:endParaRPr>
              </a:p>
              <a:p>
                <a:pPr algn="l"/>
                <a14:m>
                  <m:oMathPara xmlns:m="http://schemas.openxmlformats.org/officeDocument/2006/math">
                    <m:oMath>
                      <m:r>
                        <a:rPr lang="da-DK" sz="1100" b="0" i="1" smtClean="0">
                          <a:solidFill>
                            <a:srgbClr val="0099DC"/>
                          </a:solidFill>
                          <a:latin typeface="Cambria Math" panose="02040503050406030204" pitchFamily="18" charset="0"/>
                        </a:rPr>
                        <m:t>𝑦</m:t>
                      </m:r>
                      <m:r>
                        <a:rPr lang="da-DK" sz="1100" b="0" i="1" smtClean="0">
                          <a:solidFill>
                            <a:srgbClr val="0099DC"/>
                          </a:solidFill>
                          <a:latin typeface="Cambria Math" panose="02040503050406030204" pitchFamily="18" charset="0"/>
                        </a:rPr>
                        <m:t>=2.5</m:t>
                      </m:r>
                      <m:r>
                        <a:rPr lang="da-DK" sz="1100" b="0" i="1" smtClean="0">
                          <a:solidFill>
                            <a:srgbClr val="0099DC"/>
                          </a:solidFill>
                          <a:latin typeface="Cambria Math" panose="02040503050406030204" pitchFamily="18" charset="0"/>
                        </a:rPr>
                        <m:t>𝑥</m:t>
                      </m:r>
                      <m:r>
                        <a:rPr lang="da-DK" sz="1100" b="0" i="1" smtClean="0">
                          <a:solidFill>
                            <a:srgbClr val="0099DC"/>
                          </a:solidFill>
                          <a:latin typeface="Cambria Math" panose="02040503050406030204" pitchFamily="18" charset="0"/>
                        </a:rPr>
                        <m:t>+1</m:t>
                      </m:r>
                    </m:oMath>
                  </m:oMathPara>
                </a14:m>
                <a:endParaRPr lang="en-GB" sz="1100" dirty="0">
                  <a:solidFill>
                    <a:srgbClr val="0099DC"/>
                  </a:solidFill>
                </a:endParaRPr>
              </a:p>
            </p:txBody>
          </p:sp>
        </mc:Choice>
        <mc:Fallback xmlns="">
          <p:sp>
            <p:nvSpPr>
              <p:cNvPr id="13" name="TextBox 12">
                <a:extLst>
                  <a:ext uri="{FF2B5EF4-FFF2-40B4-BE49-F238E27FC236}">
                    <a16:creationId xmlns:a16="http://schemas.microsoft.com/office/drawing/2014/main" id="{3E935508-866B-CB0D-78B5-CEC75D761AD0}"/>
                  </a:ext>
                </a:extLst>
              </p:cNvPr>
              <p:cNvSpPr txBox="1">
                <a:spLocks noRot="1" noChangeAspect="1" noMove="1" noResize="1" noEditPoints="1" noAdjustHandles="1" noChangeArrowheads="1" noChangeShapeType="1" noTextEdit="1"/>
              </p:cNvSpPr>
              <p:nvPr/>
            </p:nvSpPr>
            <p:spPr>
              <a:xfrm>
                <a:off x="6430187" y="4893852"/>
                <a:ext cx="1336648" cy="338554"/>
              </a:xfrm>
              <a:prstGeom prst="rect">
                <a:avLst/>
              </a:prstGeom>
              <a:blipFill>
                <a:blip r:embed="rId6"/>
                <a:stretch>
                  <a:fillRect b="-14545"/>
                </a:stretch>
              </a:blipFill>
            </p:spPr>
            <p:txBody>
              <a:bodyPr/>
              <a:lstStyle/>
              <a:p>
                <a:r>
                  <a:rPr lang="en-GB">
                    <a:noFill/>
                  </a:rPr>
                  <a:t> </a:t>
                </a:r>
              </a:p>
            </p:txBody>
          </p:sp>
        </mc:Fallback>
      </mc:AlternateContent>
    </p:spTree>
    <p:extLst>
      <p:ext uri="{BB962C8B-B14F-4D97-AF65-F5344CB8AC3E}">
        <p14:creationId xmlns:p14="http://schemas.microsoft.com/office/powerpoint/2010/main" val="3644696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7EA13-9196-7516-04F1-2B04C881976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348569-8AA0-F2F1-C2B0-D427B6409AC8}"/>
              </a:ext>
            </a:extLst>
          </p:cNvPr>
          <p:cNvSpPr>
            <a:spLocks noGrp="1"/>
          </p:cNvSpPr>
          <p:nvPr>
            <p:ph type="sldNum" sz="quarter" idx="12"/>
          </p:nvPr>
        </p:nvSpPr>
        <p:spPr/>
        <p:txBody>
          <a:bodyPr/>
          <a:lstStyle/>
          <a:p>
            <a:fld id="{F7283078-D760-1647-8B80-66BA8B52336D}" type="slidenum">
              <a:rPr lang="en-GB" smtClean="0"/>
              <a:t>28</a:t>
            </a:fld>
            <a:endParaRPr lang="en-GB"/>
          </a:p>
        </p:txBody>
      </p:sp>
      <p:sp>
        <p:nvSpPr>
          <p:cNvPr id="8" name="Date Placeholder 7">
            <a:extLst>
              <a:ext uri="{FF2B5EF4-FFF2-40B4-BE49-F238E27FC236}">
                <a16:creationId xmlns:a16="http://schemas.microsoft.com/office/drawing/2014/main" id="{06C50485-45BB-2D0C-AF91-C8E35F327FC3}"/>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9F9E939-7446-ED82-3592-DFFDF614EE63}"/>
                  </a:ext>
                </a:extLst>
              </p:cNvPr>
              <p:cNvSpPr txBox="1"/>
              <p:nvPr/>
            </p:nvSpPr>
            <p:spPr>
              <a:xfrm>
                <a:off x="2231594" y="1515988"/>
                <a:ext cx="7140096" cy="1243610"/>
              </a:xfrm>
              <a:prstGeom prst="rect">
                <a:avLst/>
              </a:prstGeom>
              <a:noFill/>
            </p:spPr>
            <p:txBody>
              <a:bodyPr wrap="none" lIns="0" tIns="0" rIns="0" bIns="0" rtlCol="0">
                <a:spAutoFit/>
              </a:bodyPr>
              <a:lstStyle/>
              <a:p>
                <a14:m>
                  <m:oMathPara xmlns:m="http://schemas.openxmlformats.org/officeDocument/2006/math">
                    <m:oMath>
                      <m:borderBox>
                        <m:borderBoxPr>
                          <m:ctrlPr>
                            <a:rPr lang="da-DK" sz="3200" i="1">
                              <a:solidFill>
                                <a:srgbClr val="666666"/>
                              </a:solidFill>
                              <a:latin typeface="Cambria Math" panose="02040503050406030204" pitchFamily="18" charset="0"/>
                            </a:rPr>
                          </m:ctrlPr>
                        </m:borderBoxPr>
                        <m:e>
                          <m:r>
                            <a:rPr lang="da-DK" sz="3200" i="1">
                              <a:solidFill>
                                <a:srgbClr val="666666"/>
                              </a:solidFill>
                              <a:latin typeface="Cambria Math" panose="02040503050406030204" pitchFamily="18" charset="0"/>
                            </a:rPr>
                            <m:t>𝑃</m:t>
                          </m:r>
                          <m:d>
                            <m:dPr>
                              <m:ctrlPr>
                                <a:rPr lang="da-DK" sz="3200" i="1">
                                  <a:solidFill>
                                    <a:srgbClr val="666666"/>
                                  </a:solidFill>
                                  <a:latin typeface="Cambria Math" panose="02040503050406030204" pitchFamily="18" charset="0"/>
                                </a:rPr>
                              </m:ctrlPr>
                            </m:dPr>
                            <m:e>
                              <m:r>
                                <a:rPr lang="da-DK" sz="3200" i="1">
                                  <a:solidFill>
                                    <a:srgbClr val="666666"/>
                                  </a:solidFill>
                                  <a:latin typeface="Cambria Math" panose="02040503050406030204" pitchFamily="18" charset="0"/>
                                </a:rPr>
                                <m:t>𝐻</m:t>
                              </m:r>
                            </m:e>
                            <m:e>
                              <m:r>
                                <a:rPr lang="da-DK" sz="3200" i="1">
                                  <a:solidFill>
                                    <a:srgbClr val="666666"/>
                                  </a:solidFill>
                                  <a:latin typeface="Cambria Math" panose="02040503050406030204" pitchFamily="18" charset="0"/>
                                </a:rPr>
                                <m:t>𝐸</m:t>
                              </m:r>
                            </m:e>
                          </m:d>
                          <m:r>
                            <a:rPr lang="da-DK" sz="3200" i="1">
                              <a:solidFill>
                                <a:srgbClr val="666666"/>
                              </a:solidFill>
                              <a:latin typeface="Cambria Math" panose="02040503050406030204" pitchFamily="18" charset="0"/>
                            </a:rPr>
                            <m:t>=</m:t>
                          </m:r>
                          <m:f>
                            <m:fPr>
                              <m:ctrlPr>
                                <a:rPr lang="da-DK" sz="3200" i="1">
                                  <a:solidFill>
                                    <a:srgbClr val="666666"/>
                                  </a:solidFill>
                                  <a:latin typeface="Cambria Math" panose="02040503050406030204" pitchFamily="18" charset="0"/>
                                </a:rPr>
                              </m:ctrlPr>
                            </m:fPr>
                            <m:num>
                              <m:r>
                                <a:rPr lang="da-DK" sz="3200" i="1">
                                  <a:solidFill>
                                    <a:srgbClr val="666666"/>
                                  </a:solidFill>
                                  <a:latin typeface="Cambria Math" panose="02040503050406030204" pitchFamily="18" charset="0"/>
                                </a:rPr>
                                <m:t>𝑃</m:t>
                              </m:r>
                              <m:d>
                                <m:dPr>
                                  <m:ctrlPr>
                                    <a:rPr lang="da-DK" sz="3200" i="1">
                                      <a:solidFill>
                                        <a:srgbClr val="666666"/>
                                      </a:solidFill>
                                      <a:latin typeface="Cambria Math" panose="02040503050406030204" pitchFamily="18" charset="0"/>
                                    </a:rPr>
                                  </m:ctrlPr>
                                </m:dPr>
                                <m:e>
                                  <m:r>
                                    <a:rPr lang="da-DK" sz="3200" i="1">
                                      <a:solidFill>
                                        <a:srgbClr val="666666"/>
                                      </a:solidFill>
                                      <a:latin typeface="Cambria Math" panose="02040503050406030204" pitchFamily="18" charset="0"/>
                                    </a:rPr>
                                    <m:t>𝐸</m:t>
                                  </m:r>
                                </m:e>
                                <m:e>
                                  <m:r>
                                    <a:rPr lang="da-DK" sz="3200" i="1">
                                      <a:solidFill>
                                        <a:srgbClr val="666666"/>
                                      </a:solidFill>
                                      <a:latin typeface="Cambria Math" panose="02040503050406030204" pitchFamily="18" charset="0"/>
                                    </a:rPr>
                                    <m:t>𝐻</m:t>
                                  </m:r>
                                </m:e>
                              </m:d>
                              <m:r>
                                <a:rPr lang="da-DK" sz="3200" i="1">
                                  <a:solidFill>
                                    <a:srgbClr val="666666"/>
                                  </a:solidFill>
                                  <a:latin typeface="Cambria Math" panose="02040503050406030204" pitchFamily="18" charset="0"/>
                                </a:rPr>
                                <m:t>𝑃</m:t>
                              </m:r>
                              <m:d>
                                <m:dPr>
                                  <m:ctrlPr>
                                    <a:rPr lang="da-DK" sz="3200" i="1">
                                      <a:solidFill>
                                        <a:srgbClr val="666666"/>
                                      </a:solidFill>
                                      <a:latin typeface="Cambria Math" panose="02040503050406030204" pitchFamily="18" charset="0"/>
                                    </a:rPr>
                                  </m:ctrlPr>
                                </m:dPr>
                                <m:e>
                                  <m:r>
                                    <a:rPr lang="da-DK" sz="3200" i="1">
                                      <a:solidFill>
                                        <a:srgbClr val="666666"/>
                                      </a:solidFill>
                                      <a:latin typeface="Cambria Math" panose="02040503050406030204" pitchFamily="18" charset="0"/>
                                    </a:rPr>
                                    <m:t>𝐻</m:t>
                                  </m:r>
                                </m:e>
                              </m:d>
                            </m:num>
                            <m:den>
                              <m:r>
                                <a:rPr lang="da-DK" sz="3200" i="1">
                                  <a:solidFill>
                                    <a:srgbClr val="666666"/>
                                  </a:solidFill>
                                  <a:latin typeface="Cambria Math" panose="02040503050406030204" pitchFamily="18" charset="0"/>
                                </a:rPr>
                                <m:t>𝑃</m:t>
                              </m:r>
                              <m:d>
                                <m:dPr>
                                  <m:ctrlPr>
                                    <a:rPr lang="da-DK" sz="3200" i="1">
                                      <a:solidFill>
                                        <a:srgbClr val="666666"/>
                                      </a:solidFill>
                                      <a:latin typeface="Cambria Math" panose="02040503050406030204" pitchFamily="18" charset="0"/>
                                    </a:rPr>
                                  </m:ctrlPr>
                                </m:dPr>
                                <m:e>
                                  <m:r>
                                    <a:rPr lang="da-DK" sz="3200" i="1">
                                      <a:solidFill>
                                        <a:srgbClr val="666666"/>
                                      </a:solidFill>
                                      <a:latin typeface="Cambria Math" panose="02040503050406030204" pitchFamily="18" charset="0"/>
                                    </a:rPr>
                                    <m:t>𝐸</m:t>
                                  </m:r>
                                </m:e>
                              </m:d>
                            </m:den>
                          </m:f>
                          <m:r>
                            <a:rPr lang="da-DK" sz="3200" i="1">
                              <a:solidFill>
                                <a:srgbClr val="666666"/>
                              </a:solidFill>
                              <a:latin typeface="Cambria Math" panose="02040503050406030204" pitchFamily="18" charset="0"/>
                            </a:rPr>
                            <m:t>∝</m:t>
                          </m:r>
                          <m:r>
                            <a:rPr lang="da-DK" sz="3200" i="1">
                              <a:solidFill>
                                <a:srgbClr val="666666"/>
                              </a:solidFill>
                              <a:latin typeface="Cambria Math" panose="02040503050406030204" pitchFamily="18" charset="0"/>
                            </a:rPr>
                            <m:t>𝑃</m:t>
                          </m:r>
                          <m:d>
                            <m:dPr>
                              <m:ctrlPr>
                                <a:rPr lang="da-DK" sz="3200" i="1">
                                  <a:solidFill>
                                    <a:srgbClr val="666666"/>
                                  </a:solidFill>
                                  <a:latin typeface="Cambria Math" panose="02040503050406030204" pitchFamily="18" charset="0"/>
                                </a:rPr>
                              </m:ctrlPr>
                            </m:dPr>
                            <m:e>
                              <m:r>
                                <a:rPr lang="da-DK" sz="3200" i="1">
                                  <a:solidFill>
                                    <a:srgbClr val="666666"/>
                                  </a:solidFill>
                                  <a:latin typeface="Cambria Math" panose="02040503050406030204" pitchFamily="18" charset="0"/>
                                </a:rPr>
                                <m:t>𝐸</m:t>
                              </m:r>
                            </m:e>
                            <m:e>
                              <m:r>
                                <a:rPr lang="da-DK" sz="3200" i="1">
                                  <a:solidFill>
                                    <a:srgbClr val="666666"/>
                                  </a:solidFill>
                                  <a:latin typeface="Cambria Math" panose="02040503050406030204" pitchFamily="18" charset="0"/>
                                </a:rPr>
                                <m:t>𝐻</m:t>
                              </m:r>
                            </m:e>
                          </m:d>
                          <m:r>
                            <a:rPr lang="da-DK" sz="3200" i="1">
                              <a:solidFill>
                                <a:srgbClr val="666666"/>
                              </a:solidFill>
                              <a:latin typeface="Cambria Math" panose="02040503050406030204" pitchFamily="18" charset="0"/>
                            </a:rPr>
                            <m:t>𝑃</m:t>
                          </m:r>
                          <m:d>
                            <m:dPr>
                              <m:ctrlPr>
                                <a:rPr lang="da-DK" sz="3200" i="1">
                                  <a:solidFill>
                                    <a:srgbClr val="666666"/>
                                  </a:solidFill>
                                  <a:latin typeface="Cambria Math" panose="02040503050406030204" pitchFamily="18" charset="0"/>
                                </a:rPr>
                              </m:ctrlPr>
                            </m:dPr>
                            <m:e>
                              <m:r>
                                <a:rPr lang="da-DK" sz="3200" i="1">
                                  <a:solidFill>
                                    <a:srgbClr val="666666"/>
                                  </a:solidFill>
                                  <a:latin typeface="Cambria Math" panose="02040503050406030204" pitchFamily="18" charset="0"/>
                                </a:rPr>
                                <m:t>𝐻</m:t>
                              </m:r>
                            </m:e>
                          </m:d>
                        </m:e>
                      </m:borderBox>
                    </m:oMath>
                  </m:oMathPara>
                </a14:m>
                <a:endParaRPr lang="en-GB" sz="3200" dirty="0">
                  <a:solidFill>
                    <a:srgbClr val="666666"/>
                  </a:solidFill>
                </a:endParaRPr>
              </a:p>
            </p:txBody>
          </p:sp>
        </mc:Choice>
        <mc:Fallback>
          <p:sp>
            <p:nvSpPr>
              <p:cNvPr id="3" name="TextBox 2">
                <a:extLst>
                  <a:ext uri="{FF2B5EF4-FFF2-40B4-BE49-F238E27FC236}">
                    <a16:creationId xmlns:a16="http://schemas.microsoft.com/office/drawing/2014/main" id="{79F9E939-7446-ED82-3592-DFFDF614EE63}"/>
                  </a:ext>
                </a:extLst>
              </p:cNvPr>
              <p:cNvSpPr txBox="1">
                <a:spLocks noRot="1" noChangeAspect="1" noMove="1" noResize="1" noEditPoints="1" noAdjustHandles="1" noChangeArrowheads="1" noChangeShapeType="1" noTextEdit="1"/>
              </p:cNvSpPr>
              <p:nvPr/>
            </p:nvSpPr>
            <p:spPr>
              <a:xfrm>
                <a:off x="2231594" y="1515988"/>
                <a:ext cx="7140096" cy="1243610"/>
              </a:xfrm>
              <a:prstGeom prst="rect">
                <a:avLst/>
              </a:prstGeom>
              <a:blipFill>
                <a:blip r:embed="rId3"/>
                <a:stretch>
                  <a:fillRect/>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D6C77737-0D13-58B1-2DC9-FF694240723E}"/>
              </a:ext>
            </a:extLst>
          </p:cNvPr>
          <p:cNvSpPr txBox="1"/>
          <p:nvPr/>
        </p:nvSpPr>
        <p:spPr>
          <a:xfrm>
            <a:off x="1705696" y="5512662"/>
            <a:ext cx="8191892" cy="369332"/>
          </a:xfrm>
          <a:prstGeom prst="rect">
            <a:avLst/>
          </a:prstGeom>
          <a:noFill/>
        </p:spPr>
        <p:txBody>
          <a:bodyPr wrap="square" rtlCol="0">
            <a:spAutoFit/>
          </a:bodyPr>
          <a:lstStyle/>
          <a:p>
            <a:pPr algn="l"/>
            <a:r>
              <a:rPr lang="da-DK" b="1" dirty="0" err="1">
                <a:solidFill>
                  <a:srgbClr val="666666"/>
                </a:solidFill>
              </a:rPr>
              <a:t>Markov</a:t>
            </a:r>
            <a:r>
              <a:rPr lang="da-DK" b="1" dirty="0">
                <a:solidFill>
                  <a:srgbClr val="666666"/>
                </a:solidFill>
              </a:rPr>
              <a:t> </a:t>
            </a:r>
            <a:r>
              <a:rPr lang="da-DK" b="1" dirty="0" err="1">
                <a:solidFill>
                  <a:srgbClr val="666666"/>
                </a:solidFill>
              </a:rPr>
              <a:t>chain</a:t>
            </a:r>
            <a:r>
              <a:rPr lang="da-DK" b="1" dirty="0">
                <a:solidFill>
                  <a:srgbClr val="666666"/>
                </a:solidFill>
              </a:rPr>
              <a:t> Monte Carlo:</a:t>
            </a:r>
            <a:r>
              <a:rPr lang="da-DK" dirty="0">
                <a:solidFill>
                  <a:srgbClr val="666666"/>
                </a:solidFill>
              </a:rPr>
              <a:t> Samples the </a:t>
            </a:r>
            <a:r>
              <a:rPr lang="da-DK" dirty="0" err="1">
                <a:solidFill>
                  <a:srgbClr val="666666"/>
                </a:solidFill>
              </a:rPr>
              <a:t>posterior</a:t>
            </a:r>
            <a:r>
              <a:rPr lang="da-DK" dirty="0">
                <a:solidFill>
                  <a:srgbClr val="666666"/>
                </a:solidFill>
              </a:rPr>
              <a:t> and </a:t>
            </a:r>
            <a:r>
              <a:rPr lang="da-DK" dirty="0" err="1">
                <a:solidFill>
                  <a:srgbClr val="666666"/>
                </a:solidFill>
              </a:rPr>
              <a:t>quantifies</a:t>
            </a:r>
            <a:r>
              <a:rPr lang="da-DK" dirty="0">
                <a:solidFill>
                  <a:srgbClr val="666666"/>
                </a:solidFill>
              </a:rPr>
              <a:t> </a:t>
            </a:r>
            <a:r>
              <a:rPr lang="da-DK" dirty="0" err="1">
                <a:solidFill>
                  <a:srgbClr val="666666"/>
                </a:solidFill>
              </a:rPr>
              <a:t>correlation</a:t>
            </a:r>
            <a:r>
              <a:rPr lang="da-DK" dirty="0">
                <a:solidFill>
                  <a:srgbClr val="666666"/>
                </a:solidFill>
              </a:rPr>
              <a:t>.</a:t>
            </a:r>
            <a:endParaRPr lang="en-GB" b="1" dirty="0">
              <a:solidFill>
                <a:srgbClr val="666666"/>
              </a:solidFill>
            </a:endParaRPr>
          </a:p>
        </p:txBody>
      </p:sp>
      <p:sp>
        <p:nvSpPr>
          <p:cNvPr id="9" name="Title 1">
            <a:extLst>
              <a:ext uri="{FF2B5EF4-FFF2-40B4-BE49-F238E27FC236}">
                <a16:creationId xmlns:a16="http://schemas.microsoft.com/office/drawing/2014/main" id="{B21DDC13-560E-3B3D-07DE-23E516AB8BD6}"/>
              </a:ext>
            </a:extLst>
          </p:cNvPr>
          <p:cNvSpPr>
            <a:spLocks noGrp="1"/>
          </p:cNvSpPr>
          <p:nvPr>
            <p:ph type="title"/>
          </p:nvPr>
        </p:nvSpPr>
        <p:spPr>
          <a:xfrm>
            <a:off x="1103709" y="265373"/>
            <a:ext cx="9360000" cy="657339"/>
          </a:xfrm>
        </p:spPr>
        <p:txBody>
          <a:bodyPr/>
          <a:lstStyle/>
          <a:p>
            <a:r>
              <a:rPr lang="da-DK" dirty="0" err="1"/>
              <a:t>Bayesian</a:t>
            </a:r>
            <a:r>
              <a:rPr lang="da-DK" dirty="0"/>
              <a:t> </a:t>
            </a:r>
            <a:r>
              <a:rPr lang="da-DK" dirty="0" err="1"/>
              <a:t>analysis</a:t>
            </a:r>
            <a:endParaRPr lang="en-GB"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C6F19648-1644-F460-653F-DF76F2C265E1}"/>
                  </a:ext>
                </a:extLst>
              </p:cNvPr>
              <p:cNvSpPr txBox="1"/>
              <p:nvPr/>
            </p:nvSpPr>
            <p:spPr>
              <a:xfrm>
                <a:off x="2454506" y="3047175"/>
                <a:ext cx="7703901" cy="1754326"/>
              </a:xfrm>
              <a:prstGeom prst="rect">
                <a:avLst/>
              </a:prstGeom>
              <a:noFill/>
            </p:spPr>
            <p:txBody>
              <a:bodyPr wrap="square" rtlCol="0">
                <a:spAutoFit/>
              </a:bodyPr>
              <a:lstStyle/>
              <a:p>
                <a14:m>
                  <m:oMath xmlns:m="http://schemas.openxmlformats.org/officeDocument/2006/math">
                    <m:r>
                      <a:rPr lang="da-DK" b="0" i="1" smtClean="0">
                        <a:solidFill>
                          <a:srgbClr val="666666"/>
                        </a:solidFill>
                        <a:latin typeface="Cambria Math" panose="02040503050406030204" pitchFamily="18" charset="0"/>
                      </a:rPr>
                      <m:t>𝐸</m:t>
                    </m:r>
                  </m:oMath>
                </a14:m>
                <a:r>
                  <a:rPr lang="da-DK" b="0" dirty="0">
                    <a:solidFill>
                      <a:srgbClr val="666666"/>
                    </a:solidFill>
                  </a:rPr>
                  <a:t>	– </a:t>
                </a:r>
                <a:r>
                  <a:rPr lang="da-DK" b="0" dirty="0" err="1">
                    <a:solidFill>
                      <a:srgbClr val="666666"/>
                    </a:solidFill>
                  </a:rPr>
                  <a:t>Evidence</a:t>
                </a:r>
                <a:r>
                  <a:rPr lang="da-DK" b="0" dirty="0">
                    <a:solidFill>
                      <a:srgbClr val="666666"/>
                    </a:solidFill>
                  </a:rPr>
                  <a:t> (data) </a:t>
                </a:r>
              </a:p>
              <a:p>
                <a14:m>
                  <m:oMath xmlns:m="http://schemas.openxmlformats.org/officeDocument/2006/math">
                    <m:r>
                      <a:rPr lang="da-DK" b="0" i="1" smtClean="0">
                        <a:solidFill>
                          <a:srgbClr val="666666"/>
                        </a:solidFill>
                        <a:latin typeface="Cambria Math" panose="02040503050406030204" pitchFamily="18" charset="0"/>
                      </a:rPr>
                      <m:t>𝐻</m:t>
                    </m:r>
                  </m:oMath>
                </a14:m>
                <a:r>
                  <a:rPr lang="da-DK" dirty="0">
                    <a:solidFill>
                      <a:srgbClr val="666666"/>
                    </a:solidFill>
                  </a:rPr>
                  <a:t>	– </a:t>
                </a:r>
                <a:r>
                  <a:rPr lang="da-DK" b="0" dirty="0" err="1">
                    <a:solidFill>
                      <a:srgbClr val="666666"/>
                    </a:solidFill>
                  </a:rPr>
                  <a:t>Hypothesis</a:t>
                </a:r>
                <a:r>
                  <a:rPr lang="da-DK" b="0" dirty="0">
                    <a:solidFill>
                      <a:srgbClr val="666666"/>
                    </a:solidFill>
                  </a:rPr>
                  <a:t> (model parameters) </a:t>
                </a:r>
              </a:p>
              <a:p>
                <a14:m>
                  <m:oMath xmlns:m="http://schemas.openxmlformats.org/officeDocument/2006/math">
                    <m:r>
                      <a:rPr lang="da-DK" b="0" i="1" smtClean="0">
                        <a:solidFill>
                          <a:srgbClr val="666666"/>
                        </a:solidFill>
                        <a:latin typeface="Cambria Math" panose="02040503050406030204" pitchFamily="18" charset="0"/>
                      </a:rPr>
                      <m:t>𝑃</m:t>
                    </m:r>
                    <m:d>
                      <m:dPr>
                        <m:ctrlPr>
                          <a:rPr lang="da-DK" b="0" i="1" smtClean="0">
                            <a:solidFill>
                              <a:srgbClr val="666666"/>
                            </a:solidFill>
                            <a:latin typeface="Cambria Math" panose="02040503050406030204" pitchFamily="18" charset="0"/>
                          </a:rPr>
                        </m:ctrlPr>
                      </m:dPr>
                      <m:e>
                        <m:r>
                          <a:rPr lang="da-DK" b="0" i="1" smtClean="0">
                            <a:solidFill>
                              <a:srgbClr val="666666"/>
                            </a:solidFill>
                            <a:latin typeface="Cambria Math" panose="02040503050406030204" pitchFamily="18" charset="0"/>
                          </a:rPr>
                          <m:t>𝐻</m:t>
                        </m:r>
                      </m:e>
                      <m:e>
                        <m:r>
                          <a:rPr lang="da-DK" b="0" i="1" smtClean="0">
                            <a:solidFill>
                              <a:srgbClr val="666666"/>
                            </a:solidFill>
                            <a:latin typeface="Cambria Math" panose="02040503050406030204" pitchFamily="18" charset="0"/>
                          </a:rPr>
                          <m:t>𝐸</m:t>
                        </m:r>
                      </m:e>
                    </m:d>
                  </m:oMath>
                </a14:m>
                <a:r>
                  <a:rPr lang="en-GB" dirty="0">
                    <a:solidFill>
                      <a:srgbClr val="666666"/>
                    </a:solidFill>
                  </a:rPr>
                  <a:t>	</a:t>
                </a:r>
                <a:r>
                  <a:rPr lang="da-DK" dirty="0">
                    <a:solidFill>
                      <a:srgbClr val="666666"/>
                    </a:solidFill>
                  </a:rPr>
                  <a:t>– </a:t>
                </a:r>
                <a:r>
                  <a:rPr lang="en-GB" dirty="0" err="1">
                    <a:solidFill>
                      <a:srgbClr val="666666"/>
                    </a:solidFill>
                  </a:rPr>
                  <a:t>Posterier</a:t>
                </a:r>
                <a:r>
                  <a:rPr lang="en-GB" dirty="0">
                    <a:solidFill>
                      <a:srgbClr val="666666"/>
                    </a:solidFill>
                  </a:rPr>
                  <a:t> probability (likehood of model parameters, given data)</a:t>
                </a:r>
              </a:p>
              <a:p>
                <a14:m>
                  <m:oMath xmlns:m="http://schemas.openxmlformats.org/officeDocument/2006/math">
                    <m:r>
                      <a:rPr lang="da-DK" b="0" i="1" smtClean="0">
                        <a:solidFill>
                          <a:srgbClr val="666666"/>
                        </a:solidFill>
                        <a:latin typeface="Cambria Math" panose="02040503050406030204" pitchFamily="18" charset="0"/>
                      </a:rPr>
                      <m:t>𝑃</m:t>
                    </m:r>
                    <m:d>
                      <m:dPr>
                        <m:ctrlPr>
                          <a:rPr lang="da-DK" b="0" i="1" smtClean="0">
                            <a:solidFill>
                              <a:srgbClr val="666666"/>
                            </a:solidFill>
                            <a:latin typeface="Cambria Math" panose="02040503050406030204" pitchFamily="18" charset="0"/>
                          </a:rPr>
                        </m:ctrlPr>
                      </m:dPr>
                      <m:e>
                        <m:r>
                          <a:rPr lang="da-DK" b="0" i="1" smtClean="0">
                            <a:solidFill>
                              <a:srgbClr val="666666"/>
                            </a:solidFill>
                            <a:latin typeface="Cambria Math" panose="02040503050406030204" pitchFamily="18" charset="0"/>
                          </a:rPr>
                          <m:t>𝐸</m:t>
                        </m:r>
                      </m:e>
                      <m:e>
                        <m:r>
                          <a:rPr lang="da-DK" b="0" i="1" smtClean="0">
                            <a:solidFill>
                              <a:srgbClr val="666666"/>
                            </a:solidFill>
                            <a:latin typeface="Cambria Math" panose="02040503050406030204" pitchFamily="18" charset="0"/>
                          </a:rPr>
                          <m:t>𝐻</m:t>
                        </m:r>
                      </m:e>
                    </m:d>
                    <m:r>
                      <a:rPr lang="da-DK" b="0" i="1" smtClean="0">
                        <a:solidFill>
                          <a:srgbClr val="666666"/>
                        </a:solidFill>
                        <a:latin typeface="Cambria Math" panose="02040503050406030204" pitchFamily="18" charset="0"/>
                      </a:rPr>
                      <m:t> </m:t>
                    </m:r>
                  </m:oMath>
                </a14:m>
                <a:r>
                  <a:rPr lang="da-DK" dirty="0">
                    <a:solidFill>
                      <a:srgbClr val="666666"/>
                    </a:solidFill>
                  </a:rPr>
                  <a:t>	– </a:t>
                </a:r>
                <a:r>
                  <a:rPr lang="en-GB" dirty="0">
                    <a:solidFill>
                      <a:srgbClr val="666666"/>
                    </a:solidFill>
                  </a:rPr>
                  <a:t>Likelihood function (likelihood of data, given model parameters)</a:t>
                </a:r>
              </a:p>
              <a:p>
                <a14:m>
                  <m:oMath xmlns:m="http://schemas.openxmlformats.org/officeDocument/2006/math">
                    <m:r>
                      <a:rPr lang="da-DK" b="0" i="1" smtClean="0">
                        <a:solidFill>
                          <a:srgbClr val="666666"/>
                        </a:solidFill>
                        <a:latin typeface="Cambria Math" panose="02040503050406030204" pitchFamily="18" charset="0"/>
                      </a:rPr>
                      <m:t>𝑃</m:t>
                    </m:r>
                    <m:d>
                      <m:dPr>
                        <m:ctrlPr>
                          <a:rPr lang="da-DK" b="0" i="1" smtClean="0">
                            <a:solidFill>
                              <a:srgbClr val="666666"/>
                            </a:solidFill>
                            <a:latin typeface="Cambria Math" panose="02040503050406030204" pitchFamily="18" charset="0"/>
                          </a:rPr>
                        </m:ctrlPr>
                      </m:dPr>
                      <m:e>
                        <m:r>
                          <a:rPr lang="da-DK" b="0" i="1" smtClean="0">
                            <a:solidFill>
                              <a:srgbClr val="666666"/>
                            </a:solidFill>
                            <a:latin typeface="Cambria Math" panose="02040503050406030204" pitchFamily="18" charset="0"/>
                          </a:rPr>
                          <m:t>𝐻</m:t>
                        </m:r>
                      </m:e>
                    </m:d>
                  </m:oMath>
                </a14:m>
                <a:r>
                  <a:rPr lang="da-DK" dirty="0">
                    <a:solidFill>
                      <a:srgbClr val="666666"/>
                    </a:solidFill>
                  </a:rPr>
                  <a:t> 	– </a:t>
                </a:r>
                <a:r>
                  <a:rPr lang="en-GB" dirty="0">
                    <a:solidFill>
                      <a:srgbClr val="666666"/>
                    </a:solidFill>
                  </a:rPr>
                  <a:t>Prior (guessed probability of model parameters)</a:t>
                </a:r>
              </a:p>
              <a:p>
                <a14:m>
                  <m:oMath xmlns:m="http://schemas.openxmlformats.org/officeDocument/2006/math">
                    <m:r>
                      <a:rPr lang="da-DK" b="0" i="1" smtClean="0">
                        <a:solidFill>
                          <a:srgbClr val="666666"/>
                        </a:solidFill>
                        <a:latin typeface="Cambria Math" panose="02040503050406030204" pitchFamily="18" charset="0"/>
                      </a:rPr>
                      <m:t>𝑃</m:t>
                    </m:r>
                    <m:d>
                      <m:dPr>
                        <m:ctrlPr>
                          <a:rPr lang="da-DK" b="0" i="1" smtClean="0">
                            <a:solidFill>
                              <a:srgbClr val="666666"/>
                            </a:solidFill>
                            <a:latin typeface="Cambria Math" panose="02040503050406030204" pitchFamily="18" charset="0"/>
                          </a:rPr>
                        </m:ctrlPr>
                      </m:dPr>
                      <m:e>
                        <m:r>
                          <a:rPr lang="da-DK" b="0" i="1" smtClean="0">
                            <a:solidFill>
                              <a:srgbClr val="666666"/>
                            </a:solidFill>
                            <a:latin typeface="Cambria Math" panose="02040503050406030204" pitchFamily="18" charset="0"/>
                          </a:rPr>
                          <m:t>𝐸</m:t>
                        </m:r>
                      </m:e>
                    </m:d>
                  </m:oMath>
                </a14:m>
                <a:r>
                  <a:rPr lang="da-DK" dirty="0">
                    <a:solidFill>
                      <a:srgbClr val="666666"/>
                    </a:solidFill>
                  </a:rPr>
                  <a:t>	– </a:t>
                </a:r>
                <a:r>
                  <a:rPr lang="en-GB" dirty="0">
                    <a:solidFill>
                      <a:srgbClr val="666666"/>
                    </a:solidFill>
                  </a:rPr>
                  <a:t>Evidence term (probability of data in model)</a:t>
                </a:r>
              </a:p>
            </p:txBody>
          </p:sp>
        </mc:Choice>
        <mc:Fallback>
          <p:sp>
            <p:nvSpPr>
              <p:cNvPr id="10" name="TextBox 9">
                <a:extLst>
                  <a:ext uri="{FF2B5EF4-FFF2-40B4-BE49-F238E27FC236}">
                    <a16:creationId xmlns:a16="http://schemas.microsoft.com/office/drawing/2014/main" id="{C6F19648-1644-F460-653F-DF76F2C265E1}"/>
                  </a:ext>
                </a:extLst>
              </p:cNvPr>
              <p:cNvSpPr txBox="1">
                <a:spLocks noRot="1" noChangeAspect="1" noMove="1" noResize="1" noEditPoints="1" noAdjustHandles="1" noChangeArrowheads="1" noChangeShapeType="1" noTextEdit="1"/>
              </p:cNvSpPr>
              <p:nvPr/>
            </p:nvSpPr>
            <p:spPr>
              <a:xfrm>
                <a:off x="2454506" y="3047175"/>
                <a:ext cx="7703901" cy="1754326"/>
              </a:xfrm>
              <a:prstGeom prst="rect">
                <a:avLst/>
              </a:prstGeom>
              <a:blipFill>
                <a:blip r:embed="rId4"/>
                <a:stretch>
                  <a:fillRect t="-1736" r="-713" b="-4861"/>
                </a:stretch>
              </a:blipFill>
            </p:spPr>
            <p:txBody>
              <a:bodyPr/>
              <a:lstStyle/>
              <a:p>
                <a:r>
                  <a:rPr lang="en-GB">
                    <a:noFill/>
                  </a:rPr>
                  <a:t> </a:t>
                </a:r>
              </a:p>
            </p:txBody>
          </p:sp>
        </mc:Fallback>
      </mc:AlternateContent>
    </p:spTree>
    <p:extLst>
      <p:ext uri="{BB962C8B-B14F-4D97-AF65-F5344CB8AC3E}">
        <p14:creationId xmlns:p14="http://schemas.microsoft.com/office/powerpoint/2010/main" val="3581276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D78D3-960C-9F97-E1D3-40601E0F39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091CD-5DC1-88C1-76D2-3ABF5D616C10}"/>
              </a:ext>
            </a:extLst>
          </p:cNvPr>
          <p:cNvSpPr>
            <a:spLocks noGrp="1"/>
          </p:cNvSpPr>
          <p:nvPr>
            <p:ph type="title"/>
          </p:nvPr>
        </p:nvSpPr>
        <p:spPr>
          <a:xfrm>
            <a:off x="1103709" y="265373"/>
            <a:ext cx="9360000" cy="1181687"/>
          </a:xfrm>
        </p:spPr>
        <p:txBody>
          <a:bodyPr/>
          <a:lstStyle/>
          <a:p>
            <a:r>
              <a:rPr lang="da-DK" sz="3600" dirty="0" err="1"/>
              <a:t>Bayesian</a:t>
            </a:r>
            <a:r>
              <a:rPr lang="da-DK" sz="3600" dirty="0"/>
              <a:t> </a:t>
            </a:r>
            <a:r>
              <a:rPr lang="da-DK" sz="3600" dirty="0" err="1"/>
              <a:t>analysis</a:t>
            </a:r>
            <a:endParaRPr lang="en-GB" sz="3600" dirty="0"/>
          </a:p>
        </p:txBody>
      </p:sp>
      <p:sp>
        <p:nvSpPr>
          <p:cNvPr id="4" name="Slide Number Placeholder 3">
            <a:extLst>
              <a:ext uri="{FF2B5EF4-FFF2-40B4-BE49-F238E27FC236}">
                <a16:creationId xmlns:a16="http://schemas.microsoft.com/office/drawing/2014/main" id="{4950B415-121E-3289-EA26-A32A16535578}"/>
              </a:ext>
            </a:extLst>
          </p:cNvPr>
          <p:cNvSpPr>
            <a:spLocks noGrp="1"/>
          </p:cNvSpPr>
          <p:nvPr>
            <p:ph type="sldNum" sz="quarter" idx="12"/>
          </p:nvPr>
        </p:nvSpPr>
        <p:spPr/>
        <p:txBody>
          <a:bodyPr/>
          <a:lstStyle/>
          <a:p>
            <a:fld id="{F7283078-D760-1647-8B80-66BA8B52336D}" type="slidenum">
              <a:rPr lang="en-GB" smtClean="0"/>
              <a:t>29</a:t>
            </a:fld>
            <a:endParaRPr lang="en-GB"/>
          </a:p>
        </p:txBody>
      </p:sp>
      <p:sp>
        <p:nvSpPr>
          <p:cNvPr id="8" name="Date Placeholder 7">
            <a:extLst>
              <a:ext uri="{FF2B5EF4-FFF2-40B4-BE49-F238E27FC236}">
                <a16:creationId xmlns:a16="http://schemas.microsoft.com/office/drawing/2014/main" id="{7CD76D4F-FF65-3BF8-8CED-7AB8930EA8C1}"/>
              </a:ext>
            </a:extLst>
          </p:cNvPr>
          <p:cNvSpPr>
            <a:spLocks noGrp="1"/>
          </p:cNvSpPr>
          <p:nvPr>
            <p:ph type="dt" sz="half" idx="10"/>
          </p:nvPr>
        </p:nvSpPr>
        <p:spPr/>
        <p:txBody>
          <a:bodyPr/>
          <a:lstStyle/>
          <a:p>
            <a:fld id="{18896B66-0B3A-474C-9C9C-E4F07B1F5DAD}" type="datetime1">
              <a:rPr lang="en-GB" smtClean="0"/>
              <a:t>26/08/2026</a:t>
            </a:fld>
            <a:endParaRPr lang="en-GB"/>
          </a:p>
        </p:txBody>
      </p:sp>
      <p:pic>
        <p:nvPicPr>
          <p:cNvPr id="1026" name="Picture 2">
            <a:extLst>
              <a:ext uri="{FF2B5EF4-FFF2-40B4-BE49-F238E27FC236}">
                <a16:creationId xmlns:a16="http://schemas.microsoft.com/office/drawing/2014/main" id="{C508AA7F-B526-9AB8-7DF9-AB8035F22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7706" y="1687397"/>
            <a:ext cx="4496587" cy="4496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007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91A1E5-3CF1-AA6C-15AE-DD63F2502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1F31A-5827-3CBF-989B-ACC53D93AB0B}"/>
              </a:ext>
            </a:extLst>
          </p:cNvPr>
          <p:cNvSpPr>
            <a:spLocks noGrp="1"/>
          </p:cNvSpPr>
          <p:nvPr>
            <p:ph type="title"/>
          </p:nvPr>
        </p:nvSpPr>
        <p:spPr>
          <a:xfrm>
            <a:off x="1103709" y="265373"/>
            <a:ext cx="9360000" cy="1181687"/>
          </a:xfrm>
        </p:spPr>
        <p:txBody>
          <a:bodyPr/>
          <a:lstStyle/>
          <a:p>
            <a:r>
              <a:rPr lang="en-GB" sz="3600" dirty="0"/>
              <a:t>The evidence term</a:t>
            </a:r>
          </a:p>
        </p:txBody>
      </p:sp>
      <p:sp>
        <p:nvSpPr>
          <p:cNvPr id="4" name="Slide Number Placeholder 3">
            <a:extLst>
              <a:ext uri="{FF2B5EF4-FFF2-40B4-BE49-F238E27FC236}">
                <a16:creationId xmlns:a16="http://schemas.microsoft.com/office/drawing/2014/main" id="{991FBE8F-843C-FB9F-AAC2-ED31D978097B}"/>
              </a:ext>
            </a:extLst>
          </p:cNvPr>
          <p:cNvSpPr>
            <a:spLocks noGrp="1"/>
          </p:cNvSpPr>
          <p:nvPr>
            <p:ph type="sldNum" sz="quarter" idx="12"/>
          </p:nvPr>
        </p:nvSpPr>
        <p:spPr/>
        <p:txBody>
          <a:bodyPr/>
          <a:lstStyle/>
          <a:p>
            <a:fld id="{F7283078-D760-1647-8B80-66BA8B52336D}" type="slidenum">
              <a:rPr lang="en-GB" smtClean="0"/>
              <a:t>30</a:t>
            </a:fld>
            <a:endParaRPr lang="en-GB"/>
          </a:p>
        </p:txBody>
      </p:sp>
      <p:sp>
        <p:nvSpPr>
          <p:cNvPr id="8" name="Date Placeholder 7">
            <a:extLst>
              <a:ext uri="{FF2B5EF4-FFF2-40B4-BE49-F238E27FC236}">
                <a16:creationId xmlns:a16="http://schemas.microsoft.com/office/drawing/2014/main" id="{7B2B835B-C5B9-3ED7-6F5D-33E2BD663E2D}"/>
              </a:ext>
            </a:extLst>
          </p:cNvPr>
          <p:cNvSpPr>
            <a:spLocks noGrp="1"/>
          </p:cNvSpPr>
          <p:nvPr>
            <p:ph type="dt" sz="half" idx="10"/>
          </p:nvPr>
        </p:nvSpPr>
        <p:spPr/>
        <p:txBody>
          <a:bodyPr/>
          <a:lstStyle/>
          <a:p>
            <a:fld id="{18896B66-0B3A-474C-9C9C-E4F07B1F5DAD}" type="datetime1">
              <a:rPr lang="en-GB" smtClean="0"/>
              <a:t>26/08/2026</a:t>
            </a:fld>
            <a:endParaRPr lang="en-GB"/>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EBF3B05-761A-F312-1F9C-FC483ED2E573}"/>
                  </a:ext>
                </a:extLst>
              </p:cNvPr>
              <p:cNvSpPr txBox="1"/>
              <p:nvPr/>
            </p:nvSpPr>
            <p:spPr>
              <a:xfrm>
                <a:off x="2747365" y="2663072"/>
                <a:ext cx="6196504" cy="1007071"/>
              </a:xfrm>
              <a:prstGeom prst="rect">
                <a:avLst/>
              </a:prstGeom>
              <a:noFill/>
            </p:spPr>
            <p:txBody>
              <a:bodyPr wrap="none" lIns="0" tIns="0" rIns="0" bIns="0" rtlCol="0">
                <a:spAutoFit/>
              </a:bodyPr>
              <a:lstStyle/>
              <a:p>
                <a:pPr algn="l"/>
                <a14:m>
                  <m:oMathPara xmlns:m="http://schemas.openxmlformats.org/officeDocument/2006/math">
                    <m:oMath>
                      <m:r>
                        <a:rPr lang="da-DK" sz="3200" b="0" i="1" smtClean="0">
                          <a:solidFill>
                            <a:srgbClr val="666666"/>
                          </a:solidFill>
                          <a:latin typeface="Cambria Math" panose="02040503050406030204" pitchFamily="18" charset="0"/>
                        </a:rPr>
                        <m:t>𝑃</m:t>
                      </m:r>
                      <m:d>
                        <m:dPr>
                          <m:ctrlPr>
                            <a:rPr lang="da-DK" sz="3200" b="0" i="1" smtClean="0">
                              <a:solidFill>
                                <a:srgbClr val="666666"/>
                              </a:solidFill>
                              <a:latin typeface="Cambria Math" panose="02040503050406030204" pitchFamily="18" charset="0"/>
                            </a:rPr>
                          </m:ctrlPr>
                        </m:dPr>
                        <m:e>
                          <m:r>
                            <a:rPr lang="da-DK" sz="3200" b="0" i="1" smtClean="0">
                              <a:solidFill>
                                <a:srgbClr val="666666"/>
                              </a:solidFill>
                              <a:latin typeface="Cambria Math" panose="02040503050406030204" pitchFamily="18" charset="0"/>
                            </a:rPr>
                            <m:t>𝐸</m:t>
                          </m:r>
                        </m:e>
                        <m:e>
                          <m:r>
                            <a:rPr lang="da-DK" sz="3200" b="0" i="1" smtClean="0">
                              <a:solidFill>
                                <a:srgbClr val="666666"/>
                              </a:solidFill>
                              <a:latin typeface="Cambria Math" panose="02040503050406030204" pitchFamily="18" charset="0"/>
                            </a:rPr>
                            <m:t>𝑀</m:t>
                          </m:r>
                        </m:e>
                      </m:d>
                      <m:r>
                        <a:rPr lang="da-DK" sz="3200" b="0" i="1" smtClean="0">
                          <a:solidFill>
                            <a:srgbClr val="666666"/>
                          </a:solidFill>
                          <a:latin typeface="Cambria Math" panose="02040503050406030204" pitchFamily="18" charset="0"/>
                        </a:rPr>
                        <m:t>=</m:t>
                      </m:r>
                      <m:nary>
                        <m:naryPr>
                          <m:subHide m:val="on"/>
                          <m:supHide m:val="on"/>
                          <m:ctrlPr>
                            <a:rPr lang="da-DK" sz="3200" b="0" i="1" smtClean="0">
                              <a:solidFill>
                                <a:srgbClr val="666666"/>
                              </a:solidFill>
                              <a:latin typeface="Cambria Math" panose="02040503050406030204" pitchFamily="18" charset="0"/>
                            </a:rPr>
                          </m:ctrlPr>
                        </m:naryPr>
                        <m:sub/>
                        <m:sup/>
                        <m:e>
                          <m:r>
                            <a:rPr lang="da-DK" sz="3200" b="0" i="1" smtClean="0">
                              <a:solidFill>
                                <a:srgbClr val="666666"/>
                              </a:solidFill>
                              <a:latin typeface="Cambria Math" panose="02040503050406030204" pitchFamily="18" charset="0"/>
                            </a:rPr>
                            <m:t>𝑃</m:t>
                          </m:r>
                          <m:d>
                            <m:dPr>
                              <m:ctrlPr>
                                <a:rPr lang="da-DK" sz="3200" b="0" i="1" smtClean="0">
                                  <a:solidFill>
                                    <a:srgbClr val="666666"/>
                                  </a:solidFill>
                                  <a:latin typeface="Cambria Math" panose="02040503050406030204" pitchFamily="18" charset="0"/>
                                </a:rPr>
                              </m:ctrlPr>
                            </m:dPr>
                            <m:e>
                              <m:r>
                                <a:rPr lang="da-DK" sz="3200" b="0" i="1" smtClean="0">
                                  <a:solidFill>
                                    <a:srgbClr val="666666"/>
                                  </a:solidFill>
                                  <a:latin typeface="Cambria Math" panose="02040503050406030204" pitchFamily="18" charset="0"/>
                                </a:rPr>
                                <m:t>𝐸</m:t>
                              </m:r>
                            </m:e>
                            <m:e>
                              <m:r>
                                <a:rPr lang="da-DK" sz="3200" b="0" i="1" smtClean="0">
                                  <a:solidFill>
                                    <a:srgbClr val="666666"/>
                                  </a:solidFill>
                                  <a:latin typeface="Cambria Math" panose="02040503050406030204" pitchFamily="18" charset="0"/>
                                </a:rPr>
                                <m:t>𝐻</m:t>
                              </m:r>
                              <m:r>
                                <a:rPr lang="da-DK" sz="3200" b="0" i="1" smtClean="0">
                                  <a:solidFill>
                                    <a:srgbClr val="666666"/>
                                  </a:solidFill>
                                  <a:latin typeface="Cambria Math" panose="02040503050406030204" pitchFamily="18" charset="0"/>
                                </a:rPr>
                                <m:t>,</m:t>
                              </m:r>
                              <m:r>
                                <a:rPr lang="da-DK" sz="3200" b="0" i="1" smtClean="0">
                                  <a:solidFill>
                                    <a:srgbClr val="666666"/>
                                  </a:solidFill>
                                  <a:latin typeface="Cambria Math" panose="02040503050406030204" pitchFamily="18" charset="0"/>
                                </a:rPr>
                                <m:t>𝑀</m:t>
                              </m:r>
                            </m:e>
                          </m:d>
                          <m:r>
                            <a:rPr lang="da-DK" sz="3200" b="0" i="1" smtClean="0">
                              <a:solidFill>
                                <a:srgbClr val="666666"/>
                              </a:solidFill>
                              <a:latin typeface="Cambria Math" panose="02040503050406030204" pitchFamily="18" charset="0"/>
                            </a:rPr>
                            <m:t>𝑃</m:t>
                          </m:r>
                          <m:d>
                            <m:dPr>
                              <m:ctrlPr>
                                <a:rPr lang="da-DK" sz="3200" b="0" i="1" smtClean="0">
                                  <a:solidFill>
                                    <a:srgbClr val="666666"/>
                                  </a:solidFill>
                                  <a:latin typeface="Cambria Math" panose="02040503050406030204" pitchFamily="18" charset="0"/>
                                </a:rPr>
                              </m:ctrlPr>
                            </m:dPr>
                            <m:e>
                              <m:r>
                                <a:rPr lang="da-DK" sz="3200" b="0" i="1" smtClean="0">
                                  <a:solidFill>
                                    <a:srgbClr val="666666"/>
                                  </a:solidFill>
                                  <a:latin typeface="Cambria Math" panose="02040503050406030204" pitchFamily="18" charset="0"/>
                                </a:rPr>
                                <m:t>𝐻</m:t>
                              </m:r>
                            </m:e>
                            <m:e>
                              <m:r>
                                <a:rPr lang="da-DK" sz="3200" b="0" i="1" smtClean="0">
                                  <a:solidFill>
                                    <a:srgbClr val="666666"/>
                                  </a:solidFill>
                                  <a:latin typeface="Cambria Math" panose="02040503050406030204" pitchFamily="18" charset="0"/>
                                </a:rPr>
                                <m:t>𝑀</m:t>
                              </m:r>
                            </m:e>
                          </m:d>
                        </m:e>
                      </m:nary>
                      <m:r>
                        <a:rPr lang="da-DK" sz="3200" b="0" i="1" smtClean="0">
                          <a:solidFill>
                            <a:srgbClr val="666666"/>
                          </a:solidFill>
                          <a:latin typeface="Cambria Math" panose="02040503050406030204" pitchFamily="18" charset="0"/>
                        </a:rPr>
                        <m:t>𝑑</m:t>
                      </m:r>
                      <m:r>
                        <a:rPr lang="da-DK" sz="3200" b="0" i="1" smtClean="0">
                          <a:solidFill>
                            <a:srgbClr val="666666"/>
                          </a:solidFill>
                          <a:latin typeface="Cambria Math" panose="02040503050406030204" pitchFamily="18" charset="0"/>
                        </a:rPr>
                        <m:t>𝐻</m:t>
                      </m:r>
                    </m:oMath>
                  </m:oMathPara>
                </a14:m>
                <a:endParaRPr lang="en-GB" sz="3200" dirty="0">
                  <a:solidFill>
                    <a:srgbClr val="666666"/>
                  </a:solidFill>
                </a:endParaRPr>
              </a:p>
            </p:txBody>
          </p:sp>
        </mc:Choice>
        <mc:Fallback>
          <p:sp>
            <p:nvSpPr>
              <p:cNvPr id="3" name="TextBox 2">
                <a:extLst>
                  <a:ext uri="{FF2B5EF4-FFF2-40B4-BE49-F238E27FC236}">
                    <a16:creationId xmlns:a16="http://schemas.microsoft.com/office/drawing/2014/main" id="{8EBF3B05-761A-F312-1F9C-FC483ED2E573}"/>
                  </a:ext>
                </a:extLst>
              </p:cNvPr>
              <p:cNvSpPr txBox="1">
                <a:spLocks noRot="1" noChangeAspect="1" noMove="1" noResize="1" noEditPoints="1" noAdjustHandles="1" noChangeArrowheads="1" noChangeShapeType="1" noTextEdit="1"/>
              </p:cNvSpPr>
              <p:nvPr/>
            </p:nvSpPr>
            <p:spPr>
              <a:xfrm>
                <a:off x="2747365" y="2663072"/>
                <a:ext cx="6196504" cy="1007071"/>
              </a:xfrm>
              <a:prstGeom prst="rect">
                <a:avLst/>
              </a:prstGeom>
              <a:blipFill>
                <a:blip r:embed="rId3"/>
                <a:stretch>
                  <a:fillRect/>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82051921-B328-0121-3FF6-B296D9070404}"/>
              </a:ext>
            </a:extLst>
          </p:cNvPr>
          <p:cNvSpPr txBox="1"/>
          <p:nvPr/>
        </p:nvSpPr>
        <p:spPr>
          <a:xfrm>
            <a:off x="2368484" y="4169204"/>
            <a:ext cx="7455031" cy="369332"/>
          </a:xfrm>
          <a:prstGeom prst="rect">
            <a:avLst/>
          </a:prstGeom>
          <a:noFill/>
        </p:spPr>
        <p:txBody>
          <a:bodyPr wrap="square" rtlCol="0">
            <a:spAutoFit/>
          </a:bodyPr>
          <a:lstStyle/>
          <a:p>
            <a:pPr algn="l"/>
            <a:r>
              <a:rPr lang="da-DK" b="1" dirty="0" err="1">
                <a:solidFill>
                  <a:srgbClr val="666666"/>
                </a:solidFill>
              </a:rPr>
              <a:t>Nested</a:t>
            </a:r>
            <a:r>
              <a:rPr lang="da-DK" b="1" dirty="0">
                <a:solidFill>
                  <a:srgbClr val="666666"/>
                </a:solidFill>
              </a:rPr>
              <a:t> sampling:</a:t>
            </a:r>
            <a:r>
              <a:rPr lang="da-DK" dirty="0">
                <a:solidFill>
                  <a:srgbClr val="666666"/>
                </a:solidFill>
              </a:rPr>
              <a:t> </a:t>
            </a:r>
            <a:r>
              <a:rPr lang="da-DK" dirty="0" err="1">
                <a:solidFill>
                  <a:srgbClr val="666666"/>
                </a:solidFill>
              </a:rPr>
              <a:t>estimates</a:t>
            </a:r>
            <a:r>
              <a:rPr lang="da-DK" dirty="0">
                <a:solidFill>
                  <a:srgbClr val="666666"/>
                </a:solidFill>
              </a:rPr>
              <a:t> the </a:t>
            </a:r>
            <a:r>
              <a:rPr lang="da-DK" dirty="0" err="1">
                <a:solidFill>
                  <a:srgbClr val="666666"/>
                </a:solidFill>
              </a:rPr>
              <a:t>evidence</a:t>
            </a:r>
            <a:r>
              <a:rPr lang="da-DK" dirty="0">
                <a:solidFill>
                  <a:srgbClr val="666666"/>
                </a:solidFill>
              </a:rPr>
              <a:t> and enables model </a:t>
            </a:r>
            <a:r>
              <a:rPr lang="da-DK" dirty="0" err="1">
                <a:solidFill>
                  <a:srgbClr val="666666"/>
                </a:solidFill>
              </a:rPr>
              <a:t>selection</a:t>
            </a:r>
            <a:endParaRPr lang="en-GB" b="1" dirty="0">
              <a:solidFill>
                <a:srgbClr val="666666"/>
              </a:solidFill>
            </a:endParaRPr>
          </a:p>
        </p:txBody>
      </p:sp>
    </p:spTree>
    <p:extLst>
      <p:ext uri="{BB962C8B-B14F-4D97-AF65-F5344CB8AC3E}">
        <p14:creationId xmlns:p14="http://schemas.microsoft.com/office/powerpoint/2010/main" val="38533581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9F5A7-1E86-CBCD-78E4-2038C1CA253E}"/>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39F590CC-8F8F-25A4-55E5-5DFD70B57868}"/>
              </a:ext>
            </a:extLst>
          </p:cNvPr>
          <p:cNvSpPr>
            <a:spLocks noGrp="1"/>
          </p:cNvSpPr>
          <p:nvPr>
            <p:ph type="ctrTitle"/>
          </p:nvPr>
        </p:nvSpPr>
        <p:spPr>
          <a:xfrm>
            <a:off x="1909680" y="1012054"/>
            <a:ext cx="8640000" cy="801210"/>
          </a:xfrm>
        </p:spPr>
        <p:txBody>
          <a:bodyPr/>
          <a:lstStyle/>
          <a:p>
            <a:pPr algn="ctr"/>
            <a:r>
              <a:rPr lang="en-GB" dirty="0">
                <a:latin typeface="Segoe UI Black" panose="020B0A02040204020203" pitchFamily="34" charset="0"/>
                <a:ea typeface="Segoe UI Black" panose="020B0A02040204020203" pitchFamily="34" charset="0"/>
              </a:rPr>
              <a:t>Exercise Time</a:t>
            </a:r>
          </a:p>
        </p:txBody>
      </p:sp>
      <p:sp>
        <p:nvSpPr>
          <p:cNvPr id="5" name="Platshållare för datum 4">
            <a:extLst>
              <a:ext uri="{FF2B5EF4-FFF2-40B4-BE49-F238E27FC236}">
                <a16:creationId xmlns:a16="http://schemas.microsoft.com/office/drawing/2014/main" id="{09DB4588-901E-223E-9708-6FF90208C594}"/>
              </a:ext>
            </a:extLst>
          </p:cNvPr>
          <p:cNvSpPr>
            <a:spLocks noGrp="1"/>
          </p:cNvSpPr>
          <p:nvPr>
            <p:ph type="dt" sz="half" idx="11"/>
          </p:nvPr>
        </p:nvSpPr>
        <p:spPr>
          <a:xfrm>
            <a:off x="1930395" y="6117873"/>
            <a:ext cx="3215183" cy="459883"/>
          </a:xfrm>
        </p:spPr>
        <p:txBody>
          <a:bodyPr/>
          <a:lstStyle/>
          <a:p>
            <a:r>
              <a:rPr lang="en-GB" sz="1200" b="1" dirty="0">
                <a:solidFill>
                  <a:schemeClr val="bg1"/>
                </a:solidFill>
              </a:rPr>
              <a:t>2025-08-28</a:t>
            </a:r>
          </a:p>
        </p:txBody>
      </p:sp>
      <p:sp>
        <p:nvSpPr>
          <p:cNvPr id="3" name="Rubrik 1">
            <a:extLst>
              <a:ext uri="{FF2B5EF4-FFF2-40B4-BE49-F238E27FC236}">
                <a16:creationId xmlns:a16="http://schemas.microsoft.com/office/drawing/2014/main" id="{5840855F-DA9C-CB53-0FF1-42EC6C041688}"/>
              </a:ext>
            </a:extLst>
          </p:cNvPr>
          <p:cNvSpPr txBox="1">
            <a:spLocks/>
          </p:cNvSpPr>
          <p:nvPr/>
        </p:nvSpPr>
        <p:spPr>
          <a:xfrm>
            <a:off x="2859281" y="2140346"/>
            <a:ext cx="7968376" cy="1858339"/>
          </a:xfrm>
          <a:prstGeom prst="rect">
            <a:avLst/>
          </a:prstGeom>
        </p:spPr>
        <p:txBody>
          <a:bodyPr vert="horz" lIns="90000" tIns="45720" rIns="91440" bIns="45720" rtlCol="0" anchor="b" anchorCtr="0">
            <a:noAutofit/>
          </a:bodyPr>
          <a:lstStyle>
            <a:lvl1pPr algn="l" defTabSz="914400" rtl="0" eaLnBrk="1" latinLnBrk="0" hangingPunct="1">
              <a:lnSpc>
                <a:spcPct val="100000"/>
              </a:lnSpc>
              <a:spcBef>
                <a:spcPct val="0"/>
              </a:spcBef>
              <a:buNone/>
              <a:defRPr sz="4200" kern="1200">
                <a:solidFill>
                  <a:schemeClr val="bg1"/>
                </a:solidFill>
                <a:latin typeface="Segoe UI Semibold" panose="020B0702040204020203" pitchFamily="34" charset="0"/>
                <a:ea typeface="+mj-ea"/>
                <a:cs typeface="Segoe UI Semibold" panose="020B0702040204020203" pitchFamily="34" charset="0"/>
              </a:defRPr>
            </a:lvl1pPr>
          </a:lstStyle>
          <a:p>
            <a:pPr marL="514350" indent="-514350">
              <a:lnSpc>
                <a:spcPct val="150000"/>
              </a:lnSpc>
              <a:buFont typeface="+mj-lt"/>
              <a:buAutoNum type="arabicPeriod"/>
            </a:pPr>
            <a:r>
              <a:rPr lang="da-DK" sz="2800" dirty="0" err="1">
                <a:latin typeface="+mn-lt"/>
                <a:ea typeface="Segoe UI Black" panose="020B0A02040204020203" pitchFamily="34" charset="0"/>
              </a:rPr>
              <a:t>Bayesian</a:t>
            </a:r>
            <a:r>
              <a:rPr lang="da-DK" sz="2800" dirty="0">
                <a:latin typeface="+mn-lt"/>
                <a:ea typeface="Segoe UI Black" panose="020B0A02040204020203" pitchFamily="34" charset="0"/>
              </a:rPr>
              <a:t> </a:t>
            </a:r>
            <a:r>
              <a:rPr lang="da-DK" sz="2800" dirty="0" err="1">
                <a:latin typeface="+mn-lt"/>
                <a:ea typeface="Segoe UI Black" panose="020B0A02040204020203" pitchFamily="34" charset="0"/>
              </a:rPr>
              <a:t>analysis</a:t>
            </a:r>
            <a:r>
              <a:rPr lang="da-DK" sz="2800" dirty="0">
                <a:latin typeface="+mn-lt"/>
                <a:ea typeface="Segoe UI Black" panose="020B0A02040204020203" pitchFamily="34" charset="0"/>
              </a:rPr>
              <a:t> in </a:t>
            </a:r>
            <a:r>
              <a:rPr lang="da-DK" sz="2800" dirty="0" err="1">
                <a:latin typeface="+mn-lt"/>
                <a:ea typeface="Segoe UI Black" panose="020B0A02040204020203" pitchFamily="34" charset="0"/>
              </a:rPr>
              <a:t>EasyScience</a:t>
            </a:r>
            <a:endParaRPr lang="da-DK" sz="2800" dirty="0">
              <a:latin typeface="+mn-lt"/>
              <a:ea typeface="Segoe UI Black" panose="020B0A02040204020203" pitchFamily="34" charset="0"/>
            </a:endParaRPr>
          </a:p>
          <a:p>
            <a:pPr marL="514350" indent="-514350">
              <a:lnSpc>
                <a:spcPct val="150000"/>
              </a:lnSpc>
              <a:buFont typeface="+mj-lt"/>
              <a:buAutoNum type="arabicPeriod"/>
            </a:pPr>
            <a:r>
              <a:rPr lang="en-GB" sz="2800" dirty="0">
                <a:latin typeface="+mn-lt"/>
                <a:ea typeface="Segoe UI Black" panose="020B0A02040204020203" pitchFamily="34" charset="0"/>
              </a:rPr>
              <a:t>Bayesian analysis of [technique] data</a:t>
            </a:r>
          </a:p>
          <a:p>
            <a:pPr marL="514350" indent="-514350">
              <a:lnSpc>
                <a:spcPct val="150000"/>
              </a:lnSpc>
              <a:buFont typeface="+mj-lt"/>
              <a:buAutoNum type="arabicPeriod"/>
            </a:pPr>
            <a:r>
              <a:rPr lang="en-GB" sz="2800" dirty="0">
                <a:latin typeface="+mn-lt"/>
                <a:ea typeface="Segoe UI Black" panose="020B0A02040204020203" pitchFamily="34" charset="0"/>
              </a:rPr>
              <a:t>Bayesian Model Selection (optional)</a:t>
            </a:r>
          </a:p>
        </p:txBody>
      </p:sp>
    </p:spTree>
    <p:extLst>
      <p:ext uri="{BB962C8B-B14F-4D97-AF65-F5344CB8AC3E}">
        <p14:creationId xmlns:p14="http://schemas.microsoft.com/office/powerpoint/2010/main" val="3466119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tema">
  <a:themeElements>
    <a:clrScheme name="ESS 1">
      <a:dk1>
        <a:srgbClr val="000000"/>
      </a:dk1>
      <a:lt1>
        <a:srgbClr val="FFFFFF"/>
      </a:lt1>
      <a:dk2>
        <a:srgbClr val="000000"/>
      </a:dk2>
      <a:lt2>
        <a:srgbClr val="FFFFFF"/>
      </a:lt2>
      <a:accent1>
        <a:srgbClr val="0099DC"/>
      </a:accent1>
      <a:accent2>
        <a:srgbClr val="003366"/>
      </a:accent2>
      <a:accent3>
        <a:srgbClr val="99BE00"/>
      </a:accent3>
      <a:accent4>
        <a:srgbClr val="006646"/>
      </a:accent4>
      <a:accent5>
        <a:srgbClr val="FF7D00"/>
      </a:accent5>
      <a:accent6>
        <a:srgbClr val="821482"/>
      </a:accent6>
      <a:hlink>
        <a:srgbClr val="0099DC"/>
      </a:hlink>
      <a:folHlink>
        <a:srgbClr val="0099DC"/>
      </a:folHlink>
    </a:clrScheme>
    <a:fontScheme name="ES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mtClean="0">
            <a:solidFill>
              <a:srgbClr val="666666"/>
            </a:solidFill>
          </a:defRPr>
        </a:defPPr>
      </a:lstStyle>
    </a:txDef>
  </a:objectDefaults>
  <a:extraClrSchemeLst/>
  <a:extLst>
    <a:ext uri="{05A4C25C-085E-4340-85A3-A5531E510DB2}">
      <thm15:themeFamily xmlns:thm15="http://schemas.microsoft.com/office/thememl/2012/main" name="Presentation5" id="{C8E05FD6-4408-40A1-AAFA-F1913A6B3D38}" vid="{2ACFAA60-6D1B-4172-9AA5-52CCB5CBBC40}"/>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Office-tema</Template>
  <TotalTime>41462</TotalTime>
  <Words>4537</Words>
  <Application>Microsoft Office PowerPoint</Application>
  <PresentationFormat>Widescreen</PresentationFormat>
  <Paragraphs>422</Paragraphs>
  <Slides>31</Slides>
  <Notes>27</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Calibri</vt:lpstr>
      <vt:lpstr>Cambria Math</vt:lpstr>
      <vt:lpstr>Consolas</vt:lpstr>
      <vt:lpstr>Segoe UI</vt:lpstr>
      <vt:lpstr>Segoe UI Black</vt:lpstr>
      <vt:lpstr>Segoe UI Light</vt:lpstr>
      <vt:lpstr>Segoe UI Semibold</vt:lpstr>
      <vt:lpstr>Segoe UI Semilight</vt:lpstr>
      <vt:lpstr>Wingdings</vt:lpstr>
      <vt:lpstr>Office-tema</vt:lpstr>
      <vt:lpstr>PowerPoint Presentation</vt:lpstr>
      <vt:lpstr>DMSC Summer School</vt:lpstr>
      <vt:lpstr>Summer school program – Data analysis day</vt:lpstr>
      <vt:lpstr>Data analysis can be broadly categorized into two categories</vt:lpstr>
      <vt:lpstr>Model-dependent analysis is used to interpret nearly all neutron scattering techniques</vt:lpstr>
      <vt:lpstr>The model is a mathematical function that describes what we think our system looks like</vt:lpstr>
      <vt:lpstr>The model is a mathematical function that describes what we think our system looks like</vt:lpstr>
      <vt:lpstr>When we make a measurement, we only ever make an estimate</vt:lpstr>
      <vt:lpstr>When we make a measurement, we only ever make an estimate</vt:lpstr>
      <vt:lpstr>When we make a measurement, we only ever make an estimate</vt:lpstr>
      <vt:lpstr>Thinking about data probabilistically</vt:lpstr>
      <vt:lpstr>Thinking about data probabilistically</vt:lpstr>
      <vt:lpstr>Thinking about data probabilistically</vt:lpstr>
      <vt:lpstr>Thinking about data probabilistically</vt:lpstr>
      <vt:lpstr>Thinking about data probabilistically</vt:lpstr>
      <vt:lpstr>Thinking about data probabilistically</vt:lpstr>
      <vt:lpstr>Neutron counts follow the discrete Poisson distribution</vt:lpstr>
      <vt:lpstr>Neutron counts follow the discrete Poisson distribution</vt:lpstr>
      <vt:lpstr>When there are multiple measurements, they are all estimates</vt:lpstr>
      <vt:lpstr>When there are multiple measurements, they are all estimates</vt:lpstr>
      <vt:lpstr>Fitting a model to some data is about maximising the probability distributions</vt:lpstr>
      <vt:lpstr>Fitting a model to some data is about maximising the probability distributions</vt:lpstr>
      <vt:lpstr>The EasyScience data analysis ecosystem</vt:lpstr>
      <vt:lpstr>Real models are complex</vt:lpstr>
      <vt:lpstr>Exercise Time</vt:lpstr>
      <vt:lpstr>Two opposing schools of thought on probability</vt:lpstr>
      <vt:lpstr>Two opposing schools of thought on probability</vt:lpstr>
      <vt:lpstr>Bayesian analysis</vt:lpstr>
      <vt:lpstr>Bayesian analysis</vt:lpstr>
      <vt:lpstr>The evidence term</vt:lpstr>
      <vt:lpstr>Exercise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Torben Nielsen</dc:creator>
  <cp:lastModifiedBy>Christian Vedel</cp:lastModifiedBy>
  <cp:revision>273</cp:revision>
  <cp:lastPrinted>2019-03-08T10:27:30Z</cp:lastPrinted>
  <dcterms:created xsi:type="dcterms:W3CDTF">2024-09-20T09:17:52Z</dcterms:created>
  <dcterms:modified xsi:type="dcterms:W3CDTF">2026-08-26T13:57:57Z</dcterms:modified>
</cp:coreProperties>
</file>